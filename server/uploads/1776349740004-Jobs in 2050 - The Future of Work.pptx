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jpg" ContentType="image/jp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20104100" cy="11309350"/>
  <p:notesSz cx="20104100" cy="11309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29681" y="3478685"/>
            <a:ext cx="13244736" cy="30295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300" b="0" i="0">
                <a:solidFill>
                  <a:srgbClr val="11111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835999" y="6585921"/>
            <a:ext cx="12432101" cy="13449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1A1A1A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300" b="0" i="0">
                <a:solidFill>
                  <a:srgbClr val="11111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1A1A1A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300" b="0" i="0">
                <a:solidFill>
                  <a:srgbClr val="11111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692525" y="3325548"/>
            <a:ext cx="7025640" cy="58781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1" i="0">
                <a:solidFill>
                  <a:srgbClr val="2362ED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06" y="0"/>
            <a:ext cx="20088393" cy="10994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300" b="0" i="0">
                <a:solidFill>
                  <a:srgbClr val="11111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2825" y="11779"/>
            <a:ext cx="10492105" cy="0"/>
          </a:xfrm>
          <a:custGeom>
            <a:avLst/>
            <a:gdLst/>
            <a:ahLst/>
            <a:cxnLst/>
            <a:rect l="l" t="t" r="r" b="b"/>
            <a:pathLst>
              <a:path w="10492105" h="0">
                <a:moveTo>
                  <a:pt x="0" y="0"/>
                </a:moveTo>
                <a:lnTo>
                  <a:pt x="10491827" y="0"/>
                </a:lnTo>
              </a:path>
            </a:pathLst>
          </a:custGeom>
          <a:ln w="54972">
            <a:solidFill>
              <a:srgbClr val="1F77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2029" y="309934"/>
            <a:ext cx="13626084" cy="151744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300" b="0" i="0">
                <a:solidFill>
                  <a:srgbClr val="11111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507060" y="3871998"/>
            <a:ext cx="8618855" cy="48685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1A1A1A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image" Target="../media/image3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0.jpg"/><Relationship Id="rId5" Type="http://schemas.openxmlformats.org/officeDocument/2006/relationships/image" Target="../media/image11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Relationship Id="rId3" Type="http://schemas.openxmlformats.org/officeDocument/2006/relationships/image" Target="../media/image4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Relationship Id="rId3" Type="http://schemas.openxmlformats.org/officeDocument/2006/relationships/image" Target="../media/image3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3" Type="http://schemas.openxmlformats.org/officeDocument/2006/relationships/image" Target="../media/image4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1.png"/><Relationship Id="rId4" Type="http://schemas.openxmlformats.org/officeDocument/2006/relationships/image" Target="../media/image16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hyperlink" Target="mailto:strategy@futureworkforce.com" TargetMode="External"/><Relationship Id="rId4" Type="http://schemas.openxmlformats.org/officeDocument/2006/relationships/hyperlink" Target="http://www.futureworkforce2050.org/" TargetMode="Externa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17.jpg"/><Relationship Id="rId4" Type="http://schemas.openxmlformats.org/officeDocument/2006/relationships/image" Target="../media/image18.png"/><Relationship Id="rId5" Type="http://schemas.openxmlformats.org/officeDocument/2006/relationships/image" Target="../media/image19.jp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jpg"/><Relationship Id="rId9" Type="http://schemas.openxmlformats.org/officeDocument/2006/relationships/image" Target="../media/image23.png"/><Relationship Id="rId10" Type="http://schemas.openxmlformats.org/officeDocument/2006/relationships/image" Target="../media/image24.jpg"/><Relationship Id="rId11" Type="http://schemas.openxmlformats.org/officeDocument/2006/relationships/hyperlink" Target="http://www.youtube.com/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2757" y="2777790"/>
            <a:ext cx="14007465" cy="5048885"/>
          </a:xfrm>
          <a:prstGeom prst="rect"/>
        </p:spPr>
        <p:txBody>
          <a:bodyPr wrap="square" lIns="0" tIns="339090" rIns="0" bIns="0" rtlCol="0" vert="horz">
            <a:spAutoFit/>
          </a:bodyPr>
          <a:lstStyle/>
          <a:p>
            <a:pPr algn="ctr" marL="1456055" marR="1521460" indent="70485">
              <a:lnSpc>
                <a:spcPct val="75600"/>
              </a:lnSpc>
              <a:spcBef>
                <a:spcPts val="2670"/>
              </a:spcBef>
            </a:pPr>
            <a:r>
              <a:rPr dirty="0" sz="8750" spc="90">
                <a:solidFill>
                  <a:srgbClr val="181818"/>
                </a:solidFill>
              </a:rPr>
              <a:t>Jobs</a:t>
            </a:r>
            <a:r>
              <a:rPr dirty="0" sz="8750" spc="-685">
                <a:solidFill>
                  <a:srgbClr val="181818"/>
                </a:solidFill>
              </a:rPr>
              <a:t> </a:t>
            </a:r>
            <a:r>
              <a:rPr dirty="0" sz="8750" spc="65">
                <a:solidFill>
                  <a:srgbClr val="1A1A1A"/>
                </a:solidFill>
              </a:rPr>
              <a:t>in</a:t>
            </a:r>
            <a:r>
              <a:rPr dirty="0" sz="8750" spc="35">
                <a:solidFill>
                  <a:srgbClr val="1A1A1A"/>
                </a:solidFill>
              </a:rPr>
              <a:t> </a:t>
            </a:r>
            <a:r>
              <a:rPr dirty="0" sz="8750" spc="-10">
                <a:solidFill>
                  <a:srgbClr val="1A1A1A"/>
                </a:solidFill>
              </a:rPr>
              <a:t>2050: </a:t>
            </a:r>
            <a:r>
              <a:rPr dirty="0" sz="9800" spc="-245">
                <a:solidFill>
                  <a:srgbClr val="1A1A1A"/>
                </a:solidFill>
              </a:rPr>
              <a:t>Novigoting</a:t>
            </a:r>
            <a:r>
              <a:rPr dirty="0" sz="9800" spc="-425">
                <a:solidFill>
                  <a:srgbClr val="1A1A1A"/>
                </a:solidFill>
              </a:rPr>
              <a:t> </a:t>
            </a:r>
            <a:r>
              <a:rPr dirty="0" sz="9800" spc="-185">
                <a:solidFill>
                  <a:srgbClr val="1A1A1A"/>
                </a:solidFill>
              </a:rPr>
              <a:t>the</a:t>
            </a:r>
            <a:r>
              <a:rPr dirty="0" sz="9800" spc="-1495">
                <a:solidFill>
                  <a:srgbClr val="1A1A1A"/>
                </a:solidFill>
              </a:rPr>
              <a:t> </a:t>
            </a:r>
            <a:r>
              <a:rPr dirty="0" sz="9800" spc="-490">
                <a:solidFill>
                  <a:srgbClr val="1A1A1A"/>
                </a:solidFill>
              </a:rPr>
              <a:t>Future </a:t>
            </a:r>
            <a:r>
              <a:rPr dirty="0" sz="9650" spc="-360">
                <a:solidFill>
                  <a:srgbClr val="181818"/>
                </a:solidFill>
              </a:rPr>
              <a:t>Workforce</a:t>
            </a:r>
            <a:endParaRPr sz="9650"/>
          </a:p>
          <a:p>
            <a:pPr algn="ctr" marL="12700" marR="5080">
              <a:lnSpc>
                <a:spcPct val="129700"/>
              </a:lnSpc>
              <a:spcBef>
                <a:spcPts val="1720"/>
              </a:spcBef>
            </a:pPr>
            <a:r>
              <a:rPr dirty="0" sz="3100" spc="-330">
                <a:solidFill>
                  <a:srgbClr val="6D7C8C"/>
                </a:solidFill>
              </a:rPr>
              <a:t>A</a:t>
            </a:r>
            <a:r>
              <a:rPr dirty="0" sz="3100" spc="330">
                <a:solidFill>
                  <a:srgbClr val="6D7C8C"/>
                </a:solidFill>
              </a:rPr>
              <a:t> </a:t>
            </a:r>
            <a:r>
              <a:rPr dirty="0" sz="3100">
                <a:solidFill>
                  <a:srgbClr val="667280"/>
                </a:solidFill>
              </a:rPr>
              <a:t>strategic</a:t>
            </a:r>
            <a:r>
              <a:rPr dirty="0" sz="3100" spc="415">
                <a:solidFill>
                  <a:srgbClr val="667280"/>
                </a:solidFill>
              </a:rPr>
              <a:t> </a:t>
            </a:r>
            <a:r>
              <a:rPr dirty="0" sz="3100">
                <a:solidFill>
                  <a:srgbClr val="647589"/>
                </a:solidFill>
              </a:rPr>
              <a:t>foresight</a:t>
            </a:r>
            <a:r>
              <a:rPr dirty="0" sz="3100" spc="380">
                <a:solidFill>
                  <a:srgbClr val="647589"/>
                </a:solidFill>
              </a:rPr>
              <a:t> </a:t>
            </a:r>
            <a:r>
              <a:rPr dirty="0" sz="3100">
                <a:solidFill>
                  <a:srgbClr val="62728C"/>
                </a:solidFill>
              </a:rPr>
              <a:t>into</a:t>
            </a:r>
            <a:r>
              <a:rPr dirty="0" sz="3100" spc="105">
                <a:solidFill>
                  <a:srgbClr val="62728C"/>
                </a:solidFill>
              </a:rPr>
              <a:t> </a:t>
            </a:r>
            <a:r>
              <a:rPr dirty="0" sz="3100">
                <a:solidFill>
                  <a:srgbClr val="697083"/>
                </a:solidFill>
              </a:rPr>
              <a:t>the</a:t>
            </a:r>
            <a:r>
              <a:rPr dirty="0" sz="3100" spc="215">
                <a:solidFill>
                  <a:srgbClr val="697083"/>
                </a:solidFill>
              </a:rPr>
              <a:t> </a:t>
            </a:r>
            <a:r>
              <a:rPr dirty="0" sz="3100">
                <a:solidFill>
                  <a:srgbClr val="6B7085"/>
                </a:solidFill>
              </a:rPr>
              <a:t>macro</a:t>
            </a:r>
            <a:r>
              <a:rPr dirty="0" sz="3100" spc="245">
                <a:solidFill>
                  <a:srgbClr val="6B7085"/>
                </a:solidFill>
              </a:rPr>
              <a:t> </a:t>
            </a:r>
            <a:r>
              <a:rPr dirty="0" sz="3100">
                <a:solidFill>
                  <a:srgbClr val="6B7E93"/>
                </a:solidFill>
              </a:rPr>
              <a:t>drivers,</a:t>
            </a:r>
            <a:r>
              <a:rPr dirty="0" sz="3100" spc="325">
                <a:solidFill>
                  <a:srgbClr val="6B7E93"/>
                </a:solidFill>
              </a:rPr>
              <a:t> </a:t>
            </a:r>
            <a:r>
              <a:rPr dirty="0" sz="3100">
                <a:solidFill>
                  <a:srgbClr val="6B7C87"/>
                </a:solidFill>
              </a:rPr>
              <a:t>emerging</a:t>
            </a:r>
            <a:r>
              <a:rPr dirty="0" sz="3100" spc="270">
                <a:solidFill>
                  <a:srgbClr val="6B7C87"/>
                </a:solidFill>
              </a:rPr>
              <a:t> </a:t>
            </a:r>
            <a:r>
              <a:rPr dirty="0" sz="3100">
                <a:solidFill>
                  <a:srgbClr val="60708E"/>
                </a:solidFill>
              </a:rPr>
              <a:t>industries,</a:t>
            </a:r>
            <a:r>
              <a:rPr dirty="0" sz="3100" spc="340">
                <a:solidFill>
                  <a:srgbClr val="60708E"/>
                </a:solidFill>
              </a:rPr>
              <a:t> </a:t>
            </a:r>
            <a:r>
              <a:rPr dirty="0" sz="3100">
                <a:solidFill>
                  <a:srgbClr val="676D85"/>
                </a:solidFill>
              </a:rPr>
              <a:t>and</a:t>
            </a:r>
            <a:r>
              <a:rPr dirty="0" sz="3100" spc="204">
                <a:solidFill>
                  <a:srgbClr val="676D85"/>
                </a:solidFill>
              </a:rPr>
              <a:t> </a:t>
            </a:r>
            <a:r>
              <a:rPr dirty="0" sz="3100" spc="-10">
                <a:solidFill>
                  <a:srgbClr val="5D6775"/>
                </a:solidFill>
              </a:rPr>
              <a:t>essential </a:t>
            </a:r>
            <a:r>
              <a:rPr dirty="0" sz="3100">
                <a:solidFill>
                  <a:srgbClr val="707987"/>
                </a:solidFill>
              </a:rPr>
              <a:t>skills</a:t>
            </a:r>
            <a:r>
              <a:rPr dirty="0" sz="3100" spc="145">
                <a:solidFill>
                  <a:srgbClr val="707987"/>
                </a:solidFill>
              </a:rPr>
              <a:t> </a:t>
            </a:r>
            <a:r>
              <a:rPr dirty="0" sz="3100">
                <a:solidFill>
                  <a:srgbClr val="5E7993"/>
                </a:solidFill>
              </a:rPr>
              <a:t>defining</a:t>
            </a:r>
            <a:r>
              <a:rPr dirty="0" sz="3100" spc="155">
                <a:solidFill>
                  <a:srgbClr val="5E7993"/>
                </a:solidFill>
              </a:rPr>
              <a:t> </a:t>
            </a:r>
            <a:r>
              <a:rPr dirty="0" sz="3100">
                <a:solidFill>
                  <a:srgbClr val="747C8E"/>
                </a:solidFill>
              </a:rPr>
              <a:t>the</a:t>
            </a:r>
            <a:r>
              <a:rPr dirty="0" sz="3100" spc="75">
                <a:solidFill>
                  <a:srgbClr val="747C8E"/>
                </a:solidFill>
              </a:rPr>
              <a:t> </a:t>
            </a:r>
            <a:r>
              <a:rPr dirty="0" sz="3100">
                <a:solidFill>
                  <a:srgbClr val="62748C"/>
                </a:solidFill>
              </a:rPr>
              <a:t>next</a:t>
            </a:r>
            <a:r>
              <a:rPr dirty="0" sz="3100" spc="175">
                <a:solidFill>
                  <a:srgbClr val="62748C"/>
                </a:solidFill>
              </a:rPr>
              <a:t> </a:t>
            </a:r>
            <a:r>
              <a:rPr dirty="0" sz="3100">
                <a:solidFill>
                  <a:srgbClr val="647080"/>
                </a:solidFill>
              </a:rPr>
              <a:t>era</a:t>
            </a:r>
            <a:r>
              <a:rPr dirty="0" sz="3100" spc="100">
                <a:solidFill>
                  <a:srgbClr val="647080"/>
                </a:solidFill>
              </a:rPr>
              <a:t> </a:t>
            </a:r>
            <a:r>
              <a:rPr dirty="0" sz="3100">
                <a:solidFill>
                  <a:srgbClr val="64747B"/>
                </a:solidFill>
              </a:rPr>
              <a:t>of</a:t>
            </a:r>
            <a:r>
              <a:rPr dirty="0" sz="3100" spc="200">
                <a:solidFill>
                  <a:srgbClr val="64747B"/>
                </a:solidFill>
              </a:rPr>
              <a:t> </a:t>
            </a:r>
            <a:r>
              <a:rPr dirty="0" sz="3100" spc="-10">
                <a:solidFill>
                  <a:srgbClr val="62748C"/>
                </a:solidFill>
              </a:rPr>
              <a:t>human</a:t>
            </a:r>
            <a:r>
              <a:rPr dirty="0" sz="3100" spc="130">
                <a:solidFill>
                  <a:srgbClr val="62748C"/>
                </a:solidFill>
              </a:rPr>
              <a:t> </a:t>
            </a:r>
            <a:r>
              <a:rPr dirty="0" sz="3100" spc="-10">
                <a:solidFill>
                  <a:srgbClr val="66727E"/>
                </a:solidFill>
              </a:rPr>
              <a:t>capital.</a:t>
            </a:r>
            <a:endParaRPr sz="3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09670" y="3596749"/>
            <a:ext cx="1884759" cy="94237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706" y="0"/>
            <a:ext cx="20088393" cy="10994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159491" y="4320283"/>
            <a:ext cx="13681710" cy="14979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650" spc="-990">
                <a:solidFill>
                  <a:srgbClr val="1A1A1A"/>
                </a:solidFill>
                <a:latin typeface="Arial Black"/>
                <a:cs typeface="Arial Black"/>
              </a:rPr>
              <a:t>Mocro</a:t>
            </a:r>
            <a:r>
              <a:rPr dirty="0" sz="9650" spc="-1260">
                <a:solidFill>
                  <a:srgbClr val="1A1A1A"/>
                </a:solidFill>
                <a:latin typeface="Arial Black"/>
                <a:cs typeface="Arial Black"/>
              </a:rPr>
              <a:t> </a:t>
            </a:r>
            <a:r>
              <a:rPr dirty="0" sz="9650" spc="-975">
                <a:solidFill>
                  <a:srgbClr val="1A1A1A"/>
                </a:solidFill>
                <a:latin typeface="Arial Black"/>
                <a:cs typeface="Arial Black"/>
              </a:rPr>
              <a:t>Drivers</a:t>
            </a:r>
            <a:r>
              <a:rPr dirty="0" sz="9650" spc="-865">
                <a:solidFill>
                  <a:srgbClr val="1A1A1A"/>
                </a:solidFill>
                <a:latin typeface="Arial Black"/>
                <a:cs typeface="Arial Black"/>
              </a:rPr>
              <a:t> </a:t>
            </a:r>
            <a:r>
              <a:rPr dirty="0" sz="9650" spc="-1025">
                <a:solidFill>
                  <a:srgbClr val="181818"/>
                </a:solidFill>
                <a:latin typeface="Arial Black"/>
                <a:cs typeface="Arial Black"/>
              </a:rPr>
              <a:t>of</a:t>
            </a:r>
            <a:r>
              <a:rPr dirty="0" sz="9650" spc="-1225">
                <a:solidFill>
                  <a:srgbClr val="181818"/>
                </a:solidFill>
                <a:latin typeface="Arial Black"/>
                <a:cs typeface="Arial Black"/>
              </a:rPr>
              <a:t> </a:t>
            </a:r>
            <a:r>
              <a:rPr dirty="0" sz="9650" spc="-880">
                <a:solidFill>
                  <a:srgbClr val="1A1A1A"/>
                </a:solidFill>
                <a:latin typeface="Arial Black"/>
                <a:cs typeface="Arial Black"/>
              </a:rPr>
              <a:t>Chonge</a:t>
            </a:r>
            <a:endParaRPr sz="9650">
              <a:latin typeface="Arial Black"/>
              <a:cs typeface="Arial Black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326695" y="6280956"/>
            <a:ext cx="11389995" cy="1973580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algn="ctr" marL="12700" marR="5080" indent="54610">
              <a:lnSpc>
                <a:spcPct val="133700"/>
              </a:lnSpc>
              <a:spcBef>
                <a:spcPts val="30"/>
              </a:spcBef>
              <a:tabLst>
                <a:tab pos="8230870" algn="l"/>
              </a:tabLst>
            </a:pPr>
            <a:r>
              <a:rPr dirty="0" sz="3200" spc="75">
                <a:solidFill>
                  <a:srgbClr val="626E80"/>
                </a:solidFill>
                <a:latin typeface="Arial MT"/>
                <a:cs typeface="Arial MT"/>
              </a:rPr>
              <a:t>Understanding</a:t>
            </a:r>
            <a:r>
              <a:rPr dirty="0" sz="3200" spc="330">
                <a:solidFill>
                  <a:srgbClr val="626E80"/>
                </a:solidFill>
                <a:latin typeface="Arial MT"/>
                <a:cs typeface="Arial MT"/>
              </a:rPr>
              <a:t> </a:t>
            </a:r>
            <a:r>
              <a:rPr dirty="0" sz="3200" spc="70">
                <a:solidFill>
                  <a:srgbClr val="707C93"/>
                </a:solidFill>
                <a:latin typeface="Arial MT"/>
                <a:cs typeface="Arial MT"/>
              </a:rPr>
              <a:t>the</a:t>
            </a:r>
            <a:r>
              <a:rPr dirty="0" sz="3200" spc="160">
                <a:solidFill>
                  <a:srgbClr val="707C93"/>
                </a:solidFill>
                <a:latin typeface="Arial MT"/>
                <a:cs typeface="Arial MT"/>
              </a:rPr>
              <a:t> </a:t>
            </a:r>
            <a:r>
              <a:rPr dirty="0" sz="3200" spc="85">
                <a:solidFill>
                  <a:srgbClr val="6E7587"/>
                </a:solidFill>
                <a:latin typeface="Arial MT"/>
                <a:cs typeface="Arial MT"/>
              </a:rPr>
              <a:t>converging</a:t>
            </a:r>
            <a:r>
              <a:rPr dirty="0" sz="3200" spc="380">
                <a:solidFill>
                  <a:srgbClr val="6E7587"/>
                </a:solidFill>
                <a:latin typeface="Arial MT"/>
                <a:cs typeface="Arial MT"/>
              </a:rPr>
              <a:t> </a:t>
            </a:r>
            <a:r>
              <a:rPr dirty="0" sz="3200" spc="65">
                <a:solidFill>
                  <a:srgbClr val="5B6D7E"/>
                </a:solidFill>
                <a:latin typeface="Arial MT"/>
                <a:cs typeface="Arial MT"/>
              </a:rPr>
              <a:t>global</a:t>
            </a:r>
            <a:r>
              <a:rPr dirty="0" sz="3200" spc="185">
                <a:solidFill>
                  <a:srgbClr val="5B6D7E"/>
                </a:solidFill>
                <a:latin typeface="Arial MT"/>
                <a:cs typeface="Arial MT"/>
              </a:rPr>
              <a:t> </a:t>
            </a:r>
            <a:r>
              <a:rPr dirty="0" sz="3200" spc="114">
                <a:solidFill>
                  <a:srgbClr val="5D778C"/>
                </a:solidFill>
                <a:latin typeface="Arial MT"/>
                <a:cs typeface="Arial MT"/>
              </a:rPr>
              <a:t>forces</a:t>
            </a:r>
            <a:r>
              <a:rPr dirty="0" sz="3200" spc="254">
                <a:solidFill>
                  <a:srgbClr val="5D778C"/>
                </a:solidFill>
                <a:latin typeface="Arial MT"/>
                <a:cs typeface="Arial MT"/>
              </a:rPr>
              <a:t> </a:t>
            </a:r>
            <a:r>
              <a:rPr dirty="0" sz="3200" spc="75">
                <a:solidFill>
                  <a:srgbClr val="69727C"/>
                </a:solidFill>
                <a:latin typeface="Arial MT"/>
                <a:cs typeface="Arial MT"/>
              </a:rPr>
              <a:t>that</a:t>
            </a:r>
            <a:r>
              <a:rPr dirty="0" sz="3200" spc="345">
                <a:solidFill>
                  <a:srgbClr val="69727C"/>
                </a:solidFill>
                <a:latin typeface="Arial MT"/>
                <a:cs typeface="Arial MT"/>
              </a:rPr>
              <a:t> </a:t>
            </a:r>
            <a:r>
              <a:rPr dirty="0" sz="3200" spc="-20">
                <a:solidFill>
                  <a:srgbClr val="64727E"/>
                </a:solidFill>
                <a:latin typeface="Arial MT"/>
                <a:cs typeface="Arial MT"/>
              </a:rPr>
              <a:t>will </a:t>
            </a:r>
            <a:r>
              <a:rPr dirty="0" sz="3200" spc="75">
                <a:solidFill>
                  <a:srgbClr val="64748A"/>
                </a:solidFill>
                <a:latin typeface="Arial MT"/>
                <a:cs typeface="Arial MT"/>
              </a:rPr>
              <a:t>permanently</a:t>
            </a:r>
            <a:r>
              <a:rPr dirty="0" sz="3200" spc="445">
                <a:solidFill>
                  <a:srgbClr val="64748A"/>
                </a:solidFill>
                <a:latin typeface="Arial MT"/>
                <a:cs typeface="Arial MT"/>
              </a:rPr>
              <a:t> </a:t>
            </a:r>
            <a:r>
              <a:rPr dirty="0" sz="3200" spc="60">
                <a:solidFill>
                  <a:srgbClr val="67707C"/>
                </a:solidFill>
                <a:latin typeface="Arial MT"/>
                <a:cs typeface="Arial MT"/>
              </a:rPr>
              <a:t>reshape</a:t>
            </a:r>
            <a:r>
              <a:rPr dirty="0" sz="3200" spc="265">
                <a:solidFill>
                  <a:srgbClr val="67707C"/>
                </a:solidFill>
                <a:latin typeface="Arial MT"/>
                <a:cs typeface="Arial MT"/>
              </a:rPr>
              <a:t> </a:t>
            </a:r>
            <a:r>
              <a:rPr dirty="0" sz="3200" spc="80">
                <a:solidFill>
                  <a:srgbClr val="697283"/>
                </a:solidFill>
                <a:latin typeface="Arial MT"/>
                <a:cs typeface="Arial MT"/>
              </a:rPr>
              <a:t>industry</a:t>
            </a:r>
            <a:r>
              <a:rPr dirty="0" sz="3200" spc="430">
                <a:solidFill>
                  <a:srgbClr val="697283"/>
                </a:solidFill>
                <a:latin typeface="Arial MT"/>
                <a:cs typeface="Arial MT"/>
              </a:rPr>
              <a:t> </a:t>
            </a:r>
            <a:r>
              <a:rPr dirty="0" sz="3200" spc="50">
                <a:solidFill>
                  <a:srgbClr val="74758A"/>
                </a:solidFill>
                <a:latin typeface="Arial MT"/>
                <a:cs typeface="Arial MT"/>
              </a:rPr>
              <a:t>landscapes</a:t>
            </a:r>
            <a:r>
              <a:rPr dirty="0" sz="3200">
                <a:solidFill>
                  <a:srgbClr val="74758A"/>
                </a:solidFill>
                <a:latin typeface="Arial MT"/>
                <a:cs typeface="Arial MT"/>
              </a:rPr>
              <a:t>	</a:t>
            </a:r>
            <a:r>
              <a:rPr dirty="0" sz="3200">
                <a:solidFill>
                  <a:srgbClr val="5E6E82"/>
                </a:solidFill>
                <a:latin typeface="Arial MT"/>
                <a:cs typeface="Arial MT"/>
              </a:rPr>
              <a:t>and</a:t>
            </a:r>
            <a:r>
              <a:rPr dirty="0" sz="3200" spc="275">
                <a:solidFill>
                  <a:srgbClr val="5E6E82"/>
                </a:solidFill>
                <a:latin typeface="Arial MT"/>
                <a:cs typeface="Arial MT"/>
              </a:rPr>
              <a:t> </a:t>
            </a:r>
            <a:r>
              <a:rPr dirty="0" sz="3200" spc="50">
                <a:solidFill>
                  <a:srgbClr val="627487"/>
                </a:solidFill>
                <a:latin typeface="Arial MT"/>
                <a:cs typeface="Arial MT"/>
              </a:rPr>
              <a:t>employment </a:t>
            </a:r>
            <a:r>
              <a:rPr dirty="0" sz="3200" spc="80">
                <a:solidFill>
                  <a:srgbClr val="667587"/>
                </a:solidFill>
                <a:latin typeface="Arial MT"/>
                <a:cs typeface="Arial MT"/>
              </a:rPr>
              <a:t>paradigms</a:t>
            </a:r>
            <a:r>
              <a:rPr dirty="0" sz="3200" spc="445">
                <a:solidFill>
                  <a:srgbClr val="667587"/>
                </a:solidFill>
                <a:latin typeface="Arial MT"/>
                <a:cs typeface="Arial MT"/>
              </a:rPr>
              <a:t> </a:t>
            </a:r>
            <a:r>
              <a:rPr dirty="0" sz="3200">
                <a:solidFill>
                  <a:srgbClr val="64728E"/>
                </a:solidFill>
                <a:latin typeface="Arial MT"/>
                <a:cs typeface="Arial MT"/>
              </a:rPr>
              <a:t>by</a:t>
            </a:r>
            <a:r>
              <a:rPr dirty="0" sz="3200" spc="270">
                <a:solidFill>
                  <a:srgbClr val="64728E"/>
                </a:solidFill>
                <a:latin typeface="Arial MT"/>
                <a:cs typeface="Arial MT"/>
              </a:rPr>
              <a:t> </a:t>
            </a:r>
            <a:r>
              <a:rPr dirty="0" sz="3200" spc="114">
                <a:solidFill>
                  <a:srgbClr val="5B6E7E"/>
                </a:solidFill>
                <a:latin typeface="Arial MT"/>
                <a:cs typeface="Arial MT"/>
              </a:rPr>
              <a:t>mid-</a:t>
            </a:r>
            <a:r>
              <a:rPr dirty="0" sz="3200" spc="95">
                <a:solidFill>
                  <a:srgbClr val="5B6E7E"/>
                </a:solidFill>
                <a:latin typeface="Arial MT"/>
                <a:cs typeface="Arial MT"/>
              </a:rPr>
              <a:t>century.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06" y="0"/>
            <a:ext cx="20088393" cy="10994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48650" rIns="0" bIns="0" rtlCol="0" vert="horz">
            <a:spAutoFit/>
          </a:bodyPr>
          <a:lstStyle/>
          <a:p>
            <a:pPr marL="29209">
              <a:lnSpc>
                <a:spcPct val="100000"/>
              </a:lnSpc>
              <a:spcBef>
                <a:spcPts val="140"/>
              </a:spcBef>
            </a:pPr>
            <a:r>
              <a:rPr dirty="0" sz="5500" spc="-30">
                <a:solidFill>
                  <a:srgbClr val="181818"/>
                </a:solidFill>
              </a:rPr>
              <a:t>Forces</a:t>
            </a:r>
            <a:r>
              <a:rPr dirty="0" sz="5500" spc="-100">
                <a:solidFill>
                  <a:srgbClr val="181818"/>
                </a:solidFill>
              </a:rPr>
              <a:t> </a:t>
            </a:r>
            <a:r>
              <a:rPr dirty="0" sz="5500" spc="110">
                <a:solidFill>
                  <a:srgbClr val="151515"/>
                </a:solidFill>
              </a:rPr>
              <a:t>Shaping</a:t>
            </a:r>
            <a:r>
              <a:rPr dirty="0" sz="5500" spc="-185">
                <a:solidFill>
                  <a:srgbClr val="151515"/>
                </a:solidFill>
              </a:rPr>
              <a:t> </a:t>
            </a:r>
            <a:r>
              <a:rPr dirty="0" sz="5500" spc="250">
                <a:solidFill>
                  <a:srgbClr val="131313"/>
                </a:solidFill>
              </a:rPr>
              <a:t>the</a:t>
            </a:r>
            <a:r>
              <a:rPr dirty="0" sz="5500" spc="-420">
                <a:solidFill>
                  <a:srgbClr val="131313"/>
                </a:solidFill>
              </a:rPr>
              <a:t> </a:t>
            </a:r>
            <a:r>
              <a:rPr dirty="0" sz="5500">
                <a:solidFill>
                  <a:srgbClr val="131313"/>
                </a:solidFill>
              </a:rPr>
              <a:t>2050</a:t>
            </a:r>
            <a:r>
              <a:rPr dirty="0" sz="5500" spc="-229">
                <a:solidFill>
                  <a:srgbClr val="131313"/>
                </a:solidFill>
              </a:rPr>
              <a:t> </a:t>
            </a:r>
            <a:r>
              <a:rPr dirty="0" sz="5500" spc="70">
                <a:solidFill>
                  <a:srgbClr val="161616"/>
                </a:solidFill>
              </a:rPr>
              <a:t>Landscape</a:t>
            </a:r>
            <a:endParaRPr sz="5500"/>
          </a:p>
        </p:txBody>
      </p:sp>
      <p:sp>
        <p:nvSpPr>
          <p:cNvPr id="4" name="object 4" descr=""/>
          <p:cNvSpPr txBox="1">
            <a:spLocks noGrp="1"/>
          </p:cNvSpPr>
          <p:nvPr>
            <p:ph idx="2" sz="half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 marR="2420620" indent="22225">
              <a:lnSpc>
                <a:spcPct val="117000"/>
              </a:lnSpc>
              <a:spcBef>
                <a:spcPts val="90"/>
              </a:spcBef>
            </a:pPr>
            <a:r>
              <a:rPr dirty="0" spc="-25">
                <a:solidFill>
                  <a:srgbClr val="1D64F4"/>
                </a:solidFill>
              </a:rPr>
              <a:t>Artificial</a:t>
            </a:r>
            <a:r>
              <a:rPr dirty="0" spc="-170">
                <a:solidFill>
                  <a:srgbClr val="1D64F4"/>
                </a:solidFill>
              </a:rPr>
              <a:t> </a:t>
            </a:r>
            <a:r>
              <a:rPr dirty="0" spc="-10"/>
              <a:t>Intelligence </a:t>
            </a:r>
            <a:r>
              <a:rPr dirty="0" spc="-10">
                <a:solidFill>
                  <a:srgbClr val="2162E4"/>
                </a:solidFill>
              </a:rPr>
              <a:t>Convergence</a:t>
            </a:r>
          </a:p>
          <a:p>
            <a:pPr marL="13335" marR="579755" indent="13970">
              <a:lnSpc>
                <a:spcPct val="129299"/>
              </a:lnSpc>
              <a:spcBef>
                <a:spcPts val="2120"/>
              </a:spcBef>
              <a:tabLst>
                <a:tab pos="3637279" algn="l"/>
              </a:tabLst>
            </a:pPr>
            <a:r>
              <a:rPr dirty="0" sz="2550" b="0">
                <a:solidFill>
                  <a:srgbClr val="44597E"/>
                </a:solidFill>
                <a:latin typeface="Arial MT"/>
                <a:cs typeface="Arial MT"/>
              </a:rPr>
              <a:t>AI</a:t>
            </a:r>
            <a:r>
              <a:rPr dirty="0" sz="2550" spc="90" b="0">
                <a:solidFill>
                  <a:srgbClr val="44597E"/>
                </a:solidFill>
                <a:latin typeface="Arial MT"/>
                <a:cs typeface="Arial MT"/>
              </a:rPr>
              <a:t> </a:t>
            </a:r>
            <a:r>
              <a:rPr dirty="0" sz="2550" b="0">
                <a:solidFill>
                  <a:srgbClr val="3F5469"/>
                </a:solidFill>
                <a:latin typeface="Arial MT"/>
                <a:cs typeface="Arial MT"/>
              </a:rPr>
              <a:t>will</a:t>
            </a:r>
            <a:r>
              <a:rPr dirty="0" sz="2550" spc="105" b="0">
                <a:solidFill>
                  <a:srgbClr val="3F5469"/>
                </a:solidFill>
                <a:latin typeface="Arial MT"/>
                <a:cs typeface="Arial MT"/>
              </a:rPr>
              <a:t> </a:t>
            </a:r>
            <a:r>
              <a:rPr dirty="0" sz="2550" spc="55" b="0">
                <a:solidFill>
                  <a:srgbClr val="424242"/>
                </a:solidFill>
                <a:latin typeface="Arial MT"/>
                <a:cs typeface="Arial MT"/>
              </a:rPr>
              <a:t>transition</a:t>
            </a:r>
            <a:r>
              <a:rPr dirty="0" sz="2550" spc="290" b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2550" spc="75" b="0">
                <a:solidFill>
                  <a:srgbClr val="494949"/>
                </a:solidFill>
                <a:latin typeface="Arial MT"/>
                <a:cs typeface="Arial MT"/>
              </a:rPr>
              <a:t>from</a:t>
            </a:r>
            <a:r>
              <a:rPr dirty="0" sz="2550" spc="300" b="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550" b="0">
                <a:solidFill>
                  <a:srgbClr val="484848"/>
                </a:solidFill>
                <a:latin typeface="Arial MT"/>
                <a:cs typeface="Arial MT"/>
              </a:rPr>
              <a:t>isolated</a:t>
            </a:r>
            <a:r>
              <a:rPr dirty="0" sz="2550" spc="175" b="0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dirty="0" sz="2550" spc="50" b="0">
                <a:solidFill>
                  <a:srgbClr val="494949"/>
                </a:solidFill>
                <a:latin typeface="Arial MT"/>
                <a:cs typeface="Arial MT"/>
              </a:rPr>
              <a:t>tools</a:t>
            </a:r>
            <a:r>
              <a:rPr dirty="0" sz="2550" spc="260" b="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550" spc="75" b="0">
                <a:solidFill>
                  <a:srgbClr val="465262"/>
                </a:solidFill>
                <a:latin typeface="Arial MT"/>
                <a:cs typeface="Arial MT"/>
              </a:rPr>
              <a:t>to </a:t>
            </a:r>
            <a:r>
              <a:rPr dirty="0" sz="2550" b="0">
                <a:solidFill>
                  <a:srgbClr val="494949"/>
                </a:solidFill>
                <a:latin typeface="Arial MT"/>
                <a:cs typeface="Arial MT"/>
              </a:rPr>
              <a:t>pervasive,</a:t>
            </a:r>
            <a:r>
              <a:rPr dirty="0" sz="2550" spc="625" b="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550" spc="-10" b="0">
                <a:solidFill>
                  <a:srgbClr val="494949"/>
                </a:solidFill>
                <a:latin typeface="Arial MT"/>
                <a:cs typeface="Arial MT"/>
              </a:rPr>
              <a:t>autonomous</a:t>
            </a:r>
            <a:r>
              <a:rPr dirty="0" sz="2550" b="0">
                <a:solidFill>
                  <a:srgbClr val="494949"/>
                </a:solidFill>
                <a:latin typeface="Arial MT"/>
                <a:cs typeface="Arial MT"/>
              </a:rPr>
              <a:t>	</a:t>
            </a:r>
            <a:r>
              <a:rPr dirty="0" sz="2550" b="0">
                <a:solidFill>
                  <a:srgbClr val="424242"/>
                </a:solidFill>
                <a:latin typeface="Arial MT"/>
                <a:cs typeface="Arial MT"/>
              </a:rPr>
              <a:t>systems</a:t>
            </a:r>
            <a:r>
              <a:rPr dirty="0" sz="2550" spc="600" b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2550" spc="-10" b="0">
                <a:solidFill>
                  <a:srgbClr val="4D4D4D"/>
                </a:solidFill>
                <a:latin typeface="Arial MT"/>
                <a:cs typeface="Arial MT"/>
              </a:rPr>
              <a:t>managing </a:t>
            </a:r>
            <a:r>
              <a:rPr dirty="0" sz="2550" spc="85" b="0">
                <a:solidFill>
                  <a:srgbClr val="494949"/>
                </a:solidFill>
                <a:latin typeface="Arial MT"/>
                <a:cs typeface="Arial MT"/>
              </a:rPr>
              <a:t>infrastructure,</a:t>
            </a:r>
            <a:r>
              <a:rPr dirty="0" sz="2550" spc="135" b="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550" b="0">
                <a:solidFill>
                  <a:srgbClr val="4D4D4D"/>
                </a:solidFill>
                <a:latin typeface="Arial MT"/>
                <a:cs typeface="Arial MT"/>
              </a:rPr>
              <a:t>data</a:t>
            </a:r>
            <a:r>
              <a:rPr dirty="0" sz="2550" spc="240" b="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550" b="0">
                <a:solidFill>
                  <a:srgbClr val="4D4D4D"/>
                </a:solidFill>
                <a:latin typeface="Arial MT"/>
                <a:cs typeface="Arial MT"/>
              </a:rPr>
              <a:t>logic,</a:t>
            </a:r>
            <a:r>
              <a:rPr dirty="0" sz="2550" spc="225" b="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550" b="0">
                <a:solidFill>
                  <a:srgbClr val="5E6B77"/>
                </a:solidFill>
                <a:latin typeface="Arial MT"/>
                <a:cs typeface="Arial MT"/>
              </a:rPr>
              <a:t>and</a:t>
            </a:r>
            <a:r>
              <a:rPr dirty="0" sz="2550" spc="125" b="0">
                <a:solidFill>
                  <a:srgbClr val="5E6B77"/>
                </a:solidFill>
                <a:latin typeface="Arial MT"/>
                <a:cs typeface="Arial MT"/>
              </a:rPr>
              <a:t> </a:t>
            </a:r>
            <a:r>
              <a:rPr dirty="0" sz="2550" spc="-10" b="0">
                <a:solidFill>
                  <a:srgbClr val="424242"/>
                </a:solidFill>
                <a:latin typeface="Arial MT"/>
                <a:cs typeface="Arial MT"/>
              </a:rPr>
              <a:t>operational </a:t>
            </a:r>
            <a:r>
              <a:rPr dirty="0" sz="2550" spc="45" b="0">
                <a:solidFill>
                  <a:srgbClr val="494949"/>
                </a:solidFill>
                <a:latin typeface="Arial MT"/>
                <a:cs typeface="Arial MT"/>
              </a:rPr>
              <a:t>frameworks.</a:t>
            </a:r>
            <a:endParaRPr sz="2550">
              <a:latin typeface="Arial MT"/>
              <a:cs typeface="Arial MT"/>
            </a:endParaRPr>
          </a:p>
          <a:p>
            <a:pPr marL="20955" marR="5080" indent="5715">
              <a:lnSpc>
                <a:spcPct val="130000"/>
              </a:lnSpc>
              <a:spcBef>
                <a:spcPts val="1835"/>
              </a:spcBef>
              <a:tabLst>
                <a:tab pos="1529080" algn="l"/>
                <a:tab pos="1561465" algn="l"/>
                <a:tab pos="3426460" algn="l"/>
              </a:tabLst>
            </a:pPr>
            <a:r>
              <a:rPr dirty="0" sz="2550" b="0">
                <a:solidFill>
                  <a:srgbClr val="4D4D4D"/>
                </a:solidFill>
                <a:latin typeface="Arial MT"/>
                <a:cs typeface="Arial MT"/>
              </a:rPr>
              <a:t>The</a:t>
            </a:r>
            <a:r>
              <a:rPr dirty="0" sz="2550" spc="175" b="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550" b="0">
                <a:solidFill>
                  <a:srgbClr val="565656"/>
                </a:solidFill>
                <a:latin typeface="Arial MT"/>
                <a:cs typeface="Arial MT"/>
              </a:rPr>
              <a:t>human</a:t>
            </a:r>
            <a:r>
              <a:rPr dirty="0" sz="2550" spc="325" b="0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dirty="0" sz="2550" spc="-10" b="0">
                <a:solidFill>
                  <a:srgbClr val="4B4B4B"/>
                </a:solidFill>
                <a:latin typeface="Arial MT"/>
                <a:cs typeface="Arial MT"/>
              </a:rPr>
              <a:t>workforce</a:t>
            </a:r>
            <a:r>
              <a:rPr dirty="0" sz="2550" b="0">
                <a:solidFill>
                  <a:srgbClr val="4B4B4B"/>
                </a:solidFill>
                <a:latin typeface="Arial MT"/>
                <a:cs typeface="Arial MT"/>
              </a:rPr>
              <a:t>	</a:t>
            </a:r>
            <a:r>
              <a:rPr dirty="0" sz="2550" b="0">
                <a:solidFill>
                  <a:srgbClr val="52626D"/>
                </a:solidFill>
                <a:latin typeface="Arial MT"/>
                <a:cs typeface="Arial MT"/>
              </a:rPr>
              <a:t>will</a:t>
            </a:r>
            <a:r>
              <a:rPr dirty="0" sz="2550" spc="250" b="0">
                <a:solidFill>
                  <a:srgbClr val="52626D"/>
                </a:solidFill>
                <a:latin typeface="Arial MT"/>
                <a:cs typeface="Arial MT"/>
              </a:rPr>
              <a:t> </a:t>
            </a:r>
            <a:r>
              <a:rPr dirty="0" sz="2550" b="0">
                <a:solidFill>
                  <a:srgbClr val="4B4B4B"/>
                </a:solidFill>
                <a:latin typeface="Arial MT"/>
                <a:cs typeface="Arial MT"/>
              </a:rPr>
              <a:t>pivot</a:t>
            </a:r>
            <a:r>
              <a:rPr dirty="0" sz="2550" spc="335" b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550" spc="40" b="0">
                <a:solidFill>
                  <a:srgbClr val="4F4F4F"/>
                </a:solidFill>
                <a:latin typeface="Arial MT"/>
                <a:cs typeface="Arial MT"/>
              </a:rPr>
              <a:t>towards </a:t>
            </a:r>
            <a:r>
              <a:rPr dirty="0" sz="2550" spc="-10" b="0">
                <a:solidFill>
                  <a:srgbClr val="4B4B4B"/>
                </a:solidFill>
                <a:latin typeface="Arial MT"/>
                <a:cs typeface="Arial MT"/>
              </a:rPr>
              <a:t>algorithm</a:t>
            </a:r>
            <a:r>
              <a:rPr dirty="0" sz="2550" b="0">
                <a:solidFill>
                  <a:srgbClr val="4B4B4B"/>
                </a:solidFill>
                <a:latin typeface="Arial MT"/>
                <a:cs typeface="Arial MT"/>
              </a:rPr>
              <a:t>	</a:t>
            </a:r>
            <a:r>
              <a:rPr dirty="0" sz="2550" b="0">
                <a:solidFill>
                  <a:srgbClr val="3F4D67"/>
                </a:solidFill>
                <a:latin typeface="Arial MT"/>
                <a:cs typeface="Arial MT"/>
              </a:rPr>
              <a:t>auditing,</a:t>
            </a:r>
            <a:r>
              <a:rPr dirty="0" sz="2550" spc="375" b="0">
                <a:solidFill>
                  <a:srgbClr val="3F4D67"/>
                </a:solidFill>
                <a:latin typeface="Arial MT"/>
                <a:cs typeface="Arial MT"/>
              </a:rPr>
              <a:t> </a:t>
            </a:r>
            <a:r>
              <a:rPr dirty="0" sz="2550" b="0">
                <a:solidFill>
                  <a:srgbClr val="4F4F4F"/>
                </a:solidFill>
                <a:latin typeface="Arial MT"/>
                <a:cs typeface="Arial MT"/>
              </a:rPr>
              <a:t>ethical</a:t>
            </a:r>
            <a:r>
              <a:rPr dirty="0" sz="2550" spc="360" b="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2550" spc="50" b="0">
                <a:solidFill>
                  <a:srgbClr val="4B4B4B"/>
                </a:solidFill>
                <a:latin typeface="Arial MT"/>
                <a:cs typeface="Arial MT"/>
              </a:rPr>
              <a:t>oversight,</a:t>
            </a:r>
            <a:r>
              <a:rPr dirty="0" sz="2550" spc="430" b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550" b="0">
                <a:solidFill>
                  <a:srgbClr val="3A566E"/>
                </a:solidFill>
                <a:latin typeface="Arial MT"/>
                <a:cs typeface="Arial MT"/>
              </a:rPr>
              <a:t>and</a:t>
            </a:r>
            <a:r>
              <a:rPr dirty="0" sz="2550" spc="80" b="0">
                <a:solidFill>
                  <a:srgbClr val="3A566E"/>
                </a:solidFill>
                <a:latin typeface="Arial MT"/>
                <a:cs typeface="Arial MT"/>
              </a:rPr>
              <a:t> </a:t>
            </a:r>
            <a:r>
              <a:rPr dirty="0" sz="2550" spc="-20" b="0">
                <a:solidFill>
                  <a:srgbClr val="4F4F4F"/>
                </a:solidFill>
                <a:latin typeface="Arial MT"/>
                <a:cs typeface="Arial MT"/>
              </a:rPr>
              <a:t>tasks </a:t>
            </a:r>
            <a:r>
              <a:rPr dirty="0" sz="2550" b="0">
                <a:solidFill>
                  <a:srgbClr val="4B4B4B"/>
                </a:solidFill>
                <a:latin typeface="Arial MT"/>
                <a:cs typeface="Arial MT"/>
              </a:rPr>
              <a:t>demanding</a:t>
            </a:r>
            <a:r>
              <a:rPr dirty="0" sz="2550" spc="509" b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550" b="0">
                <a:solidFill>
                  <a:srgbClr val="4B4B4B"/>
                </a:solidFill>
                <a:latin typeface="Arial MT"/>
                <a:cs typeface="Arial MT"/>
              </a:rPr>
              <a:t>high</a:t>
            </a:r>
            <a:r>
              <a:rPr dirty="0" sz="2550" spc="395" b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550" b="0">
                <a:solidFill>
                  <a:srgbClr val="4D4D4D"/>
                </a:solidFill>
                <a:latin typeface="Arial MT"/>
                <a:cs typeface="Arial MT"/>
              </a:rPr>
              <a:t>emotional</a:t>
            </a:r>
            <a:r>
              <a:rPr dirty="0" sz="2550" spc="525" b="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550" b="0">
                <a:solidFill>
                  <a:srgbClr val="4B4B4B"/>
                </a:solidFill>
                <a:latin typeface="Arial MT"/>
                <a:cs typeface="Arial MT"/>
              </a:rPr>
              <a:t>intelligence</a:t>
            </a:r>
            <a:r>
              <a:rPr dirty="0" sz="2550" spc="590" b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550" spc="-20" b="0">
                <a:solidFill>
                  <a:srgbClr val="505050"/>
                </a:solidFill>
                <a:latin typeface="Arial MT"/>
                <a:cs typeface="Arial MT"/>
              </a:rPr>
              <a:t>that </a:t>
            </a:r>
            <a:r>
              <a:rPr dirty="0" sz="2550" spc="-10" b="0">
                <a:solidFill>
                  <a:srgbClr val="4B4B4B"/>
                </a:solidFill>
                <a:latin typeface="Arial MT"/>
                <a:cs typeface="Arial MT"/>
              </a:rPr>
              <a:t>machines</a:t>
            </a:r>
            <a:r>
              <a:rPr dirty="0" sz="2550" b="0">
                <a:solidFill>
                  <a:srgbClr val="4B4B4B"/>
                </a:solidFill>
                <a:latin typeface="Arial MT"/>
                <a:cs typeface="Arial MT"/>
              </a:rPr>
              <a:t>		</a:t>
            </a:r>
            <a:r>
              <a:rPr dirty="0" sz="2550" b="0">
                <a:solidFill>
                  <a:srgbClr val="484848"/>
                </a:solidFill>
                <a:latin typeface="Arial MT"/>
                <a:cs typeface="Arial MT"/>
              </a:rPr>
              <a:t>cannot</a:t>
            </a:r>
            <a:r>
              <a:rPr dirty="0" sz="2550" spc="390" b="0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dirty="0" sz="2550" spc="-10" b="0">
                <a:solidFill>
                  <a:srgbClr val="3A3A3A"/>
                </a:solidFill>
                <a:latin typeface="Arial MT"/>
                <a:cs typeface="Arial MT"/>
              </a:rPr>
              <a:t>replicate.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1274126" y="3432221"/>
            <a:ext cx="7032625" cy="46094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130">
              <a:lnSpc>
                <a:spcPct val="100000"/>
              </a:lnSpc>
              <a:spcBef>
                <a:spcPts val="105"/>
              </a:spcBef>
            </a:pPr>
            <a:r>
              <a:rPr dirty="0" sz="3600" b="1">
                <a:solidFill>
                  <a:srgbClr val="2862E4"/>
                </a:solidFill>
                <a:latin typeface="Arial"/>
                <a:cs typeface="Arial"/>
              </a:rPr>
              <a:t>The</a:t>
            </a:r>
            <a:r>
              <a:rPr dirty="0" sz="3600" spc="-150" b="1">
                <a:solidFill>
                  <a:srgbClr val="2862E4"/>
                </a:solidFill>
                <a:latin typeface="Arial"/>
                <a:cs typeface="Arial"/>
              </a:rPr>
              <a:t> </a:t>
            </a:r>
            <a:r>
              <a:rPr dirty="0" sz="3600" spc="125" b="1">
                <a:solidFill>
                  <a:srgbClr val="2D6BF9"/>
                </a:solidFill>
                <a:latin typeface="Arial"/>
                <a:cs typeface="Arial"/>
              </a:rPr>
              <a:t>Climate</a:t>
            </a:r>
            <a:r>
              <a:rPr dirty="0" sz="3600" b="1">
                <a:solidFill>
                  <a:srgbClr val="2D6BF9"/>
                </a:solidFill>
                <a:latin typeface="Arial"/>
                <a:cs typeface="Arial"/>
              </a:rPr>
              <a:t> </a:t>
            </a:r>
            <a:r>
              <a:rPr dirty="0" sz="3600" spc="90" b="1">
                <a:solidFill>
                  <a:srgbClr val="2862E4"/>
                </a:solidFill>
                <a:latin typeface="Arial"/>
                <a:cs typeface="Arial"/>
              </a:rPr>
              <a:t>Imperative</a:t>
            </a:r>
            <a:endParaRPr sz="3600">
              <a:latin typeface="Arial"/>
              <a:cs typeface="Arial"/>
            </a:endParaRPr>
          </a:p>
          <a:p>
            <a:pPr marL="12700" marR="280670" indent="3810">
              <a:lnSpc>
                <a:spcPct val="129299"/>
              </a:lnSpc>
              <a:spcBef>
                <a:spcPts val="2140"/>
              </a:spcBef>
              <a:tabLst>
                <a:tab pos="5314950" algn="l"/>
              </a:tabLst>
            </a:pPr>
            <a:r>
              <a:rPr dirty="0" sz="2550">
                <a:solidFill>
                  <a:srgbClr val="3B485B"/>
                </a:solidFill>
                <a:latin typeface="Arial MT"/>
                <a:cs typeface="Arial MT"/>
              </a:rPr>
              <a:t>Global</a:t>
            </a:r>
            <a:r>
              <a:rPr dirty="0" sz="2550" spc="355">
                <a:solidFill>
                  <a:srgbClr val="3B485B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546074"/>
                </a:solidFill>
                <a:latin typeface="Arial MT"/>
                <a:cs typeface="Arial MT"/>
              </a:rPr>
              <a:t>warming</a:t>
            </a:r>
            <a:r>
              <a:rPr dirty="0" sz="2550" spc="340">
                <a:solidFill>
                  <a:srgbClr val="546074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525252"/>
                </a:solidFill>
                <a:latin typeface="Arial MT"/>
                <a:cs typeface="Arial MT"/>
              </a:rPr>
              <a:t>mitigation</a:t>
            </a:r>
            <a:r>
              <a:rPr dirty="0" sz="2550" spc="50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545454"/>
                </a:solidFill>
                <a:latin typeface="Arial MT"/>
                <a:cs typeface="Arial MT"/>
              </a:rPr>
              <a:t>will</a:t>
            </a:r>
            <a:r>
              <a:rPr dirty="0" sz="2550" spc="225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4B4B4B"/>
                </a:solidFill>
                <a:latin typeface="Arial MT"/>
                <a:cs typeface="Arial MT"/>
              </a:rPr>
              <a:t>not</a:t>
            </a:r>
            <a:r>
              <a:rPr dirty="0" sz="2550" spc="40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3F3F3F"/>
                </a:solidFill>
                <a:latin typeface="Arial MT"/>
                <a:cs typeface="Arial MT"/>
              </a:rPr>
              <a:t>just</a:t>
            </a:r>
            <a:r>
              <a:rPr dirty="0" sz="2550" spc="37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525252"/>
                </a:solidFill>
                <a:latin typeface="Arial MT"/>
                <a:cs typeface="Arial MT"/>
              </a:rPr>
              <a:t>be</a:t>
            </a:r>
            <a:r>
              <a:rPr dirty="0" sz="2550" spc="245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2550" spc="-25">
                <a:solidFill>
                  <a:srgbClr val="545454"/>
                </a:solidFill>
                <a:latin typeface="Arial MT"/>
                <a:cs typeface="Arial MT"/>
              </a:rPr>
              <a:t>an </a:t>
            </a:r>
            <a:r>
              <a:rPr dirty="0" sz="2550">
                <a:solidFill>
                  <a:srgbClr val="414141"/>
                </a:solidFill>
                <a:latin typeface="Arial MT"/>
                <a:cs typeface="Arial MT"/>
              </a:rPr>
              <a:t>initiative;</a:t>
            </a:r>
            <a:r>
              <a:rPr dirty="0" sz="2550" spc="340">
                <a:solidFill>
                  <a:srgbClr val="414141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525252"/>
                </a:solidFill>
                <a:latin typeface="Arial MT"/>
                <a:cs typeface="Arial MT"/>
              </a:rPr>
              <a:t>it</a:t>
            </a:r>
            <a:r>
              <a:rPr dirty="0" sz="2550" spc="459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525252"/>
                </a:solidFill>
                <a:latin typeface="Arial MT"/>
                <a:cs typeface="Arial MT"/>
              </a:rPr>
              <a:t>will</a:t>
            </a:r>
            <a:r>
              <a:rPr dirty="0" sz="2550" spc="27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525252"/>
                </a:solidFill>
                <a:latin typeface="Arial MT"/>
                <a:cs typeface="Arial MT"/>
              </a:rPr>
              <a:t>be</a:t>
            </a:r>
            <a:r>
              <a:rPr dirty="0" sz="2550" spc="195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2550" spc="75">
                <a:solidFill>
                  <a:srgbClr val="414141"/>
                </a:solidFill>
                <a:latin typeface="Arial MT"/>
                <a:cs typeface="Arial MT"/>
              </a:rPr>
              <a:t>the</a:t>
            </a:r>
            <a:r>
              <a:rPr dirty="0" sz="2550" spc="250">
                <a:solidFill>
                  <a:srgbClr val="414141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494949"/>
                </a:solidFill>
                <a:latin typeface="Arial MT"/>
                <a:cs typeface="Arial MT"/>
              </a:rPr>
              <a:t>foundational</a:t>
            </a:r>
            <a:r>
              <a:rPr dirty="0" sz="2550">
                <a:solidFill>
                  <a:srgbClr val="494949"/>
                </a:solidFill>
                <a:latin typeface="Arial MT"/>
                <a:cs typeface="Arial MT"/>
              </a:rPr>
              <a:t>	</a:t>
            </a:r>
            <a:r>
              <a:rPr dirty="0" sz="2550" spc="-10">
                <a:solidFill>
                  <a:srgbClr val="484848"/>
                </a:solidFill>
                <a:latin typeface="Arial MT"/>
                <a:cs typeface="Arial MT"/>
              </a:rPr>
              <a:t>economic </a:t>
            </a:r>
            <a:r>
              <a:rPr dirty="0" sz="2550">
                <a:solidFill>
                  <a:srgbClr val="414141"/>
                </a:solidFill>
                <a:latin typeface="Arial MT"/>
                <a:cs typeface="Arial MT"/>
              </a:rPr>
              <a:t>driver</a:t>
            </a:r>
            <a:r>
              <a:rPr dirty="0" sz="2550" spc="325">
                <a:solidFill>
                  <a:srgbClr val="414141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52576B"/>
                </a:solidFill>
                <a:latin typeface="Arial MT"/>
                <a:cs typeface="Arial MT"/>
              </a:rPr>
              <a:t>of</a:t>
            </a:r>
            <a:r>
              <a:rPr dirty="0" sz="2550" spc="130">
                <a:solidFill>
                  <a:srgbClr val="52576B"/>
                </a:solidFill>
                <a:latin typeface="Arial MT"/>
                <a:cs typeface="Arial MT"/>
              </a:rPr>
              <a:t> </a:t>
            </a:r>
            <a:r>
              <a:rPr dirty="0" sz="2550" spc="75">
                <a:solidFill>
                  <a:srgbClr val="494949"/>
                </a:solidFill>
                <a:latin typeface="Arial MT"/>
                <a:cs typeface="Arial MT"/>
              </a:rPr>
              <a:t>the</a:t>
            </a:r>
            <a:r>
              <a:rPr dirty="0" sz="2550" spc="22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550" spc="-35">
                <a:solidFill>
                  <a:srgbClr val="444444"/>
                </a:solidFill>
                <a:latin typeface="Arial MT"/>
                <a:cs typeface="Arial MT"/>
              </a:rPr>
              <a:t>21st</a:t>
            </a:r>
            <a:r>
              <a:rPr dirty="0" sz="2550" spc="26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550" spc="40">
                <a:solidFill>
                  <a:srgbClr val="464646"/>
                </a:solidFill>
                <a:latin typeface="Arial MT"/>
                <a:cs typeface="Arial MT"/>
              </a:rPr>
              <a:t>century.</a:t>
            </a:r>
            <a:endParaRPr sz="2550">
              <a:latin typeface="Arial MT"/>
              <a:cs typeface="Arial MT"/>
            </a:endParaRPr>
          </a:p>
          <a:p>
            <a:pPr marL="20320" marR="5080" indent="-3175">
              <a:lnSpc>
                <a:spcPct val="129299"/>
              </a:lnSpc>
              <a:spcBef>
                <a:spcPts val="1920"/>
              </a:spcBef>
              <a:tabLst>
                <a:tab pos="4265930" algn="l"/>
              </a:tabLst>
            </a:pPr>
            <a:r>
              <a:rPr dirty="0" sz="2550">
                <a:solidFill>
                  <a:srgbClr val="424242"/>
                </a:solidFill>
                <a:latin typeface="Arial MT"/>
                <a:cs typeface="Arial MT"/>
              </a:rPr>
              <a:t>Massive</a:t>
            </a:r>
            <a:r>
              <a:rPr dirty="0" sz="2550" spc="425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3F3F3F"/>
                </a:solidFill>
                <a:latin typeface="Arial MT"/>
                <a:cs typeface="Arial MT"/>
              </a:rPr>
              <a:t>capital</a:t>
            </a:r>
            <a:r>
              <a:rPr dirty="0" sz="2550" spc="30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464646"/>
                </a:solidFill>
                <a:latin typeface="Arial MT"/>
                <a:cs typeface="Arial MT"/>
              </a:rPr>
              <a:t>reallocation</a:t>
            </a:r>
            <a:r>
              <a:rPr dirty="0" sz="2550">
                <a:solidFill>
                  <a:srgbClr val="464646"/>
                </a:solidFill>
                <a:latin typeface="Arial MT"/>
                <a:cs typeface="Arial MT"/>
              </a:rPr>
              <a:t>	</a:t>
            </a:r>
            <a:r>
              <a:rPr dirty="0" sz="2550">
                <a:solidFill>
                  <a:srgbClr val="484848"/>
                </a:solidFill>
                <a:latin typeface="Arial MT"/>
                <a:cs typeface="Arial MT"/>
              </a:rPr>
              <a:t>will</a:t>
            </a:r>
            <a:r>
              <a:rPr dirty="0" sz="2550" spc="225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444444"/>
                </a:solidFill>
                <a:latin typeface="Arial MT"/>
                <a:cs typeface="Arial MT"/>
              </a:rPr>
              <a:t>spawn</a:t>
            </a:r>
            <a:r>
              <a:rPr dirty="0" sz="2550" spc="35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550" spc="50">
                <a:solidFill>
                  <a:srgbClr val="4B4B4B"/>
                </a:solidFill>
                <a:latin typeface="Arial MT"/>
                <a:cs typeface="Arial MT"/>
              </a:rPr>
              <a:t>entirely </a:t>
            </a:r>
            <a:r>
              <a:rPr dirty="0" sz="2550">
                <a:solidFill>
                  <a:srgbClr val="494949"/>
                </a:solidFill>
                <a:latin typeface="Arial MT"/>
                <a:cs typeface="Arial MT"/>
              </a:rPr>
              <a:t>new</a:t>
            </a:r>
            <a:r>
              <a:rPr dirty="0" sz="2550" spc="285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550" spc="55">
                <a:solidFill>
                  <a:srgbClr val="494949"/>
                </a:solidFill>
                <a:latin typeface="Arial MT"/>
                <a:cs typeface="Arial MT"/>
              </a:rPr>
              <a:t>sectors</a:t>
            </a:r>
            <a:r>
              <a:rPr dirty="0" sz="2550" spc="42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464646"/>
                </a:solidFill>
                <a:latin typeface="Arial MT"/>
                <a:cs typeface="Arial MT"/>
              </a:rPr>
              <a:t>dedicated</a:t>
            </a:r>
            <a:r>
              <a:rPr dirty="0" sz="2550" spc="29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550" spc="100">
                <a:solidFill>
                  <a:srgbClr val="494949"/>
                </a:solidFill>
                <a:latin typeface="Arial MT"/>
                <a:cs typeface="Arial MT"/>
              </a:rPr>
              <a:t>to</a:t>
            </a:r>
            <a:r>
              <a:rPr dirty="0" sz="2550" spc="229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550" spc="45">
                <a:solidFill>
                  <a:srgbClr val="464646"/>
                </a:solidFill>
                <a:latin typeface="Arial MT"/>
                <a:cs typeface="Arial MT"/>
              </a:rPr>
              <a:t>geoengineering, </a:t>
            </a:r>
            <a:r>
              <a:rPr dirty="0" sz="2550">
                <a:solidFill>
                  <a:srgbClr val="424242"/>
                </a:solidFill>
                <a:latin typeface="Arial MT"/>
                <a:cs typeface="Arial MT"/>
              </a:rPr>
              <a:t>sustainable</a:t>
            </a:r>
            <a:r>
              <a:rPr dirty="0" sz="2550" spc="505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3F3F3F"/>
                </a:solidFill>
                <a:latin typeface="Arial MT"/>
                <a:cs typeface="Arial MT"/>
              </a:rPr>
              <a:t>agriculture,</a:t>
            </a:r>
            <a:r>
              <a:rPr dirty="0" sz="2550" spc="51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484848"/>
                </a:solidFill>
                <a:latin typeface="Arial MT"/>
                <a:cs typeface="Arial MT"/>
              </a:rPr>
              <a:t>and</a:t>
            </a:r>
            <a:r>
              <a:rPr dirty="0" sz="2550" spc="245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4B4B4B"/>
                </a:solidFill>
                <a:latin typeface="Arial MT"/>
                <a:cs typeface="Arial MT"/>
              </a:rPr>
              <a:t>advanced</a:t>
            </a:r>
            <a:r>
              <a:rPr dirty="0" sz="2550" spc="459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494949"/>
                </a:solidFill>
                <a:latin typeface="Arial MT"/>
                <a:cs typeface="Arial MT"/>
              </a:rPr>
              <a:t>circular </a:t>
            </a:r>
            <a:r>
              <a:rPr dirty="0" sz="2550" spc="-10">
                <a:solidFill>
                  <a:srgbClr val="424242"/>
                </a:solidFill>
                <a:latin typeface="Arial MT"/>
                <a:cs typeface="Arial MT"/>
              </a:rPr>
              <a:t>economies.</a:t>
            </a:r>
            <a:endParaRPr sz="25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71098" y="2120354"/>
            <a:ext cx="6345356" cy="6345356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706" y="0"/>
            <a:ext cx="20088393" cy="10994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45720">
              <a:lnSpc>
                <a:spcPct val="100000"/>
              </a:lnSpc>
              <a:spcBef>
                <a:spcPts val="105"/>
              </a:spcBef>
            </a:pPr>
            <a:r>
              <a:rPr dirty="0" sz="6050" spc="-1125">
                <a:solidFill>
                  <a:srgbClr val="131313"/>
                </a:solidFill>
                <a:latin typeface="Arial Black"/>
                <a:cs typeface="Arial Black"/>
              </a:rPr>
              <a:t>The</a:t>
            </a:r>
            <a:r>
              <a:rPr dirty="0" sz="6050" spc="-620">
                <a:solidFill>
                  <a:srgbClr val="131313"/>
                </a:solidFill>
                <a:latin typeface="Arial Black"/>
                <a:cs typeface="Arial Black"/>
              </a:rPr>
              <a:t> </a:t>
            </a:r>
            <a:r>
              <a:rPr dirty="0" sz="6050" spc="-915">
                <a:solidFill>
                  <a:srgbClr val="131313"/>
                </a:solidFill>
                <a:latin typeface="Arial Black"/>
                <a:cs typeface="Arial Black"/>
              </a:rPr>
              <a:t>Workforce</a:t>
            </a:r>
            <a:r>
              <a:rPr dirty="0" sz="6050" spc="-285">
                <a:solidFill>
                  <a:srgbClr val="131313"/>
                </a:solidFill>
                <a:latin typeface="Arial Black"/>
                <a:cs typeface="Arial Black"/>
              </a:rPr>
              <a:t> </a:t>
            </a:r>
            <a:r>
              <a:rPr dirty="0" sz="6050" spc="-900">
                <a:solidFill>
                  <a:srgbClr val="181818"/>
                </a:solidFill>
                <a:latin typeface="Arial Black"/>
                <a:cs typeface="Arial Black"/>
              </a:rPr>
              <a:t>Evolution</a:t>
            </a:r>
            <a:r>
              <a:rPr dirty="0" sz="6050" spc="40">
                <a:solidFill>
                  <a:srgbClr val="181818"/>
                </a:solidFill>
                <a:latin typeface="Arial Black"/>
                <a:cs typeface="Arial Black"/>
              </a:rPr>
              <a:t> </a:t>
            </a:r>
            <a:r>
              <a:rPr dirty="0" sz="6050" spc="-894">
                <a:solidFill>
                  <a:srgbClr val="161616"/>
                </a:solidFill>
                <a:latin typeface="Arial Black"/>
                <a:cs typeface="Arial Black"/>
              </a:rPr>
              <a:t>(2025</a:t>
            </a:r>
            <a:r>
              <a:rPr dirty="0" sz="6050" spc="-90">
                <a:solidFill>
                  <a:srgbClr val="161616"/>
                </a:solidFill>
                <a:latin typeface="Arial Black"/>
                <a:cs typeface="Arial Black"/>
              </a:rPr>
              <a:t> </a:t>
            </a:r>
            <a:r>
              <a:rPr dirty="0" sz="6050" spc="-484">
                <a:solidFill>
                  <a:srgbClr val="181818"/>
                </a:solidFill>
                <a:latin typeface="Arial Black"/>
                <a:cs typeface="Arial Black"/>
              </a:rPr>
              <a:t>-</a:t>
            </a:r>
            <a:r>
              <a:rPr dirty="0" sz="6050" spc="520">
                <a:solidFill>
                  <a:srgbClr val="181818"/>
                </a:solidFill>
                <a:latin typeface="Arial Black"/>
                <a:cs typeface="Arial Black"/>
              </a:rPr>
              <a:t> </a:t>
            </a:r>
            <a:r>
              <a:rPr dirty="0" sz="6050" spc="-840">
                <a:solidFill>
                  <a:srgbClr val="161616"/>
                </a:solidFill>
                <a:latin typeface="Arial Black"/>
                <a:cs typeface="Arial Black"/>
              </a:rPr>
              <a:t>2050)</a:t>
            </a:r>
            <a:endParaRPr sz="6050">
              <a:latin typeface="Arial Black"/>
              <a:cs typeface="Arial Black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1480531" y="3734568"/>
            <a:ext cx="5257165" cy="3046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 marL="246379">
              <a:lnSpc>
                <a:spcPct val="100000"/>
              </a:lnSpc>
              <a:spcBef>
                <a:spcPts val="135"/>
              </a:spcBef>
            </a:pPr>
            <a:r>
              <a:rPr dirty="0" sz="2800">
                <a:solidFill>
                  <a:srgbClr val="3F4F70"/>
                </a:solidFill>
                <a:latin typeface="Arial MT"/>
                <a:cs typeface="Arial MT"/>
              </a:rPr>
              <a:t>Transformed</a:t>
            </a:r>
            <a:r>
              <a:rPr dirty="0" sz="2800" spc="355">
                <a:solidFill>
                  <a:srgbClr val="3F4F70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3D4D60"/>
                </a:solidFill>
                <a:latin typeface="Arial MT"/>
                <a:cs typeface="Arial MT"/>
              </a:rPr>
              <a:t>Roles</a:t>
            </a:r>
            <a:r>
              <a:rPr dirty="0" sz="2800" spc="280">
                <a:solidFill>
                  <a:srgbClr val="3D4D60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41546D"/>
                </a:solidFill>
                <a:latin typeface="Arial MT"/>
                <a:cs typeface="Arial MT"/>
              </a:rPr>
              <a:t>(45%)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2800">
              <a:latin typeface="Arial MT"/>
              <a:cs typeface="Arial MT"/>
            </a:endParaRPr>
          </a:p>
          <a:p>
            <a:pPr algn="ctr" marL="222250">
              <a:lnSpc>
                <a:spcPct val="100000"/>
              </a:lnSpc>
            </a:pPr>
            <a:r>
              <a:rPr dirty="0" sz="2950">
                <a:solidFill>
                  <a:srgbClr val="4D4D4D"/>
                </a:solidFill>
                <a:latin typeface="Arial MT"/>
                <a:cs typeface="Arial MT"/>
              </a:rPr>
              <a:t>Entirely</a:t>
            </a:r>
            <a:r>
              <a:rPr dirty="0" sz="2950" spc="-45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485264"/>
                </a:solidFill>
                <a:latin typeface="Arial MT"/>
                <a:cs typeface="Arial MT"/>
              </a:rPr>
              <a:t>New</a:t>
            </a:r>
            <a:r>
              <a:rPr dirty="0" sz="2950" spc="-145">
                <a:solidFill>
                  <a:srgbClr val="485264"/>
                </a:solidFill>
                <a:latin typeface="Arial MT"/>
                <a:cs typeface="Arial MT"/>
              </a:rPr>
              <a:t> </a:t>
            </a:r>
            <a:r>
              <a:rPr dirty="0" sz="2950" spc="-55">
                <a:solidFill>
                  <a:srgbClr val="384B62"/>
                </a:solidFill>
                <a:latin typeface="Arial MT"/>
                <a:cs typeface="Arial MT"/>
              </a:rPr>
              <a:t>Roles</a:t>
            </a:r>
            <a:r>
              <a:rPr dirty="0" sz="2950" spc="-40">
                <a:solidFill>
                  <a:srgbClr val="384B62"/>
                </a:solidFill>
                <a:latin typeface="Arial MT"/>
                <a:cs typeface="Arial MT"/>
              </a:rPr>
              <a:t> </a:t>
            </a:r>
            <a:r>
              <a:rPr dirty="0" sz="2950" spc="-10">
                <a:solidFill>
                  <a:srgbClr val="4B4B4B"/>
                </a:solidFill>
                <a:latin typeface="Arial MT"/>
                <a:cs typeface="Arial MT"/>
              </a:rPr>
              <a:t>(30%)</a:t>
            </a:r>
            <a:endParaRPr sz="2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95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tabLst>
                <a:tab pos="627380" algn="l"/>
              </a:tabLst>
            </a:pPr>
            <a:r>
              <a:rPr dirty="0" sz="2800" spc="-50">
                <a:solidFill>
                  <a:srgbClr val="F49E0A"/>
                </a:solidFill>
                <a:latin typeface="Arial MT"/>
                <a:cs typeface="Arial MT"/>
              </a:rPr>
              <a:t>@</a:t>
            </a:r>
            <a:r>
              <a:rPr dirty="0" sz="2800">
                <a:solidFill>
                  <a:srgbClr val="F49E0A"/>
                </a:solidFill>
                <a:latin typeface="Arial MT"/>
                <a:cs typeface="Arial MT"/>
              </a:rPr>
              <a:t>	</a:t>
            </a:r>
            <a:r>
              <a:rPr dirty="0" sz="2800" spc="75">
                <a:solidFill>
                  <a:srgbClr val="3D3D3D"/>
                </a:solidFill>
                <a:latin typeface="Arial MT"/>
                <a:cs typeface="Arial MT"/>
              </a:rPr>
              <a:t>Displaced/Automated</a:t>
            </a:r>
            <a:r>
              <a:rPr dirty="0" sz="2800" spc="315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dirty="0" sz="2800" spc="-60">
                <a:solidFill>
                  <a:srgbClr val="4B4B4B"/>
                </a:solidFill>
                <a:latin typeface="Arial MT"/>
                <a:cs typeface="Arial MT"/>
              </a:rPr>
              <a:t>(15%)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2800">
              <a:latin typeface="Arial MT"/>
              <a:cs typeface="Arial MT"/>
            </a:endParaRPr>
          </a:p>
          <a:p>
            <a:pPr algn="ctr" marR="38735">
              <a:lnSpc>
                <a:spcPct val="100000"/>
              </a:lnSpc>
            </a:pPr>
            <a:r>
              <a:rPr dirty="0" sz="2700" spc="100">
                <a:solidFill>
                  <a:srgbClr val="495D7B"/>
                </a:solidFill>
                <a:latin typeface="Arial MT"/>
                <a:cs typeface="Arial MT"/>
              </a:rPr>
              <a:t>Unchanged</a:t>
            </a:r>
            <a:r>
              <a:rPr dirty="0" sz="2700" spc="320">
                <a:solidFill>
                  <a:srgbClr val="495D7B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484848"/>
                </a:solidFill>
                <a:latin typeface="Arial MT"/>
                <a:cs typeface="Arial MT"/>
              </a:rPr>
              <a:t>Roles</a:t>
            </a:r>
            <a:r>
              <a:rPr dirty="0" sz="2700" spc="335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dirty="0" sz="2700" spc="-10">
                <a:solidFill>
                  <a:srgbClr val="494949"/>
                </a:solidFill>
                <a:latin typeface="Arial MT"/>
                <a:cs typeface="Arial MT"/>
              </a:rPr>
              <a:t>(10%)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726446" y="9283482"/>
            <a:ext cx="14679930" cy="10306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408679" marR="5080" indent="-3396615">
              <a:lnSpc>
                <a:spcPct val="122100"/>
              </a:lnSpc>
              <a:spcBef>
                <a:spcPts val="100"/>
              </a:spcBef>
              <a:tabLst>
                <a:tab pos="6837045" algn="l"/>
              </a:tabLst>
            </a:pPr>
            <a:r>
              <a:rPr dirty="0" sz="2700" spc="-10">
                <a:solidFill>
                  <a:srgbClr val="505050"/>
                </a:solidFill>
                <a:latin typeface="Arial MT"/>
                <a:cs typeface="Arial MT"/>
              </a:rPr>
              <a:t>By</a:t>
            </a:r>
            <a:r>
              <a:rPr dirty="0" sz="2700" spc="-85">
                <a:solidFill>
                  <a:srgbClr val="505050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464646"/>
                </a:solidFill>
                <a:latin typeface="Arial MT"/>
                <a:cs typeface="Arial MT"/>
              </a:rPr>
              <a:t>2050,</a:t>
            </a:r>
            <a:r>
              <a:rPr dirty="0" sz="2700" spc="-1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464646"/>
                </a:solidFill>
                <a:latin typeface="Arial MT"/>
                <a:cs typeface="Arial MT"/>
              </a:rPr>
              <a:t>an</a:t>
            </a:r>
            <a:r>
              <a:rPr dirty="0" sz="2700" spc="-55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444444"/>
                </a:solidFill>
                <a:latin typeface="Arial MT"/>
                <a:cs typeface="Arial MT"/>
              </a:rPr>
              <a:t>estimated</a:t>
            </a:r>
            <a:r>
              <a:rPr dirty="0" sz="2700" spc="4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700" spc="-175">
                <a:solidFill>
                  <a:srgbClr val="4F5667"/>
                </a:solidFill>
                <a:latin typeface="Arial MT"/>
                <a:cs typeface="Arial MT"/>
              </a:rPr>
              <a:t>75</a:t>
            </a:r>
            <a:r>
              <a:rPr dirty="0" sz="2700" spc="-430">
                <a:solidFill>
                  <a:srgbClr val="4F5667"/>
                </a:solidFill>
                <a:latin typeface="Arial MT"/>
                <a:cs typeface="Arial MT"/>
              </a:rPr>
              <a:t> </a:t>
            </a:r>
            <a:r>
              <a:rPr dirty="0" sz="2700" spc="-315">
                <a:solidFill>
                  <a:srgbClr val="5D6979"/>
                </a:solidFill>
                <a:latin typeface="Arial MT"/>
                <a:cs typeface="Arial MT"/>
              </a:rPr>
              <a:t>%</a:t>
            </a:r>
            <a:r>
              <a:rPr dirty="0" sz="2700" spc="130">
                <a:solidFill>
                  <a:srgbClr val="5D6979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505050"/>
                </a:solidFill>
                <a:latin typeface="Arial MT"/>
                <a:cs typeface="Arial MT"/>
              </a:rPr>
              <a:t>of</a:t>
            </a:r>
            <a:r>
              <a:rPr dirty="0" sz="2700" spc="-25">
                <a:solidFill>
                  <a:srgbClr val="505050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525252"/>
                </a:solidFill>
                <a:latin typeface="Arial MT"/>
                <a:cs typeface="Arial MT"/>
              </a:rPr>
              <a:t>the</a:t>
            </a:r>
            <a:r>
              <a:rPr dirty="0" sz="2700" spc="6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2700" spc="-10">
                <a:solidFill>
                  <a:srgbClr val="464646"/>
                </a:solidFill>
                <a:latin typeface="Arial MT"/>
                <a:cs typeface="Arial MT"/>
              </a:rPr>
              <a:t>workforce</a:t>
            </a:r>
            <a:r>
              <a:rPr dirty="0" sz="2700">
                <a:solidFill>
                  <a:srgbClr val="464646"/>
                </a:solidFill>
                <a:latin typeface="Arial MT"/>
                <a:cs typeface="Arial MT"/>
              </a:rPr>
              <a:t>	</a:t>
            </a:r>
            <a:r>
              <a:rPr dirty="0" sz="2700">
                <a:solidFill>
                  <a:srgbClr val="49576B"/>
                </a:solidFill>
                <a:latin typeface="Arial MT"/>
                <a:cs typeface="Arial MT"/>
              </a:rPr>
              <a:t>will</a:t>
            </a:r>
            <a:r>
              <a:rPr dirty="0" sz="2700" spc="-95">
                <a:solidFill>
                  <a:srgbClr val="49576B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4F4F4F"/>
                </a:solidFill>
                <a:latin typeface="Arial MT"/>
                <a:cs typeface="Arial MT"/>
              </a:rPr>
              <a:t>be</a:t>
            </a:r>
            <a:r>
              <a:rPr dirty="0" sz="2700" spc="-35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2700" spc="-40">
                <a:solidFill>
                  <a:srgbClr val="414141"/>
                </a:solidFill>
                <a:latin typeface="Arial MT"/>
                <a:cs typeface="Arial MT"/>
              </a:rPr>
              <a:t>engaged</a:t>
            </a:r>
            <a:r>
              <a:rPr dirty="0" sz="2700" spc="35">
                <a:solidFill>
                  <a:srgbClr val="414141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545454"/>
                </a:solidFill>
                <a:latin typeface="Arial MT"/>
                <a:cs typeface="Arial MT"/>
              </a:rPr>
              <a:t>in</a:t>
            </a:r>
            <a:r>
              <a:rPr dirty="0" sz="2700" spc="-35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3F3F3F"/>
                </a:solidFill>
                <a:latin typeface="Arial MT"/>
                <a:cs typeface="Arial MT"/>
              </a:rPr>
              <a:t>jobs</a:t>
            </a:r>
            <a:r>
              <a:rPr dirty="0" sz="2700" spc="-2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596074"/>
                </a:solidFill>
                <a:latin typeface="Arial MT"/>
                <a:cs typeface="Arial MT"/>
              </a:rPr>
              <a:t>that</a:t>
            </a:r>
            <a:r>
              <a:rPr dirty="0" sz="2700" spc="10">
                <a:solidFill>
                  <a:srgbClr val="596074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525252"/>
                </a:solidFill>
                <a:latin typeface="Arial MT"/>
                <a:cs typeface="Arial MT"/>
              </a:rPr>
              <a:t>are </a:t>
            </a:r>
            <a:r>
              <a:rPr dirty="0" sz="2700">
                <a:solidFill>
                  <a:srgbClr val="505050"/>
                </a:solidFill>
                <a:latin typeface="Arial MT"/>
                <a:cs typeface="Arial MT"/>
              </a:rPr>
              <a:t>either</a:t>
            </a:r>
            <a:r>
              <a:rPr dirty="0" sz="2700" spc="85">
                <a:solidFill>
                  <a:srgbClr val="505050"/>
                </a:solidFill>
                <a:latin typeface="Arial MT"/>
                <a:cs typeface="Arial MT"/>
              </a:rPr>
              <a:t> </a:t>
            </a:r>
            <a:r>
              <a:rPr dirty="0" sz="2700" spc="-30">
                <a:solidFill>
                  <a:srgbClr val="4B4B4B"/>
                </a:solidFill>
                <a:latin typeface="Arial MT"/>
                <a:cs typeface="Arial MT"/>
              </a:rPr>
              <a:t>fundamentally </a:t>
            </a:r>
            <a:r>
              <a:rPr dirty="0" sz="2700">
                <a:solidFill>
                  <a:srgbClr val="494949"/>
                </a:solidFill>
                <a:latin typeface="Arial MT"/>
                <a:cs typeface="Arial MT"/>
              </a:rPr>
              <a:t>transformed</a:t>
            </a:r>
            <a:r>
              <a:rPr dirty="0" sz="2700" spc="11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4B4B4B"/>
                </a:solidFill>
                <a:latin typeface="Arial MT"/>
                <a:cs typeface="Arial MT"/>
              </a:rPr>
              <a:t>by</a:t>
            </a:r>
            <a:r>
              <a:rPr dirty="0" sz="2700" spc="-65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464646"/>
                </a:solidFill>
                <a:latin typeface="Arial MT"/>
                <a:cs typeface="Arial MT"/>
              </a:rPr>
              <a:t>technology</a:t>
            </a:r>
            <a:r>
              <a:rPr dirty="0" sz="2700" spc="95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484848"/>
                </a:solidFill>
                <a:latin typeface="Arial MT"/>
                <a:cs typeface="Arial MT"/>
              </a:rPr>
              <a:t>or</a:t>
            </a:r>
            <a:r>
              <a:rPr dirty="0" sz="2700" spc="45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505050"/>
                </a:solidFill>
                <a:latin typeface="Arial MT"/>
                <a:cs typeface="Arial MT"/>
              </a:rPr>
              <a:t>do</a:t>
            </a:r>
            <a:r>
              <a:rPr dirty="0" sz="2700" spc="-80">
                <a:solidFill>
                  <a:srgbClr val="505050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464646"/>
                </a:solidFill>
                <a:latin typeface="Arial MT"/>
                <a:cs typeface="Arial MT"/>
              </a:rPr>
              <a:t>not</a:t>
            </a:r>
            <a:r>
              <a:rPr dirty="0" sz="2700" spc="65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464646"/>
                </a:solidFill>
                <a:latin typeface="Arial MT"/>
                <a:cs typeface="Arial MT"/>
              </a:rPr>
              <a:t>yet</a:t>
            </a:r>
            <a:r>
              <a:rPr dirty="0" sz="2700" spc="1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484848"/>
                </a:solidFill>
                <a:latin typeface="Arial MT"/>
                <a:cs typeface="Arial MT"/>
              </a:rPr>
              <a:t>exist</a:t>
            </a:r>
            <a:r>
              <a:rPr dirty="0" sz="2700" spc="40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dirty="0" sz="2700" spc="-10">
                <a:solidFill>
                  <a:srgbClr val="484848"/>
                </a:solidFill>
                <a:latin typeface="Arial MT"/>
                <a:cs typeface="Arial MT"/>
              </a:rPr>
              <a:t>today.</a:t>
            </a:r>
            <a:endParaRPr sz="2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09670" y="3910875"/>
            <a:ext cx="1884759" cy="94237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706" y="0"/>
            <a:ext cx="20088393" cy="10994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223999" y="4552605"/>
            <a:ext cx="15569565" cy="1596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300" spc="-229">
                <a:solidFill>
                  <a:srgbClr val="1A1A1A"/>
                </a:solidFill>
                <a:latin typeface="Arial MT"/>
                <a:cs typeface="Arial MT"/>
              </a:rPr>
              <a:t>Emerging</a:t>
            </a:r>
            <a:r>
              <a:rPr dirty="0" sz="10300" spc="-1005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300" spc="-70">
                <a:solidFill>
                  <a:srgbClr val="181818"/>
                </a:solidFill>
                <a:latin typeface="Arial MT"/>
                <a:cs typeface="Arial MT"/>
              </a:rPr>
              <a:t>Industries</a:t>
            </a:r>
            <a:r>
              <a:rPr dirty="0" sz="10300" spc="-585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dirty="0" sz="10300" spc="409">
                <a:solidFill>
                  <a:srgbClr val="1A1A1A"/>
                </a:solidFill>
                <a:latin typeface="Arial MT"/>
                <a:cs typeface="Arial MT"/>
              </a:rPr>
              <a:t>&amp;</a:t>
            </a:r>
            <a:r>
              <a:rPr dirty="0" sz="10300" spc="-168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dirty="0" sz="10300" spc="-590">
                <a:solidFill>
                  <a:srgbClr val="181818"/>
                </a:solidFill>
                <a:latin typeface="Arial MT"/>
                <a:cs typeface="Arial MT"/>
              </a:rPr>
              <a:t>Roles</a:t>
            </a:r>
            <a:endParaRPr sz="103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subTitle" idx="4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437515" marR="5080" indent="-425450">
              <a:lnSpc>
                <a:spcPct val="125499"/>
              </a:lnSpc>
              <a:spcBef>
                <a:spcPts val="90"/>
              </a:spcBef>
            </a:pPr>
            <a:r>
              <a:rPr dirty="0" sz="3450" spc="-395">
                <a:solidFill>
                  <a:srgbClr val="606E85"/>
                </a:solidFill>
              </a:rPr>
              <a:t>A</a:t>
            </a:r>
            <a:r>
              <a:rPr dirty="0" sz="3450" spc="135">
                <a:solidFill>
                  <a:srgbClr val="606E85"/>
                </a:solidFill>
              </a:rPr>
              <a:t> </a:t>
            </a:r>
            <a:r>
              <a:rPr dirty="0" sz="3450">
                <a:solidFill>
                  <a:srgbClr val="697989"/>
                </a:solidFill>
              </a:rPr>
              <a:t>deep</a:t>
            </a:r>
            <a:r>
              <a:rPr dirty="0" sz="3450" spc="-45">
                <a:solidFill>
                  <a:srgbClr val="697989"/>
                </a:solidFill>
              </a:rPr>
              <a:t> </a:t>
            </a:r>
            <a:r>
              <a:rPr dirty="0" sz="3450">
                <a:solidFill>
                  <a:srgbClr val="607285"/>
                </a:solidFill>
              </a:rPr>
              <a:t>dive</a:t>
            </a:r>
            <a:r>
              <a:rPr dirty="0" sz="3450" spc="-45">
                <a:solidFill>
                  <a:srgbClr val="607285"/>
                </a:solidFill>
              </a:rPr>
              <a:t> </a:t>
            </a:r>
            <a:r>
              <a:rPr dirty="0" sz="3450">
                <a:solidFill>
                  <a:srgbClr val="69758A"/>
                </a:solidFill>
              </a:rPr>
              <a:t>into</a:t>
            </a:r>
            <a:r>
              <a:rPr dirty="0" sz="3450" spc="45">
                <a:solidFill>
                  <a:srgbClr val="69758A"/>
                </a:solidFill>
              </a:rPr>
              <a:t> </a:t>
            </a:r>
            <a:r>
              <a:rPr dirty="0" sz="3450">
                <a:solidFill>
                  <a:srgbClr val="696B7C"/>
                </a:solidFill>
              </a:rPr>
              <a:t>the</a:t>
            </a:r>
            <a:r>
              <a:rPr dirty="0" sz="3450" spc="-30">
                <a:solidFill>
                  <a:srgbClr val="696B7C"/>
                </a:solidFill>
              </a:rPr>
              <a:t> </a:t>
            </a:r>
            <a:r>
              <a:rPr dirty="0" sz="3450">
                <a:solidFill>
                  <a:srgbClr val="647487"/>
                </a:solidFill>
              </a:rPr>
              <a:t>high-growth</a:t>
            </a:r>
            <a:r>
              <a:rPr dirty="0" sz="3450" spc="185">
                <a:solidFill>
                  <a:srgbClr val="647487"/>
                </a:solidFill>
              </a:rPr>
              <a:t> </a:t>
            </a:r>
            <a:r>
              <a:rPr dirty="0" sz="3450">
                <a:solidFill>
                  <a:srgbClr val="647083"/>
                </a:solidFill>
              </a:rPr>
              <a:t>sectors</a:t>
            </a:r>
            <a:r>
              <a:rPr dirty="0" sz="3450" spc="140">
                <a:solidFill>
                  <a:srgbClr val="647083"/>
                </a:solidFill>
              </a:rPr>
              <a:t> </a:t>
            </a:r>
            <a:r>
              <a:rPr dirty="0" sz="3450">
                <a:solidFill>
                  <a:srgbClr val="697789"/>
                </a:solidFill>
              </a:rPr>
              <a:t>poised</a:t>
            </a:r>
            <a:r>
              <a:rPr dirty="0" sz="3450" spc="20">
                <a:solidFill>
                  <a:srgbClr val="697789"/>
                </a:solidFill>
              </a:rPr>
              <a:t> </a:t>
            </a:r>
            <a:r>
              <a:rPr dirty="0" sz="3450">
                <a:solidFill>
                  <a:srgbClr val="727E8C"/>
                </a:solidFill>
              </a:rPr>
              <a:t>to</a:t>
            </a:r>
            <a:r>
              <a:rPr dirty="0" sz="3450" spc="40">
                <a:solidFill>
                  <a:srgbClr val="727E8C"/>
                </a:solidFill>
              </a:rPr>
              <a:t> </a:t>
            </a:r>
            <a:r>
              <a:rPr dirty="0" sz="3450">
                <a:solidFill>
                  <a:srgbClr val="647483"/>
                </a:solidFill>
              </a:rPr>
              <a:t>dominate</a:t>
            </a:r>
            <a:r>
              <a:rPr dirty="0" sz="3450" spc="90">
                <a:solidFill>
                  <a:srgbClr val="647483"/>
                </a:solidFill>
              </a:rPr>
              <a:t> </a:t>
            </a:r>
            <a:r>
              <a:rPr dirty="0" sz="3450" spc="-25">
                <a:solidFill>
                  <a:srgbClr val="666E79"/>
                </a:solidFill>
              </a:rPr>
              <a:t>the </a:t>
            </a:r>
            <a:r>
              <a:rPr dirty="0" sz="3450">
                <a:solidFill>
                  <a:srgbClr val="626E7C"/>
                </a:solidFill>
              </a:rPr>
              <a:t>global</a:t>
            </a:r>
            <a:r>
              <a:rPr dirty="0" sz="3450" spc="-120">
                <a:solidFill>
                  <a:srgbClr val="626E7C"/>
                </a:solidFill>
              </a:rPr>
              <a:t> </a:t>
            </a:r>
            <a:r>
              <a:rPr dirty="0" sz="3450">
                <a:solidFill>
                  <a:srgbClr val="7B828C"/>
                </a:solidFill>
              </a:rPr>
              <a:t>economy</a:t>
            </a:r>
            <a:r>
              <a:rPr dirty="0" sz="3450" spc="90">
                <a:solidFill>
                  <a:srgbClr val="7B828C"/>
                </a:solidFill>
              </a:rPr>
              <a:t> </a:t>
            </a:r>
            <a:r>
              <a:rPr dirty="0" sz="3450">
                <a:solidFill>
                  <a:srgbClr val="696E7E"/>
                </a:solidFill>
              </a:rPr>
              <a:t>and</a:t>
            </a:r>
            <a:r>
              <a:rPr dirty="0" sz="3450" spc="-225">
                <a:solidFill>
                  <a:srgbClr val="696E7E"/>
                </a:solidFill>
              </a:rPr>
              <a:t> </a:t>
            </a:r>
            <a:r>
              <a:rPr dirty="0" sz="3450">
                <a:solidFill>
                  <a:srgbClr val="6B7580"/>
                </a:solidFill>
              </a:rPr>
              <a:t>the</a:t>
            </a:r>
            <a:r>
              <a:rPr dirty="0" sz="3450" spc="-155">
                <a:solidFill>
                  <a:srgbClr val="6B7580"/>
                </a:solidFill>
              </a:rPr>
              <a:t> </a:t>
            </a:r>
            <a:r>
              <a:rPr dirty="0" sz="3450">
                <a:solidFill>
                  <a:srgbClr val="626262"/>
                </a:solidFill>
              </a:rPr>
              <a:t>specialized</a:t>
            </a:r>
            <a:r>
              <a:rPr dirty="0" sz="3450" spc="-90">
                <a:solidFill>
                  <a:srgbClr val="626262"/>
                </a:solidFill>
              </a:rPr>
              <a:t> </a:t>
            </a:r>
            <a:r>
              <a:rPr dirty="0" sz="3450">
                <a:solidFill>
                  <a:srgbClr val="64707C"/>
                </a:solidFill>
              </a:rPr>
              <a:t>talent</a:t>
            </a:r>
            <a:r>
              <a:rPr dirty="0" sz="3450" spc="-25">
                <a:solidFill>
                  <a:srgbClr val="64707C"/>
                </a:solidFill>
              </a:rPr>
              <a:t> </a:t>
            </a:r>
            <a:r>
              <a:rPr dirty="0" sz="3450">
                <a:solidFill>
                  <a:srgbClr val="64727B"/>
                </a:solidFill>
              </a:rPr>
              <a:t>they</a:t>
            </a:r>
            <a:r>
              <a:rPr dirty="0" sz="3450" spc="55">
                <a:solidFill>
                  <a:srgbClr val="64727B"/>
                </a:solidFill>
              </a:rPr>
              <a:t> </a:t>
            </a:r>
            <a:r>
              <a:rPr dirty="0" sz="3450">
                <a:solidFill>
                  <a:srgbClr val="666E79"/>
                </a:solidFill>
              </a:rPr>
              <a:t>will</a:t>
            </a:r>
            <a:r>
              <a:rPr dirty="0" sz="3450" spc="-185">
                <a:solidFill>
                  <a:srgbClr val="666E79"/>
                </a:solidFill>
              </a:rPr>
              <a:t> </a:t>
            </a:r>
            <a:r>
              <a:rPr dirty="0" sz="3450" spc="-10">
                <a:solidFill>
                  <a:srgbClr val="64728C"/>
                </a:solidFill>
              </a:rPr>
              <a:t>demand.</a:t>
            </a:r>
            <a:endParaRPr sz="34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2379" y="3109853"/>
            <a:ext cx="5764222" cy="3769518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77792" y="3109853"/>
            <a:ext cx="5748516" cy="3769518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428910" y="3109853"/>
            <a:ext cx="5567893" cy="3769518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706" y="0"/>
            <a:ext cx="20088393" cy="10994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65576" rIns="0" bIns="0" rtlCol="0" vert="horz">
            <a:spAutoFit/>
          </a:bodyPr>
          <a:lstStyle/>
          <a:p>
            <a:pPr marL="45720">
              <a:lnSpc>
                <a:spcPct val="100000"/>
              </a:lnSpc>
              <a:spcBef>
                <a:spcPts val="130"/>
              </a:spcBef>
            </a:pPr>
            <a:r>
              <a:rPr dirty="0" sz="6150" spc="-1185">
                <a:solidFill>
                  <a:srgbClr val="181818"/>
                </a:solidFill>
                <a:latin typeface="Arial Black"/>
                <a:cs typeface="Arial Black"/>
              </a:rPr>
              <a:t>The</a:t>
            </a:r>
            <a:r>
              <a:rPr dirty="0" sz="6150" spc="-685">
                <a:solidFill>
                  <a:srgbClr val="181818"/>
                </a:solidFill>
                <a:latin typeface="Arial Black"/>
                <a:cs typeface="Arial Black"/>
              </a:rPr>
              <a:t> </a:t>
            </a:r>
            <a:r>
              <a:rPr dirty="0" sz="6150" spc="-660">
                <a:solidFill>
                  <a:srgbClr val="161616"/>
                </a:solidFill>
                <a:latin typeface="Arial Black"/>
                <a:cs typeface="Arial Black"/>
              </a:rPr>
              <a:t>Trillion-</a:t>
            </a:r>
            <a:r>
              <a:rPr dirty="0" sz="6150" spc="-765">
                <a:solidFill>
                  <a:srgbClr val="161616"/>
                </a:solidFill>
                <a:latin typeface="Arial Black"/>
                <a:cs typeface="Arial Black"/>
              </a:rPr>
              <a:t>Dollar</a:t>
            </a:r>
            <a:r>
              <a:rPr dirty="0" sz="6150" spc="-944">
                <a:solidFill>
                  <a:srgbClr val="161616"/>
                </a:solidFill>
                <a:latin typeface="Arial Black"/>
                <a:cs typeface="Arial Black"/>
              </a:rPr>
              <a:t> </a:t>
            </a:r>
            <a:r>
              <a:rPr dirty="0" sz="6150" spc="-1095">
                <a:solidFill>
                  <a:srgbClr val="161616"/>
                </a:solidFill>
                <a:latin typeface="Arial Black"/>
                <a:cs typeface="Arial Black"/>
              </a:rPr>
              <a:t>Green</a:t>
            </a:r>
            <a:r>
              <a:rPr dirty="0" sz="6150" spc="-345">
                <a:solidFill>
                  <a:srgbClr val="161616"/>
                </a:solidFill>
                <a:latin typeface="Arial Black"/>
                <a:cs typeface="Arial Black"/>
              </a:rPr>
              <a:t> </a:t>
            </a:r>
            <a:r>
              <a:rPr dirty="0" sz="6150" spc="-1115">
                <a:solidFill>
                  <a:srgbClr val="181818"/>
                </a:solidFill>
                <a:latin typeface="Arial Black"/>
                <a:cs typeface="Arial Black"/>
              </a:rPr>
              <a:t>Economy</a:t>
            </a:r>
            <a:endParaRPr sz="6150">
              <a:latin typeface="Arial Black"/>
              <a:cs typeface="Arial Black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24944" y="7252785"/>
            <a:ext cx="5497830" cy="226314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800" spc="225">
                <a:solidFill>
                  <a:srgbClr val="212121"/>
                </a:solidFill>
                <a:latin typeface="Arial MT"/>
                <a:cs typeface="Arial MT"/>
              </a:rPr>
              <a:t>Urban</a:t>
            </a:r>
            <a:r>
              <a:rPr dirty="0" sz="2800" spc="5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dirty="0" sz="2800" spc="215">
                <a:solidFill>
                  <a:srgbClr val="1A1A1A"/>
                </a:solidFill>
                <a:latin typeface="Arial MT"/>
                <a:cs typeface="Arial MT"/>
              </a:rPr>
              <a:t>Agriculturists</a:t>
            </a:r>
            <a:endParaRPr sz="2800">
              <a:latin typeface="Arial MT"/>
              <a:cs typeface="Arial MT"/>
            </a:endParaRPr>
          </a:p>
          <a:p>
            <a:pPr marL="14604" marR="5080" indent="5715">
              <a:lnSpc>
                <a:spcPct val="120200"/>
              </a:lnSpc>
              <a:spcBef>
                <a:spcPts val="1530"/>
              </a:spcBef>
            </a:pPr>
            <a:r>
              <a:rPr dirty="0" sz="2200" spc="-65">
                <a:solidFill>
                  <a:srgbClr val="484848"/>
                </a:solidFill>
                <a:latin typeface="Arial MT"/>
                <a:cs typeface="Arial MT"/>
              </a:rPr>
              <a:t>Specialists</a:t>
            </a:r>
            <a:r>
              <a:rPr dirty="0" sz="2200" spc="35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dirty="0" sz="2200" spc="-80">
                <a:solidFill>
                  <a:srgbClr val="494949"/>
                </a:solidFill>
                <a:latin typeface="Arial MT"/>
                <a:cs typeface="Arial MT"/>
              </a:rPr>
              <a:t>managing</a:t>
            </a:r>
            <a:r>
              <a:rPr dirty="0" sz="2200" spc="5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200" spc="-30">
                <a:solidFill>
                  <a:srgbClr val="484848"/>
                </a:solidFill>
                <a:latin typeface="Arial MT"/>
                <a:cs typeface="Arial MT"/>
              </a:rPr>
              <a:t>vertical</a:t>
            </a:r>
            <a:r>
              <a:rPr dirty="0" sz="2200" spc="-50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444444"/>
                </a:solidFill>
                <a:latin typeface="Arial MT"/>
                <a:cs typeface="Arial MT"/>
              </a:rPr>
              <a:t>farming, </a:t>
            </a:r>
            <a:r>
              <a:rPr dirty="0" sz="2200" spc="-45">
                <a:solidFill>
                  <a:srgbClr val="464646"/>
                </a:solidFill>
                <a:latin typeface="Arial MT"/>
                <a:cs typeface="Arial MT"/>
              </a:rPr>
              <a:t>integrating</a:t>
            </a:r>
            <a:r>
              <a:rPr dirty="0" sz="2200" spc="1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7B95AC"/>
                </a:solidFill>
                <a:latin typeface="Arial MT"/>
                <a:cs typeface="Arial MT"/>
              </a:rPr>
              <a:t>food</a:t>
            </a:r>
            <a:r>
              <a:rPr dirty="0" sz="2200" spc="-35">
                <a:solidFill>
                  <a:srgbClr val="7B95AC"/>
                </a:solidFill>
                <a:latin typeface="Arial MT"/>
                <a:cs typeface="Arial MT"/>
              </a:rPr>
              <a:t> </a:t>
            </a:r>
            <a:r>
              <a:rPr dirty="0" sz="2200" spc="-25">
                <a:solidFill>
                  <a:srgbClr val="505050"/>
                </a:solidFill>
                <a:latin typeface="Arial MT"/>
                <a:cs typeface="Arial MT"/>
              </a:rPr>
              <a:t>production</a:t>
            </a:r>
            <a:r>
              <a:rPr dirty="0" sz="2200" spc="50">
                <a:solidFill>
                  <a:srgbClr val="505050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4B4B4B"/>
                </a:solidFill>
                <a:latin typeface="Arial MT"/>
                <a:cs typeface="Arial MT"/>
              </a:rPr>
              <a:t>directly</a:t>
            </a:r>
            <a:r>
              <a:rPr dirty="0" sz="2200" spc="2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4D4D4D"/>
                </a:solidFill>
                <a:latin typeface="Arial MT"/>
                <a:cs typeface="Arial MT"/>
              </a:rPr>
              <a:t>into</a:t>
            </a:r>
            <a:r>
              <a:rPr dirty="0" sz="2200" spc="5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200" spc="-55">
                <a:solidFill>
                  <a:srgbClr val="3F5667"/>
                </a:solidFill>
                <a:latin typeface="Arial MT"/>
                <a:cs typeface="Arial MT"/>
              </a:rPr>
              <a:t>smart </a:t>
            </a:r>
            <a:r>
              <a:rPr dirty="0" sz="2200">
                <a:solidFill>
                  <a:srgbClr val="494949"/>
                </a:solidFill>
                <a:latin typeface="Arial MT"/>
                <a:cs typeface="Arial MT"/>
              </a:rPr>
              <a:t>city</a:t>
            </a:r>
            <a:r>
              <a:rPr dirty="0" sz="2200" spc="-2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200" spc="-70">
                <a:solidFill>
                  <a:srgbClr val="464646"/>
                </a:solidFill>
                <a:latin typeface="Arial MT"/>
                <a:cs typeface="Arial MT"/>
              </a:rPr>
              <a:t>ecosystems</a:t>
            </a:r>
            <a:r>
              <a:rPr dirty="0" sz="2200" spc="45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5B758E"/>
                </a:solidFill>
                <a:latin typeface="Arial MT"/>
                <a:cs typeface="Arial MT"/>
              </a:rPr>
              <a:t>to</a:t>
            </a:r>
            <a:r>
              <a:rPr dirty="0" sz="2200" spc="-50">
                <a:solidFill>
                  <a:srgbClr val="5B758E"/>
                </a:solidFill>
                <a:latin typeface="Arial MT"/>
                <a:cs typeface="Arial MT"/>
              </a:rPr>
              <a:t> </a:t>
            </a:r>
            <a:r>
              <a:rPr dirty="0" sz="2200" spc="-90">
                <a:solidFill>
                  <a:srgbClr val="728595"/>
                </a:solidFill>
                <a:latin typeface="Arial MT"/>
                <a:cs typeface="Arial MT"/>
              </a:rPr>
              <a:t>ensure</a:t>
            </a:r>
            <a:r>
              <a:rPr dirty="0" sz="2200" spc="-15">
                <a:solidFill>
                  <a:srgbClr val="728595"/>
                </a:solidFill>
                <a:latin typeface="Arial MT"/>
                <a:cs typeface="Arial MT"/>
              </a:rPr>
              <a:t> </a:t>
            </a:r>
            <a:r>
              <a:rPr dirty="0" sz="2200" spc="-25">
                <a:solidFill>
                  <a:srgbClr val="494949"/>
                </a:solidFill>
                <a:latin typeface="Arial MT"/>
                <a:cs typeface="Arial MT"/>
              </a:rPr>
              <a:t>localized</a:t>
            </a:r>
            <a:r>
              <a:rPr dirty="0" sz="2200" spc="35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200" spc="-20">
                <a:solidFill>
                  <a:srgbClr val="758EAF"/>
                </a:solidFill>
                <a:latin typeface="Arial MT"/>
                <a:cs typeface="Arial MT"/>
              </a:rPr>
              <a:t>food </a:t>
            </a:r>
            <a:r>
              <a:rPr dirty="0" sz="2200" spc="-10">
                <a:solidFill>
                  <a:srgbClr val="525252"/>
                </a:solidFill>
                <a:latin typeface="Arial MT"/>
                <a:cs typeface="Arial MT"/>
              </a:rPr>
              <a:t>security.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7153574" y="7203702"/>
            <a:ext cx="5292090" cy="23120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200" spc="-355">
                <a:solidFill>
                  <a:srgbClr val="232323"/>
                </a:solidFill>
                <a:latin typeface="Arial Black"/>
                <a:cs typeface="Arial Black"/>
              </a:rPr>
              <a:t>Climate</a:t>
            </a:r>
            <a:r>
              <a:rPr dirty="0" sz="3200" spc="-85">
                <a:solidFill>
                  <a:srgbClr val="232323"/>
                </a:solidFill>
                <a:latin typeface="Arial Black"/>
                <a:cs typeface="Arial Black"/>
              </a:rPr>
              <a:t> </a:t>
            </a:r>
            <a:r>
              <a:rPr dirty="0" sz="3200" spc="-445">
                <a:solidFill>
                  <a:srgbClr val="181818"/>
                </a:solidFill>
                <a:latin typeface="Arial Black"/>
                <a:cs typeface="Arial Black"/>
              </a:rPr>
              <a:t>Engineers</a:t>
            </a:r>
            <a:endParaRPr sz="3200">
              <a:latin typeface="Arial Black"/>
              <a:cs typeface="Arial Black"/>
            </a:endParaRPr>
          </a:p>
          <a:p>
            <a:pPr marL="20955" marR="5080" indent="-2540">
              <a:lnSpc>
                <a:spcPct val="120200"/>
              </a:lnSpc>
              <a:spcBef>
                <a:spcPts val="1450"/>
              </a:spcBef>
              <a:tabLst>
                <a:tab pos="1559560" algn="l"/>
              </a:tabLst>
            </a:pPr>
            <a:r>
              <a:rPr dirty="0" sz="2200" spc="-65">
                <a:solidFill>
                  <a:srgbClr val="424242"/>
                </a:solidFill>
                <a:latin typeface="Arial MT"/>
                <a:cs typeface="Arial MT"/>
              </a:rPr>
              <a:t>Scientists</a:t>
            </a:r>
            <a:r>
              <a:rPr dirty="0" sz="2200" spc="-4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2200" spc="-90">
                <a:solidFill>
                  <a:srgbClr val="565656"/>
                </a:solidFill>
                <a:latin typeface="Arial MT"/>
                <a:cs typeface="Arial MT"/>
              </a:rPr>
              <a:t>and</a:t>
            </a:r>
            <a:r>
              <a:rPr dirty="0" sz="2200" spc="-60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dirty="0" sz="2200" spc="-60">
                <a:solidFill>
                  <a:srgbClr val="484848"/>
                </a:solidFill>
                <a:latin typeface="Arial MT"/>
                <a:cs typeface="Arial MT"/>
              </a:rPr>
              <a:t>technicians</a:t>
            </a:r>
            <a:r>
              <a:rPr dirty="0" sz="2200" spc="65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dirty="0" sz="2200" spc="-45">
                <a:solidFill>
                  <a:srgbClr val="424242"/>
                </a:solidFill>
                <a:latin typeface="Arial MT"/>
                <a:cs typeface="Arial MT"/>
              </a:rPr>
              <a:t>operating</a:t>
            </a:r>
            <a:r>
              <a:rPr dirty="0" sz="2200" spc="8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2200" spc="-80">
                <a:solidFill>
                  <a:srgbClr val="464646"/>
                </a:solidFill>
                <a:latin typeface="Arial MT"/>
                <a:cs typeface="Arial MT"/>
              </a:rPr>
              <a:t>massive </a:t>
            </a:r>
            <a:r>
              <a:rPr dirty="0" sz="2200" spc="-10">
                <a:solidFill>
                  <a:srgbClr val="494949"/>
                </a:solidFill>
                <a:latin typeface="Arial MT"/>
                <a:cs typeface="Arial MT"/>
              </a:rPr>
              <a:t>atmospheric</a:t>
            </a:r>
            <a:r>
              <a:rPr dirty="0" sz="2200">
                <a:solidFill>
                  <a:srgbClr val="494949"/>
                </a:solidFill>
                <a:latin typeface="Arial MT"/>
                <a:cs typeface="Arial MT"/>
              </a:rPr>
              <a:t>	</a:t>
            </a:r>
            <a:r>
              <a:rPr dirty="0" sz="2200" spc="-25">
                <a:solidFill>
                  <a:srgbClr val="525252"/>
                </a:solidFill>
                <a:latin typeface="Arial MT"/>
                <a:cs typeface="Arial MT"/>
              </a:rPr>
              <a:t>carbon</a:t>
            </a:r>
            <a:r>
              <a:rPr dirty="0" sz="2200" spc="-9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2200" spc="-45">
                <a:solidFill>
                  <a:srgbClr val="808E99"/>
                </a:solidFill>
                <a:latin typeface="Arial MT"/>
                <a:cs typeface="Arial MT"/>
              </a:rPr>
              <a:t>capture</a:t>
            </a:r>
            <a:r>
              <a:rPr dirty="0" sz="2200" spc="-35">
                <a:solidFill>
                  <a:srgbClr val="808E99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484848"/>
                </a:solidFill>
                <a:latin typeface="Arial MT"/>
                <a:cs typeface="Arial MT"/>
              </a:rPr>
              <a:t>grids</a:t>
            </a:r>
            <a:r>
              <a:rPr dirty="0" sz="2200" spc="-85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dirty="0" sz="2200" spc="-25">
                <a:solidFill>
                  <a:srgbClr val="444444"/>
                </a:solidFill>
                <a:latin typeface="Arial MT"/>
                <a:cs typeface="Arial MT"/>
              </a:rPr>
              <a:t>and </a:t>
            </a:r>
            <a:r>
              <a:rPr dirty="0" sz="2200" spc="-80">
                <a:solidFill>
                  <a:srgbClr val="4F4F4F"/>
                </a:solidFill>
                <a:latin typeface="Arial MT"/>
                <a:cs typeface="Arial MT"/>
              </a:rPr>
              <a:t>managing</a:t>
            </a:r>
            <a:r>
              <a:rPr dirty="0" sz="2200" spc="45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2200" spc="-25">
                <a:solidFill>
                  <a:srgbClr val="4B4B4B"/>
                </a:solidFill>
                <a:latin typeface="Arial MT"/>
                <a:cs typeface="Arial MT"/>
              </a:rPr>
              <a:t>localized</a:t>
            </a:r>
            <a:r>
              <a:rPr dirty="0" sz="2200" spc="45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200" spc="-75">
                <a:solidFill>
                  <a:srgbClr val="4F5672"/>
                </a:solidFill>
                <a:latin typeface="Arial MT"/>
                <a:cs typeface="Arial MT"/>
              </a:rPr>
              <a:t>weather</a:t>
            </a:r>
            <a:r>
              <a:rPr dirty="0" sz="2200" spc="15">
                <a:solidFill>
                  <a:srgbClr val="4F5672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484848"/>
                </a:solidFill>
                <a:latin typeface="Arial MT"/>
                <a:cs typeface="Arial MT"/>
              </a:rPr>
              <a:t>modification </a:t>
            </a:r>
            <a:r>
              <a:rPr dirty="0" sz="2200" spc="-10">
                <a:solidFill>
                  <a:srgbClr val="3B3B3B"/>
                </a:solidFill>
                <a:latin typeface="Arial MT"/>
                <a:cs typeface="Arial MT"/>
              </a:rPr>
              <a:t>systems.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3387758" y="7252785"/>
            <a:ext cx="5474970" cy="18707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35"/>
              </a:spcBef>
            </a:pPr>
            <a:r>
              <a:rPr dirty="0" sz="2800" spc="204">
                <a:solidFill>
                  <a:srgbClr val="1D1D1D"/>
                </a:solidFill>
                <a:latin typeface="Arial MT"/>
                <a:cs typeface="Arial MT"/>
              </a:rPr>
              <a:t>Circular</a:t>
            </a:r>
            <a:r>
              <a:rPr dirty="0" sz="2800" spc="27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dirty="0" sz="2800" spc="254">
                <a:solidFill>
                  <a:srgbClr val="1F1F1F"/>
                </a:solidFill>
                <a:latin typeface="Arial MT"/>
                <a:cs typeface="Arial MT"/>
              </a:rPr>
              <a:t>Material</a:t>
            </a:r>
            <a:r>
              <a:rPr dirty="0" sz="2800" spc="-1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dirty="0" sz="2800" spc="140">
                <a:solidFill>
                  <a:srgbClr val="181818"/>
                </a:solidFill>
                <a:latin typeface="Arial MT"/>
                <a:cs typeface="Arial MT"/>
              </a:rPr>
              <a:t>Designers</a:t>
            </a:r>
            <a:endParaRPr sz="2800">
              <a:latin typeface="Arial MT"/>
              <a:cs typeface="Arial MT"/>
            </a:endParaRPr>
          </a:p>
          <a:p>
            <a:pPr marL="12700" marR="5080" indent="6350">
              <a:lnSpc>
                <a:spcPct val="121800"/>
              </a:lnSpc>
              <a:spcBef>
                <a:spcPts val="1485"/>
              </a:spcBef>
            </a:pPr>
            <a:r>
              <a:rPr dirty="0" sz="2200" spc="-85">
                <a:solidFill>
                  <a:srgbClr val="424242"/>
                </a:solidFill>
                <a:latin typeface="Arial MT"/>
                <a:cs typeface="Arial MT"/>
              </a:rPr>
              <a:t>Engineers</a:t>
            </a:r>
            <a:r>
              <a:rPr dirty="0" sz="2200" spc="-8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2200" spc="-35">
                <a:solidFill>
                  <a:srgbClr val="494949"/>
                </a:solidFill>
                <a:latin typeface="Arial MT"/>
                <a:cs typeface="Arial MT"/>
              </a:rPr>
              <a:t>focused</a:t>
            </a:r>
            <a:r>
              <a:rPr dirty="0" sz="2200" spc="5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494949"/>
                </a:solidFill>
                <a:latin typeface="Arial MT"/>
                <a:cs typeface="Arial MT"/>
              </a:rPr>
              <a:t>on</a:t>
            </a:r>
            <a:r>
              <a:rPr dirty="0" sz="2200" spc="-6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200" spc="-110">
                <a:solidFill>
                  <a:srgbClr val="484848"/>
                </a:solidFill>
                <a:latin typeface="Arial MT"/>
                <a:cs typeface="Arial MT"/>
              </a:rPr>
              <a:t>zero</a:t>
            </a:r>
            <a:r>
              <a:rPr dirty="0" sz="2200" spc="-290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dirty="0" sz="2200" spc="-65">
                <a:solidFill>
                  <a:srgbClr val="4D4D4D"/>
                </a:solidFill>
                <a:latin typeface="Arial MT"/>
                <a:cs typeface="Arial MT"/>
              </a:rPr>
              <a:t>-</a:t>
            </a:r>
            <a:r>
              <a:rPr dirty="0" sz="2200" spc="-35">
                <a:solidFill>
                  <a:srgbClr val="4D4D4D"/>
                </a:solidFill>
                <a:latin typeface="Arial MT"/>
                <a:cs typeface="Arial MT"/>
              </a:rPr>
              <a:t>waste</a:t>
            </a:r>
            <a:r>
              <a:rPr dirty="0" sz="2200" spc="-15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505050"/>
                </a:solidFill>
                <a:latin typeface="Arial MT"/>
                <a:cs typeface="Arial MT"/>
              </a:rPr>
              <a:t>product </a:t>
            </a:r>
            <a:r>
              <a:rPr dirty="0" sz="2200" spc="-25">
                <a:solidFill>
                  <a:srgbClr val="505672"/>
                </a:solidFill>
                <a:latin typeface="Arial MT"/>
                <a:cs typeface="Arial MT"/>
              </a:rPr>
              <a:t>lifecycles,</a:t>
            </a:r>
            <a:r>
              <a:rPr dirty="0" sz="2200" spc="80">
                <a:solidFill>
                  <a:srgbClr val="505672"/>
                </a:solidFill>
                <a:latin typeface="Arial MT"/>
                <a:cs typeface="Arial MT"/>
              </a:rPr>
              <a:t> </a:t>
            </a:r>
            <a:r>
              <a:rPr dirty="0" sz="2200" spc="-45">
                <a:solidFill>
                  <a:srgbClr val="484848"/>
                </a:solidFill>
                <a:latin typeface="Arial MT"/>
                <a:cs typeface="Arial MT"/>
              </a:rPr>
              <a:t>developing</a:t>
            </a:r>
            <a:r>
              <a:rPr dirty="0" sz="2200" spc="90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dirty="0" sz="2200" spc="-60">
                <a:solidFill>
                  <a:srgbClr val="444444"/>
                </a:solidFill>
                <a:latin typeface="Arial MT"/>
                <a:cs typeface="Arial MT"/>
              </a:rPr>
              <a:t>advanced</a:t>
            </a:r>
            <a:r>
              <a:rPr dirty="0" sz="2200" spc="2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200" spc="-55">
                <a:solidFill>
                  <a:srgbClr val="494949"/>
                </a:solidFill>
                <a:latin typeface="Arial MT"/>
                <a:cs typeface="Arial MT"/>
              </a:rPr>
              <a:t>bio-</a:t>
            </a:r>
            <a:r>
              <a:rPr dirty="0" sz="2200" spc="-10">
                <a:solidFill>
                  <a:srgbClr val="494949"/>
                </a:solidFill>
                <a:latin typeface="Arial MT"/>
                <a:cs typeface="Arial MT"/>
              </a:rPr>
              <a:t>materials </a:t>
            </a:r>
            <a:r>
              <a:rPr dirty="0" sz="2200" spc="-25">
                <a:solidFill>
                  <a:srgbClr val="5D7493"/>
                </a:solidFill>
                <a:latin typeface="Arial MT"/>
                <a:cs typeface="Arial MT"/>
              </a:rPr>
              <a:t>that</a:t>
            </a:r>
            <a:r>
              <a:rPr dirty="0" sz="2200" spc="-130">
                <a:solidFill>
                  <a:srgbClr val="5D7493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484848"/>
                </a:solidFill>
                <a:latin typeface="Arial MT"/>
                <a:cs typeface="Arial MT"/>
              </a:rPr>
              <a:t>infinitely</a:t>
            </a:r>
            <a:r>
              <a:rPr dirty="0" sz="2200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dirty="0" sz="2200" spc="-20">
                <a:solidFill>
                  <a:srgbClr val="494949"/>
                </a:solidFill>
                <a:latin typeface="Arial MT"/>
                <a:cs typeface="Arial MT"/>
              </a:rPr>
              <a:t>recycle</a:t>
            </a:r>
            <a:r>
              <a:rPr dirty="0" sz="2200" spc="-15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200" spc="-35">
                <a:solidFill>
                  <a:srgbClr val="4F4F4F"/>
                </a:solidFill>
                <a:latin typeface="Arial MT"/>
                <a:cs typeface="Arial MT"/>
              </a:rPr>
              <a:t>without</a:t>
            </a:r>
            <a:r>
              <a:rPr dirty="0" sz="2200" spc="-7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3D3D3D"/>
                </a:solidFill>
                <a:latin typeface="Arial MT"/>
                <a:cs typeface="Arial MT"/>
              </a:rPr>
              <a:t>degradation.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30659" y="1119464"/>
            <a:ext cx="5600700" cy="20046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2860" marR="5080" indent="-10795">
              <a:lnSpc>
                <a:spcPct val="110000"/>
              </a:lnSpc>
              <a:spcBef>
                <a:spcPts val="95"/>
              </a:spcBef>
            </a:pPr>
            <a:r>
              <a:rPr dirty="0" sz="5900">
                <a:solidFill>
                  <a:srgbClr val="111111"/>
                </a:solidFill>
                <a:latin typeface="Arial MT"/>
                <a:cs typeface="Arial MT"/>
              </a:rPr>
              <a:t>Human-</a:t>
            </a:r>
            <a:r>
              <a:rPr dirty="0" sz="5900" spc="-10">
                <a:solidFill>
                  <a:srgbClr val="111111"/>
                </a:solidFill>
                <a:latin typeface="Arial MT"/>
                <a:cs typeface="Arial MT"/>
              </a:rPr>
              <a:t>Machine </a:t>
            </a:r>
            <a:r>
              <a:rPr dirty="0" sz="5900" spc="-10">
                <a:solidFill>
                  <a:srgbClr val="181818"/>
                </a:solidFill>
                <a:latin typeface="Arial MT"/>
                <a:cs typeface="Arial MT"/>
              </a:rPr>
              <a:t>Synergy</a:t>
            </a:r>
            <a:endParaRPr sz="59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245795" y="3856292"/>
            <a:ext cx="8333740" cy="5104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5"/>
              </a:spcBef>
            </a:pPr>
            <a:r>
              <a:rPr dirty="0" sz="3600">
                <a:solidFill>
                  <a:srgbClr val="262626"/>
                </a:solidFill>
                <a:latin typeface="Arial MT"/>
                <a:cs typeface="Arial MT"/>
              </a:rPr>
              <a:t>The</a:t>
            </a:r>
            <a:r>
              <a:rPr dirty="0" sz="3600" spc="-35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dirty="0" sz="3600" spc="110">
                <a:solidFill>
                  <a:srgbClr val="1F1F1F"/>
                </a:solidFill>
                <a:latin typeface="Arial MT"/>
                <a:cs typeface="Arial MT"/>
              </a:rPr>
              <a:t>Robot </a:t>
            </a:r>
            <a:r>
              <a:rPr dirty="0" sz="3600" spc="114">
                <a:solidFill>
                  <a:srgbClr val="1A1A1A"/>
                </a:solidFill>
                <a:latin typeface="Arial MT"/>
                <a:cs typeface="Arial MT"/>
              </a:rPr>
              <a:t>Liaison</a:t>
            </a:r>
            <a:endParaRPr sz="3600">
              <a:latin typeface="Arial MT"/>
              <a:cs typeface="Arial MT"/>
            </a:endParaRPr>
          </a:p>
          <a:p>
            <a:pPr marL="12700" marR="438784" indent="5715">
              <a:lnSpc>
                <a:spcPct val="129299"/>
              </a:lnSpc>
              <a:spcBef>
                <a:spcPts val="2205"/>
              </a:spcBef>
              <a:tabLst>
                <a:tab pos="2473960" algn="l"/>
                <a:tab pos="3667125" algn="l"/>
                <a:tab pos="5630545" algn="l"/>
                <a:tab pos="7421245" algn="l"/>
              </a:tabLst>
            </a:pPr>
            <a:r>
              <a:rPr dirty="0" sz="2550">
                <a:solidFill>
                  <a:srgbClr val="566977"/>
                </a:solidFill>
                <a:latin typeface="Arial MT"/>
                <a:cs typeface="Arial MT"/>
              </a:rPr>
              <a:t>As</a:t>
            </a:r>
            <a:r>
              <a:rPr dirty="0" sz="2550" spc="110">
                <a:solidFill>
                  <a:srgbClr val="566977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484848"/>
                </a:solidFill>
                <a:latin typeface="Arial MT"/>
                <a:cs typeface="Arial MT"/>
              </a:rPr>
              <a:t>autonomous</a:t>
            </a:r>
            <a:r>
              <a:rPr dirty="0" sz="2550">
                <a:solidFill>
                  <a:srgbClr val="484848"/>
                </a:solidFill>
                <a:latin typeface="Arial MT"/>
                <a:cs typeface="Arial MT"/>
              </a:rPr>
              <a:t>	</a:t>
            </a:r>
            <a:r>
              <a:rPr dirty="0" sz="2550">
                <a:solidFill>
                  <a:srgbClr val="494949"/>
                </a:solidFill>
                <a:latin typeface="Arial MT"/>
                <a:cs typeface="Arial MT"/>
              </a:rPr>
              <a:t>systems</a:t>
            </a:r>
            <a:r>
              <a:rPr dirty="0" sz="2550" spc="505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3F3F3F"/>
                </a:solidFill>
                <a:latin typeface="Arial MT"/>
                <a:cs typeface="Arial MT"/>
              </a:rPr>
              <a:t>become</a:t>
            </a:r>
            <a:r>
              <a:rPr dirty="0" sz="2550" spc="48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494949"/>
                </a:solidFill>
                <a:latin typeface="Arial MT"/>
                <a:cs typeface="Arial MT"/>
              </a:rPr>
              <a:t>standard</a:t>
            </a:r>
            <a:r>
              <a:rPr dirty="0" sz="2550" spc="30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550" spc="65">
                <a:solidFill>
                  <a:srgbClr val="52647B"/>
                </a:solidFill>
                <a:latin typeface="Arial MT"/>
                <a:cs typeface="Arial MT"/>
              </a:rPr>
              <a:t>in</a:t>
            </a:r>
            <a:r>
              <a:rPr dirty="0" sz="2550" spc="250">
                <a:solidFill>
                  <a:srgbClr val="52647B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4B4B4B"/>
                </a:solidFill>
                <a:latin typeface="Arial MT"/>
                <a:cs typeface="Arial MT"/>
              </a:rPr>
              <a:t>offices </a:t>
            </a:r>
            <a:r>
              <a:rPr dirty="0" sz="2550">
                <a:solidFill>
                  <a:srgbClr val="4B4B4B"/>
                </a:solidFill>
                <a:latin typeface="Arial MT"/>
                <a:cs typeface="Arial MT"/>
              </a:rPr>
              <a:t>and</a:t>
            </a:r>
            <a:r>
              <a:rPr dirty="0" sz="2550" spc="9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550" spc="45">
                <a:solidFill>
                  <a:srgbClr val="484848"/>
                </a:solidFill>
                <a:latin typeface="Arial MT"/>
                <a:cs typeface="Arial MT"/>
              </a:rPr>
              <a:t>manufacturing</a:t>
            </a:r>
            <a:r>
              <a:rPr dirty="0" sz="2550" spc="345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4B4B4B"/>
                </a:solidFill>
                <a:latin typeface="Arial MT"/>
                <a:cs typeface="Arial MT"/>
              </a:rPr>
              <a:t>lines,</a:t>
            </a:r>
            <a:r>
              <a:rPr dirty="0" sz="2550" spc="215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424242"/>
                </a:solidFill>
                <a:latin typeface="Arial MT"/>
                <a:cs typeface="Arial MT"/>
              </a:rPr>
              <a:t>a</a:t>
            </a:r>
            <a:r>
              <a:rPr dirty="0" sz="2550" spc="16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4B4B4B"/>
                </a:solidFill>
                <a:latin typeface="Arial MT"/>
                <a:cs typeface="Arial MT"/>
              </a:rPr>
              <a:t>new</a:t>
            </a:r>
            <a:r>
              <a:rPr dirty="0" sz="2550" spc="21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424242"/>
                </a:solidFill>
                <a:latin typeface="Arial MT"/>
                <a:cs typeface="Arial MT"/>
              </a:rPr>
              <a:t>managerial</a:t>
            </a:r>
            <a:r>
              <a:rPr dirty="0" sz="2550" spc="335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4B4B4B"/>
                </a:solidFill>
                <a:latin typeface="Arial MT"/>
                <a:cs typeface="Arial MT"/>
              </a:rPr>
              <a:t>class</a:t>
            </a:r>
            <a:r>
              <a:rPr dirty="0" sz="2550">
                <a:solidFill>
                  <a:srgbClr val="4B4B4B"/>
                </a:solidFill>
                <a:latin typeface="Arial MT"/>
                <a:cs typeface="Arial MT"/>
              </a:rPr>
              <a:t>	</a:t>
            </a:r>
            <a:r>
              <a:rPr dirty="0" sz="2550" spc="-20">
                <a:solidFill>
                  <a:srgbClr val="4F4F4F"/>
                </a:solidFill>
                <a:latin typeface="Arial MT"/>
                <a:cs typeface="Arial MT"/>
              </a:rPr>
              <a:t>will </a:t>
            </a:r>
            <a:r>
              <a:rPr dirty="0" sz="2550">
                <a:solidFill>
                  <a:srgbClr val="484848"/>
                </a:solidFill>
                <a:latin typeface="Arial MT"/>
                <a:cs typeface="Arial MT"/>
              </a:rPr>
              <a:t>emerge.</a:t>
            </a:r>
            <a:r>
              <a:rPr dirty="0" sz="2550" spc="285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464646"/>
                </a:solidFill>
                <a:latin typeface="Arial MT"/>
                <a:cs typeface="Arial MT"/>
              </a:rPr>
              <a:t>Robot</a:t>
            </a:r>
            <a:r>
              <a:rPr dirty="0" sz="2550" spc="36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4B4B4B"/>
                </a:solidFill>
                <a:latin typeface="Arial MT"/>
                <a:cs typeface="Arial MT"/>
              </a:rPr>
              <a:t>Liaisons</a:t>
            </a:r>
            <a:r>
              <a:rPr dirty="0" sz="2550">
                <a:solidFill>
                  <a:srgbClr val="4B4B4B"/>
                </a:solidFill>
                <a:latin typeface="Arial MT"/>
                <a:cs typeface="Arial MT"/>
              </a:rPr>
              <a:t>	</a:t>
            </a:r>
            <a:r>
              <a:rPr dirty="0" sz="2550">
                <a:solidFill>
                  <a:srgbClr val="626B74"/>
                </a:solidFill>
                <a:latin typeface="Arial MT"/>
                <a:cs typeface="Arial MT"/>
              </a:rPr>
              <a:t>will</a:t>
            </a:r>
            <a:r>
              <a:rPr dirty="0" sz="2550" spc="229">
                <a:solidFill>
                  <a:srgbClr val="626B74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444444"/>
                </a:solidFill>
                <a:latin typeface="Arial MT"/>
                <a:cs typeface="Arial MT"/>
              </a:rPr>
              <a:t>optimize</a:t>
            </a:r>
            <a:r>
              <a:rPr dirty="0" sz="2550">
                <a:solidFill>
                  <a:srgbClr val="444444"/>
                </a:solidFill>
                <a:latin typeface="Arial MT"/>
                <a:cs typeface="Arial MT"/>
              </a:rPr>
              <a:t>	</a:t>
            </a:r>
            <a:r>
              <a:rPr dirty="0" sz="2550" spc="-10">
                <a:solidFill>
                  <a:srgbClr val="4B4B4B"/>
                </a:solidFill>
                <a:latin typeface="Arial MT"/>
                <a:cs typeface="Arial MT"/>
              </a:rPr>
              <a:t>workflows </a:t>
            </a:r>
            <a:r>
              <a:rPr dirty="0" sz="2550" spc="50">
                <a:solidFill>
                  <a:srgbClr val="494949"/>
                </a:solidFill>
                <a:latin typeface="Arial MT"/>
                <a:cs typeface="Arial MT"/>
              </a:rPr>
              <a:t>between</a:t>
            </a:r>
            <a:r>
              <a:rPr dirty="0" sz="2550" spc="345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444444"/>
                </a:solidFill>
                <a:latin typeface="Arial MT"/>
                <a:cs typeface="Arial MT"/>
              </a:rPr>
              <a:t>biological</a:t>
            </a:r>
            <a:r>
              <a:rPr dirty="0" sz="2550" spc="30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4B4B4B"/>
                </a:solidFill>
                <a:latin typeface="Arial MT"/>
                <a:cs typeface="Arial MT"/>
              </a:rPr>
              <a:t>and</a:t>
            </a:r>
            <a:r>
              <a:rPr dirty="0" sz="2550" spc="204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550" spc="55">
                <a:solidFill>
                  <a:srgbClr val="414141"/>
                </a:solidFill>
                <a:latin typeface="Arial MT"/>
                <a:cs typeface="Arial MT"/>
              </a:rPr>
              <a:t>synthetic</a:t>
            </a:r>
            <a:r>
              <a:rPr dirty="0" sz="2550" spc="434">
                <a:solidFill>
                  <a:srgbClr val="414141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464646"/>
                </a:solidFill>
                <a:latin typeface="Arial MT"/>
                <a:cs typeface="Arial MT"/>
              </a:rPr>
              <a:t>workers.</a:t>
            </a:r>
            <a:endParaRPr sz="2550">
              <a:latin typeface="Arial MT"/>
              <a:cs typeface="Arial MT"/>
            </a:endParaRPr>
          </a:p>
          <a:p>
            <a:pPr marL="12700" marR="5080" indent="5715">
              <a:lnSpc>
                <a:spcPct val="129299"/>
              </a:lnSpc>
              <a:spcBef>
                <a:spcPts val="1789"/>
              </a:spcBef>
              <a:tabLst>
                <a:tab pos="3450590" algn="l"/>
                <a:tab pos="6593840" algn="l"/>
                <a:tab pos="7720965" algn="l"/>
              </a:tabLst>
            </a:pPr>
            <a:r>
              <a:rPr dirty="0" sz="2550">
                <a:solidFill>
                  <a:srgbClr val="4F4F4F"/>
                </a:solidFill>
                <a:latin typeface="Arial MT"/>
                <a:cs typeface="Arial MT"/>
              </a:rPr>
              <a:t>They</a:t>
            </a:r>
            <a:r>
              <a:rPr dirty="0" sz="2550" spc="385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5B677B"/>
                </a:solidFill>
                <a:latin typeface="Arial MT"/>
                <a:cs typeface="Arial MT"/>
              </a:rPr>
              <a:t>will</a:t>
            </a:r>
            <a:r>
              <a:rPr dirty="0" sz="2550" spc="220">
                <a:solidFill>
                  <a:srgbClr val="5B677B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4B4B4B"/>
                </a:solidFill>
                <a:latin typeface="Arial MT"/>
                <a:cs typeface="Arial MT"/>
              </a:rPr>
              <a:t>act</a:t>
            </a:r>
            <a:r>
              <a:rPr dirty="0" sz="2550" spc="36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3B5D80"/>
                </a:solidFill>
                <a:latin typeface="Arial MT"/>
                <a:cs typeface="Arial MT"/>
              </a:rPr>
              <a:t>as</a:t>
            </a:r>
            <a:r>
              <a:rPr dirty="0" sz="2550" spc="300">
                <a:solidFill>
                  <a:srgbClr val="3B5D80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494949"/>
                </a:solidFill>
                <a:latin typeface="Arial MT"/>
                <a:cs typeface="Arial MT"/>
              </a:rPr>
              <a:t>mediators,</a:t>
            </a:r>
            <a:r>
              <a:rPr dirty="0" sz="2550" spc="40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494949"/>
                </a:solidFill>
                <a:latin typeface="Arial MT"/>
                <a:cs typeface="Arial MT"/>
              </a:rPr>
              <a:t>ensuring</a:t>
            </a:r>
            <a:r>
              <a:rPr dirty="0" sz="2550" spc="385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4F4F4F"/>
                </a:solidFill>
                <a:latin typeface="Arial MT"/>
                <a:cs typeface="Arial MT"/>
              </a:rPr>
              <a:t>AI</a:t>
            </a:r>
            <a:r>
              <a:rPr dirty="0" sz="2550" spc="75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494949"/>
                </a:solidFill>
                <a:latin typeface="Arial MT"/>
                <a:cs typeface="Arial MT"/>
              </a:rPr>
              <a:t>logic</a:t>
            </a:r>
            <a:r>
              <a:rPr dirty="0" sz="2550" spc="30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464646"/>
                </a:solidFill>
                <a:latin typeface="Arial MT"/>
                <a:cs typeface="Arial MT"/>
              </a:rPr>
              <a:t>aligns</a:t>
            </a:r>
            <a:r>
              <a:rPr dirty="0" sz="2550">
                <a:solidFill>
                  <a:srgbClr val="464646"/>
                </a:solidFill>
                <a:latin typeface="Arial MT"/>
                <a:cs typeface="Arial MT"/>
              </a:rPr>
              <a:t>	</a:t>
            </a:r>
            <a:r>
              <a:rPr dirty="0" sz="2550" spc="-20">
                <a:solidFill>
                  <a:srgbClr val="494949"/>
                </a:solidFill>
                <a:latin typeface="Arial MT"/>
                <a:cs typeface="Arial MT"/>
              </a:rPr>
              <a:t>with </a:t>
            </a:r>
            <a:r>
              <a:rPr dirty="0" sz="2550">
                <a:solidFill>
                  <a:srgbClr val="485969"/>
                </a:solidFill>
                <a:latin typeface="Arial MT"/>
                <a:cs typeface="Arial MT"/>
              </a:rPr>
              <a:t>human</a:t>
            </a:r>
            <a:r>
              <a:rPr dirty="0" sz="2550" spc="350">
                <a:solidFill>
                  <a:srgbClr val="485969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4D4D4D"/>
                </a:solidFill>
                <a:latin typeface="Arial MT"/>
                <a:cs typeface="Arial MT"/>
              </a:rPr>
              <a:t>corporate</a:t>
            </a:r>
            <a:r>
              <a:rPr dirty="0" sz="2550" spc="50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550" spc="55">
                <a:solidFill>
                  <a:srgbClr val="464646"/>
                </a:solidFill>
                <a:latin typeface="Arial MT"/>
                <a:cs typeface="Arial MT"/>
              </a:rPr>
              <a:t>culture,</a:t>
            </a:r>
            <a:r>
              <a:rPr dirty="0" sz="2550" spc="345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494949"/>
                </a:solidFill>
                <a:latin typeface="Arial MT"/>
                <a:cs typeface="Arial MT"/>
              </a:rPr>
              <a:t>handling</a:t>
            </a:r>
            <a:r>
              <a:rPr dirty="0" sz="2550" spc="38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3D3D3D"/>
                </a:solidFill>
                <a:latin typeface="Arial MT"/>
                <a:cs typeface="Arial MT"/>
              </a:rPr>
              <a:t>ethical </a:t>
            </a:r>
            <a:r>
              <a:rPr dirty="0" sz="2550" spc="50">
                <a:solidFill>
                  <a:srgbClr val="464646"/>
                </a:solidFill>
                <a:latin typeface="Arial MT"/>
                <a:cs typeface="Arial MT"/>
              </a:rPr>
              <a:t>discrepancies,</a:t>
            </a:r>
            <a:r>
              <a:rPr dirty="0" sz="2550" spc="14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4B5B69"/>
                </a:solidFill>
                <a:latin typeface="Arial MT"/>
                <a:cs typeface="Arial MT"/>
              </a:rPr>
              <a:t>and</a:t>
            </a:r>
            <a:r>
              <a:rPr dirty="0" sz="2550" spc="105">
                <a:solidFill>
                  <a:srgbClr val="4B5B69"/>
                </a:solidFill>
                <a:latin typeface="Arial MT"/>
                <a:cs typeface="Arial MT"/>
              </a:rPr>
              <a:t> </a:t>
            </a:r>
            <a:r>
              <a:rPr dirty="0" sz="2550" spc="50">
                <a:solidFill>
                  <a:srgbClr val="494949"/>
                </a:solidFill>
                <a:latin typeface="Arial MT"/>
                <a:cs typeface="Arial MT"/>
              </a:rPr>
              <a:t>optimizing</a:t>
            </a:r>
            <a:r>
              <a:rPr dirty="0" sz="2550" spc="24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484848"/>
                </a:solidFill>
                <a:latin typeface="Arial MT"/>
                <a:cs typeface="Arial MT"/>
              </a:rPr>
              <a:t>collaborative</a:t>
            </a:r>
            <a:r>
              <a:rPr dirty="0" sz="2550">
                <a:solidFill>
                  <a:srgbClr val="484848"/>
                </a:solidFill>
                <a:latin typeface="Arial MT"/>
                <a:cs typeface="Arial MT"/>
              </a:rPr>
              <a:t>	</a:t>
            </a:r>
            <a:r>
              <a:rPr dirty="0" sz="2550" spc="-10">
                <a:solidFill>
                  <a:srgbClr val="494949"/>
                </a:solidFill>
                <a:latin typeface="Arial MT"/>
                <a:cs typeface="Arial MT"/>
              </a:rPr>
              <a:t>output </a:t>
            </a:r>
            <a:r>
              <a:rPr dirty="0" sz="2550">
                <a:solidFill>
                  <a:srgbClr val="3F3F3F"/>
                </a:solidFill>
                <a:latin typeface="Arial MT"/>
                <a:cs typeface="Arial MT"/>
              </a:rPr>
              <a:t>without</a:t>
            </a:r>
            <a:r>
              <a:rPr dirty="0" sz="2550" spc="61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484848"/>
                </a:solidFill>
                <a:latin typeface="Arial MT"/>
                <a:cs typeface="Arial MT"/>
              </a:rPr>
              <a:t>compromising</a:t>
            </a:r>
            <a:r>
              <a:rPr dirty="0" sz="2550">
                <a:solidFill>
                  <a:srgbClr val="484848"/>
                </a:solidFill>
                <a:latin typeface="Arial MT"/>
                <a:cs typeface="Arial MT"/>
              </a:rPr>
              <a:t>	</a:t>
            </a:r>
            <a:r>
              <a:rPr dirty="0" sz="2550" spc="-10">
                <a:solidFill>
                  <a:srgbClr val="494949"/>
                </a:solidFill>
                <a:latin typeface="Arial MT"/>
                <a:cs typeface="Arial MT"/>
              </a:rPr>
              <a:t>safety.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0501846" y="-23171"/>
            <a:ext cx="626110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 spc="-20">
                <a:latin typeface="Arial MT"/>
                <a:cs typeface="Arial MT"/>
              </a:rPr>
              <a:t>onou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1309953" y="-23171"/>
            <a:ext cx="3631565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373380" algn="l"/>
                <a:tab pos="892175" algn="l"/>
                <a:tab pos="1331595" algn="l"/>
                <a:tab pos="1755775" algn="l"/>
                <a:tab pos="2274570" algn="l"/>
                <a:tab pos="2635250" algn="l"/>
                <a:tab pos="2918460" algn="l"/>
                <a:tab pos="3468370" algn="l"/>
              </a:tabLst>
            </a:pPr>
            <a:r>
              <a:rPr dirty="0" sz="2050" spc="-50">
                <a:latin typeface="Arial MT"/>
                <a:cs typeface="Arial MT"/>
              </a:rPr>
              <a:t>a</a:t>
            </a:r>
            <a:r>
              <a:rPr dirty="0" sz="2050">
                <a:latin typeface="Arial MT"/>
                <a:cs typeface="Arial MT"/>
              </a:rPr>
              <a:t>	</a:t>
            </a:r>
            <a:r>
              <a:rPr dirty="0" sz="2050" spc="-25">
                <a:latin typeface="Arial MT"/>
                <a:cs typeface="Arial MT"/>
              </a:rPr>
              <a:t>an</a:t>
            </a:r>
            <a:r>
              <a:rPr dirty="0" sz="2050">
                <a:latin typeface="Arial MT"/>
                <a:cs typeface="Arial MT"/>
              </a:rPr>
              <a:t>	</a:t>
            </a:r>
            <a:r>
              <a:rPr dirty="0" sz="2050" spc="-50">
                <a:latin typeface="Arial MT"/>
                <a:cs typeface="Arial MT"/>
              </a:rPr>
              <a:t>a</a:t>
            </a:r>
            <a:r>
              <a:rPr dirty="0" sz="2050">
                <a:latin typeface="Arial MT"/>
                <a:cs typeface="Arial MT"/>
              </a:rPr>
              <a:t>	</a:t>
            </a:r>
            <a:r>
              <a:rPr dirty="0" sz="2050" spc="-50">
                <a:latin typeface="Arial MT"/>
                <a:cs typeface="Arial MT"/>
              </a:rPr>
              <a:t>a</a:t>
            </a:r>
            <a:r>
              <a:rPr dirty="0" sz="2050">
                <a:latin typeface="Arial MT"/>
                <a:cs typeface="Arial MT"/>
              </a:rPr>
              <a:t>	</a:t>
            </a:r>
            <a:r>
              <a:rPr dirty="0" sz="2050" spc="5">
                <a:latin typeface="Arial MT"/>
                <a:cs typeface="Arial MT"/>
              </a:rPr>
              <a:t>e</a:t>
            </a:r>
            <a:r>
              <a:rPr dirty="0" sz="2050">
                <a:latin typeface="Arial MT"/>
                <a:cs typeface="Arial MT"/>
              </a:rPr>
              <a:t>	</a:t>
            </a:r>
            <a:r>
              <a:rPr dirty="0" sz="2050" spc="5">
                <a:latin typeface="Arial MT"/>
                <a:cs typeface="Arial MT"/>
              </a:rPr>
              <a:t>u</a:t>
            </a:r>
            <a:r>
              <a:rPr dirty="0" sz="2050">
                <a:latin typeface="Arial MT"/>
                <a:cs typeface="Arial MT"/>
              </a:rPr>
              <a:t>	</a:t>
            </a:r>
            <a:r>
              <a:rPr dirty="0" sz="2050" spc="-50">
                <a:latin typeface="Arial MT"/>
                <a:cs typeface="Arial MT"/>
              </a:rPr>
              <a:t>a</a:t>
            </a:r>
            <a:r>
              <a:rPr dirty="0" sz="2050">
                <a:latin typeface="Arial MT"/>
                <a:cs typeface="Arial MT"/>
              </a:rPr>
              <a:t>	</a:t>
            </a:r>
            <a:r>
              <a:rPr dirty="0" sz="2050" spc="-50">
                <a:latin typeface="Arial MT"/>
                <a:cs typeface="Arial MT"/>
              </a:rPr>
              <a:t>o</a:t>
            </a:r>
            <a:r>
              <a:rPr dirty="0" sz="2050">
                <a:latin typeface="Arial MT"/>
                <a:cs typeface="Arial MT"/>
              </a:rPr>
              <a:t>	</a:t>
            </a:r>
            <a:r>
              <a:rPr dirty="0" sz="2050" spc="-50">
                <a:latin typeface="Arial MT"/>
                <a:cs typeface="Arial MT"/>
              </a:rPr>
              <a:t>o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5817668" y="-23171"/>
            <a:ext cx="1160780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311785" algn="l"/>
                <a:tab pos="987425" algn="l"/>
              </a:tabLst>
            </a:pPr>
            <a:r>
              <a:rPr dirty="0" sz="2050" spc="-50">
                <a:latin typeface="Arial MT"/>
                <a:cs typeface="Arial MT"/>
              </a:rPr>
              <a:t>a</a:t>
            </a:r>
            <a:r>
              <a:rPr dirty="0" sz="2050">
                <a:latin typeface="Arial MT"/>
                <a:cs typeface="Arial MT"/>
              </a:rPr>
              <a:t>	o</a:t>
            </a:r>
            <a:r>
              <a:rPr dirty="0" sz="2050" spc="245">
                <a:latin typeface="Arial MT"/>
                <a:cs typeface="Arial MT"/>
              </a:rPr>
              <a:t> </a:t>
            </a:r>
            <a:r>
              <a:rPr dirty="0" sz="2050" spc="-50">
                <a:latin typeface="Arial MT"/>
                <a:cs typeface="Arial MT"/>
              </a:rPr>
              <a:t>a</a:t>
            </a:r>
            <a:r>
              <a:rPr dirty="0" sz="2050">
                <a:latin typeface="Arial MT"/>
                <a:cs typeface="Arial MT"/>
              </a:rPr>
              <a:t>	</a:t>
            </a:r>
            <a:r>
              <a:rPr dirty="0" sz="2050" spc="60">
                <a:latin typeface="Arial MT"/>
                <a:cs typeface="Arial MT"/>
              </a:rPr>
              <a:t>g</a:t>
            </a:r>
            <a:endParaRPr sz="20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46004" y="4460597"/>
            <a:ext cx="6031230" cy="402082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706" y="0"/>
            <a:ext cx="20088393" cy="10994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48650" rIns="0" bIns="0" rtlCol="0" vert="horz">
            <a:spAutoFit/>
          </a:bodyPr>
          <a:lstStyle/>
          <a:p>
            <a:pPr marL="31115">
              <a:lnSpc>
                <a:spcPct val="100000"/>
              </a:lnSpc>
              <a:spcBef>
                <a:spcPts val="140"/>
              </a:spcBef>
            </a:pPr>
            <a:r>
              <a:rPr dirty="0" sz="5500" spc="130">
                <a:solidFill>
                  <a:srgbClr val="151515"/>
                </a:solidFill>
              </a:rPr>
              <a:t>Hyper-</a:t>
            </a:r>
            <a:r>
              <a:rPr dirty="0" sz="5500" spc="125">
                <a:solidFill>
                  <a:srgbClr val="151515"/>
                </a:solidFill>
              </a:rPr>
              <a:t>Personalized</a:t>
            </a:r>
            <a:r>
              <a:rPr dirty="0" sz="5500" spc="-665">
                <a:solidFill>
                  <a:srgbClr val="151515"/>
                </a:solidFill>
              </a:rPr>
              <a:t> </a:t>
            </a:r>
            <a:r>
              <a:rPr dirty="0" sz="5500" spc="114">
                <a:solidFill>
                  <a:srgbClr val="151515"/>
                </a:solidFill>
              </a:rPr>
              <a:t>Healthcare</a:t>
            </a:r>
            <a:endParaRPr sz="5500"/>
          </a:p>
        </p:txBody>
      </p:sp>
      <p:sp>
        <p:nvSpPr>
          <p:cNvPr id="5" name="object 5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240"/>
              <a:t>Nonomedicol</a:t>
            </a:r>
            <a:r>
              <a:rPr dirty="0" spc="395"/>
              <a:t> </a:t>
            </a:r>
            <a:r>
              <a:rPr dirty="0" spc="175">
                <a:solidFill>
                  <a:srgbClr val="1C1C1C"/>
                </a:solidFill>
              </a:rPr>
              <a:t>Architects</a:t>
            </a:r>
          </a:p>
          <a:p>
            <a:pPr marL="17780" marR="5080" indent="5715">
              <a:lnSpc>
                <a:spcPct val="129299"/>
              </a:lnSpc>
              <a:spcBef>
                <a:spcPts val="2140"/>
              </a:spcBef>
              <a:tabLst>
                <a:tab pos="1588135" algn="l"/>
                <a:tab pos="1934210" algn="l"/>
                <a:tab pos="2992120" algn="l"/>
                <a:tab pos="4051300" algn="l"/>
                <a:tab pos="4758055" algn="l"/>
                <a:tab pos="5347335" algn="l"/>
              </a:tabLst>
            </a:pPr>
            <a:r>
              <a:rPr dirty="0" sz="2550">
                <a:solidFill>
                  <a:srgbClr val="3D3D3D"/>
                </a:solidFill>
              </a:rPr>
              <a:t>The</a:t>
            </a:r>
            <a:r>
              <a:rPr dirty="0" sz="2550" spc="229">
                <a:solidFill>
                  <a:srgbClr val="3D3D3D"/>
                </a:solidFill>
              </a:rPr>
              <a:t> </a:t>
            </a:r>
            <a:r>
              <a:rPr dirty="0" sz="2550">
                <a:solidFill>
                  <a:srgbClr val="4F4F4F"/>
                </a:solidFill>
              </a:rPr>
              <a:t>paradigm</a:t>
            </a:r>
            <a:r>
              <a:rPr dirty="0" sz="2550" spc="350">
                <a:solidFill>
                  <a:srgbClr val="4F4F4F"/>
                </a:solidFill>
              </a:rPr>
              <a:t> </a:t>
            </a:r>
            <a:r>
              <a:rPr dirty="0" sz="2550">
                <a:solidFill>
                  <a:srgbClr val="495B69"/>
                </a:solidFill>
              </a:rPr>
              <a:t>of</a:t>
            </a:r>
            <a:r>
              <a:rPr dirty="0" sz="2550" spc="220">
                <a:solidFill>
                  <a:srgbClr val="495B69"/>
                </a:solidFill>
              </a:rPr>
              <a:t> </a:t>
            </a:r>
            <a:r>
              <a:rPr dirty="0" sz="2550" spc="-10">
                <a:solidFill>
                  <a:srgbClr val="494949"/>
                </a:solidFill>
              </a:rPr>
              <a:t>medicine</a:t>
            </a:r>
            <a:r>
              <a:rPr dirty="0" sz="2550">
                <a:solidFill>
                  <a:srgbClr val="494949"/>
                </a:solidFill>
              </a:rPr>
              <a:t>	</a:t>
            </a:r>
            <a:r>
              <a:rPr dirty="0" sz="2550">
                <a:solidFill>
                  <a:srgbClr val="3B5667"/>
                </a:solidFill>
              </a:rPr>
              <a:t>will</a:t>
            </a:r>
            <a:r>
              <a:rPr dirty="0" sz="2550" spc="254">
                <a:solidFill>
                  <a:srgbClr val="3B5667"/>
                </a:solidFill>
              </a:rPr>
              <a:t> </a:t>
            </a:r>
            <a:r>
              <a:rPr dirty="0" sz="2550">
                <a:solidFill>
                  <a:srgbClr val="4B4B4B"/>
                </a:solidFill>
              </a:rPr>
              <a:t>shift</a:t>
            </a:r>
            <a:r>
              <a:rPr dirty="0" sz="2550" spc="330">
                <a:solidFill>
                  <a:srgbClr val="4B4B4B"/>
                </a:solidFill>
              </a:rPr>
              <a:t> </a:t>
            </a:r>
            <a:r>
              <a:rPr dirty="0" sz="2550" spc="60">
                <a:solidFill>
                  <a:srgbClr val="4D4D4D"/>
                </a:solidFill>
              </a:rPr>
              <a:t>from</a:t>
            </a:r>
            <a:r>
              <a:rPr dirty="0" sz="2550" spc="280">
                <a:solidFill>
                  <a:srgbClr val="4D4D4D"/>
                </a:solidFill>
              </a:rPr>
              <a:t> </a:t>
            </a:r>
            <a:r>
              <a:rPr dirty="0" sz="2550" spc="-10">
                <a:solidFill>
                  <a:srgbClr val="505050"/>
                </a:solidFill>
              </a:rPr>
              <a:t>reactive </a:t>
            </a:r>
            <a:r>
              <a:rPr dirty="0" sz="2550" spc="45">
                <a:solidFill>
                  <a:srgbClr val="4F4F4F"/>
                </a:solidFill>
              </a:rPr>
              <a:t>treatment</a:t>
            </a:r>
            <a:r>
              <a:rPr dirty="0" sz="2550">
                <a:solidFill>
                  <a:srgbClr val="4F4F4F"/>
                </a:solidFill>
              </a:rPr>
              <a:t>	</a:t>
            </a:r>
            <a:r>
              <a:rPr dirty="0" sz="2550" spc="70">
                <a:solidFill>
                  <a:srgbClr val="4D4D4D"/>
                </a:solidFill>
              </a:rPr>
              <a:t>to</a:t>
            </a:r>
            <a:r>
              <a:rPr dirty="0" sz="2550" spc="305">
                <a:solidFill>
                  <a:srgbClr val="4D4D4D"/>
                </a:solidFill>
              </a:rPr>
              <a:t> </a:t>
            </a:r>
            <a:r>
              <a:rPr dirty="0" sz="2550">
                <a:solidFill>
                  <a:srgbClr val="464646"/>
                </a:solidFill>
              </a:rPr>
              <a:t>proactive</a:t>
            </a:r>
            <a:r>
              <a:rPr dirty="0" sz="2550" spc="545">
                <a:solidFill>
                  <a:srgbClr val="464646"/>
                </a:solidFill>
              </a:rPr>
              <a:t> </a:t>
            </a:r>
            <a:r>
              <a:rPr dirty="0" sz="2550">
                <a:solidFill>
                  <a:srgbClr val="424242"/>
                </a:solidFill>
              </a:rPr>
              <a:t>genetic</a:t>
            </a:r>
            <a:r>
              <a:rPr dirty="0" sz="2550" spc="484">
                <a:solidFill>
                  <a:srgbClr val="424242"/>
                </a:solidFill>
              </a:rPr>
              <a:t> </a:t>
            </a:r>
            <a:r>
              <a:rPr dirty="0" sz="2550">
                <a:solidFill>
                  <a:srgbClr val="4B4B4B"/>
                </a:solidFill>
              </a:rPr>
              <a:t>optimization</a:t>
            </a:r>
            <a:r>
              <a:rPr dirty="0" sz="2550" spc="590">
                <a:solidFill>
                  <a:srgbClr val="4B4B4B"/>
                </a:solidFill>
              </a:rPr>
              <a:t> </a:t>
            </a:r>
            <a:r>
              <a:rPr dirty="0" sz="2550">
                <a:solidFill>
                  <a:srgbClr val="4D4D4D"/>
                </a:solidFill>
              </a:rPr>
              <a:t>and</a:t>
            </a:r>
            <a:r>
              <a:rPr dirty="0" sz="2550" spc="345">
                <a:solidFill>
                  <a:srgbClr val="4D4D4D"/>
                </a:solidFill>
              </a:rPr>
              <a:t> </a:t>
            </a:r>
            <a:r>
              <a:rPr dirty="0" sz="2550" spc="-10">
                <a:solidFill>
                  <a:srgbClr val="4D4D4D"/>
                </a:solidFill>
              </a:rPr>
              <a:t>cellular </a:t>
            </a:r>
            <a:r>
              <a:rPr dirty="0" sz="2550">
                <a:solidFill>
                  <a:srgbClr val="505050"/>
                </a:solidFill>
              </a:rPr>
              <a:t>repair.</a:t>
            </a:r>
            <a:r>
              <a:rPr dirty="0" sz="2550" spc="335">
                <a:solidFill>
                  <a:srgbClr val="505050"/>
                </a:solidFill>
              </a:rPr>
              <a:t> </a:t>
            </a:r>
            <a:r>
              <a:rPr dirty="0" sz="2550">
                <a:solidFill>
                  <a:srgbClr val="4D4D4D"/>
                </a:solidFill>
              </a:rPr>
              <a:t>Nanomedical</a:t>
            </a:r>
            <a:r>
              <a:rPr dirty="0" sz="2550" spc="465">
                <a:solidFill>
                  <a:srgbClr val="4D4D4D"/>
                </a:solidFill>
              </a:rPr>
              <a:t> </a:t>
            </a:r>
            <a:r>
              <a:rPr dirty="0" sz="2550" spc="45">
                <a:solidFill>
                  <a:srgbClr val="464646"/>
                </a:solidFill>
              </a:rPr>
              <a:t>Architects</a:t>
            </a:r>
            <a:r>
              <a:rPr dirty="0" sz="2550">
                <a:solidFill>
                  <a:srgbClr val="464646"/>
                </a:solidFill>
              </a:rPr>
              <a:t>	</a:t>
            </a:r>
            <a:r>
              <a:rPr dirty="0" sz="2550">
                <a:solidFill>
                  <a:srgbClr val="46507E"/>
                </a:solidFill>
              </a:rPr>
              <a:t>will</a:t>
            </a:r>
            <a:r>
              <a:rPr dirty="0" sz="2550" spc="275">
                <a:solidFill>
                  <a:srgbClr val="46507E"/>
                </a:solidFill>
              </a:rPr>
              <a:t> </a:t>
            </a:r>
            <a:r>
              <a:rPr dirty="0" sz="2550">
                <a:solidFill>
                  <a:srgbClr val="4D4D4D"/>
                </a:solidFill>
              </a:rPr>
              <a:t>design</a:t>
            </a:r>
            <a:r>
              <a:rPr dirty="0" sz="2550" spc="340">
                <a:solidFill>
                  <a:srgbClr val="4D4D4D"/>
                </a:solidFill>
              </a:rPr>
              <a:t> </a:t>
            </a:r>
            <a:r>
              <a:rPr dirty="0" sz="2550" spc="-10">
                <a:solidFill>
                  <a:srgbClr val="4F4F4F"/>
                </a:solidFill>
              </a:rPr>
              <a:t>custom, </a:t>
            </a:r>
            <a:r>
              <a:rPr dirty="0" sz="2550" spc="-10">
                <a:solidFill>
                  <a:srgbClr val="46566B"/>
                </a:solidFill>
              </a:rPr>
              <a:t>microscopic</a:t>
            </a:r>
            <a:r>
              <a:rPr dirty="0" sz="2550">
                <a:solidFill>
                  <a:srgbClr val="46566B"/>
                </a:solidFill>
              </a:rPr>
              <a:t>	</a:t>
            </a:r>
            <a:r>
              <a:rPr dirty="0" sz="2550" spc="50">
                <a:solidFill>
                  <a:srgbClr val="44506B"/>
                </a:solidFill>
              </a:rPr>
              <a:t>robot</a:t>
            </a:r>
            <a:r>
              <a:rPr dirty="0" sz="2550" spc="420">
                <a:solidFill>
                  <a:srgbClr val="44506B"/>
                </a:solidFill>
              </a:rPr>
              <a:t> </a:t>
            </a:r>
            <a:r>
              <a:rPr dirty="0" sz="2550">
                <a:solidFill>
                  <a:srgbClr val="485967"/>
                </a:solidFill>
              </a:rPr>
              <a:t>swarms</a:t>
            </a:r>
            <a:r>
              <a:rPr dirty="0" sz="2550" spc="430">
                <a:solidFill>
                  <a:srgbClr val="485967"/>
                </a:solidFill>
              </a:rPr>
              <a:t> </a:t>
            </a:r>
            <a:r>
              <a:rPr dirty="0" sz="2550" spc="50">
                <a:solidFill>
                  <a:srgbClr val="424242"/>
                </a:solidFill>
              </a:rPr>
              <a:t>injected</a:t>
            </a:r>
            <a:r>
              <a:rPr dirty="0" sz="2550" spc="270">
                <a:solidFill>
                  <a:srgbClr val="424242"/>
                </a:solidFill>
              </a:rPr>
              <a:t> </a:t>
            </a:r>
            <a:r>
              <a:rPr dirty="0" sz="2550" spc="55">
                <a:solidFill>
                  <a:srgbClr val="464F69"/>
                </a:solidFill>
              </a:rPr>
              <a:t>into</a:t>
            </a:r>
            <a:r>
              <a:rPr dirty="0" sz="2550" spc="200">
                <a:solidFill>
                  <a:srgbClr val="464F69"/>
                </a:solidFill>
              </a:rPr>
              <a:t> </a:t>
            </a:r>
            <a:r>
              <a:rPr dirty="0" sz="2550">
                <a:solidFill>
                  <a:srgbClr val="464646"/>
                </a:solidFill>
              </a:rPr>
              <a:t>patients</a:t>
            </a:r>
            <a:r>
              <a:rPr dirty="0" sz="2550" spc="340">
                <a:solidFill>
                  <a:srgbClr val="464646"/>
                </a:solidFill>
              </a:rPr>
              <a:t> </a:t>
            </a:r>
            <a:r>
              <a:rPr dirty="0" sz="2550" spc="70">
                <a:solidFill>
                  <a:srgbClr val="464646"/>
                </a:solidFill>
              </a:rPr>
              <a:t>to</a:t>
            </a:r>
            <a:r>
              <a:rPr dirty="0" sz="2550" spc="175">
                <a:solidFill>
                  <a:srgbClr val="464646"/>
                </a:solidFill>
              </a:rPr>
              <a:t> </a:t>
            </a:r>
            <a:r>
              <a:rPr dirty="0" sz="2550" spc="-10">
                <a:solidFill>
                  <a:srgbClr val="464646"/>
                </a:solidFill>
              </a:rPr>
              <a:t>target </a:t>
            </a:r>
            <a:r>
              <a:rPr dirty="0" sz="2550">
                <a:solidFill>
                  <a:srgbClr val="4D4D4D"/>
                </a:solidFill>
              </a:rPr>
              <a:t>specific</a:t>
            </a:r>
            <a:r>
              <a:rPr dirty="0" sz="2550" spc="390">
                <a:solidFill>
                  <a:srgbClr val="4D4D4D"/>
                </a:solidFill>
              </a:rPr>
              <a:t> </a:t>
            </a:r>
            <a:r>
              <a:rPr dirty="0" sz="2550">
                <a:solidFill>
                  <a:srgbClr val="484848"/>
                </a:solidFill>
              </a:rPr>
              <a:t>diseases,</a:t>
            </a:r>
            <a:r>
              <a:rPr dirty="0" sz="2550" spc="425">
                <a:solidFill>
                  <a:srgbClr val="484848"/>
                </a:solidFill>
              </a:rPr>
              <a:t> </a:t>
            </a:r>
            <a:r>
              <a:rPr dirty="0" sz="2550">
                <a:solidFill>
                  <a:srgbClr val="3D3D3D"/>
                </a:solidFill>
              </a:rPr>
              <a:t>repair</a:t>
            </a:r>
            <a:r>
              <a:rPr dirty="0" sz="2550" spc="455">
                <a:solidFill>
                  <a:srgbClr val="3D3D3D"/>
                </a:solidFill>
              </a:rPr>
              <a:t> </a:t>
            </a:r>
            <a:r>
              <a:rPr dirty="0" sz="2550">
                <a:solidFill>
                  <a:srgbClr val="4F4F4F"/>
                </a:solidFill>
              </a:rPr>
              <a:t>aging</a:t>
            </a:r>
            <a:r>
              <a:rPr dirty="0" sz="2550" spc="345">
                <a:solidFill>
                  <a:srgbClr val="4F4F4F"/>
                </a:solidFill>
              </a:rPr>
              <a:t> </a:t>
            </a:r>
            <a:r>
              <a:rPr dirty="0" sz="2550">
                <a:solidFill>
                  <a:srgbClr val="484848"/>
                </a:solidFill>
              </a:rPr>
              <a:t>cells,</a:t>
            </a:r>
            <a:r>
              <a:rPr dirty="0" sz="2550" spc="305">
                <a:solidFill>
                  <a:srgbClr val="484848"/>
                </a:solidFill>
              </a:rPr>
              <a:t> </a:t>
            </a:r>
            <a:r>
              <a:rPr dirty="0" sz="2550">
                <a:solidFill>
                  <a:srgbClr val="444444"/>
                </a:solidFill>
              </a:rPr>
              <a:t>and</a:t>
            </a:r>
            <a:r>
              <a:rPr dirty="0" sz="2550" spc="265">
                <a:solidFill>
                  <a:srgbClr val="444444"/>
                </a:solidFill>
              </a:rPr>
              <a:t> </a:t>
            </a:r>
            <a:r>
              <a:rPr dirty="0" sz="2550" spc="-10">
                <a:solidFill>
                  <a:srgbClr val="4D4D4D"/>
                </a:solidFill>
              </a:rPr>
              <a:t>enhance </a:t>
            </a:r>
            <a:r>
              <a:rPr dirty="0" sz="2550">
                <a:solidFill>
                  <a:srgbClr val="4D4D4D"/>
                </a:solidFill>
              </a:rPr>
              <a:t>physical</a:t>
            </a:r>
            <a:r>
              <a:rPr dirty="0" sz="2550" spc="430">
                <a:solidFill>
                  <a:srgbClr val="4D4D4D"/>
                </a:solidFill>
              </a:rPr>
              <a:t> </a:t>
            </a:r>
            <a:r>
              <a:rPr dirty="0" sz="2550" spc="-10">
                <a:solidFill>
                  <a:srgbClr val="4D4D4D"/>
                </a:solidFill>
              </a:rPr>
              <a:t>resilience.</a:t>
            </a:r>
            <a:r>
              <a:rPr dirty="0" sz="2550">
                <a:solidFill>
                  <a:srgbClr val="4D4D4D"/>
                </a:solidFill>
              </a:rPr>
              <a:t>	</a:t>
            </a:r>
            <a:r>
              <a:rPr dirty="0" sz="2550">
                <a:solidFill>
                  <a:srgbClr val="42566B"/>
                </a:solidFill>
              </a:rPr>
              <a:t>This</a:t>
            </a:r>
            <a:r>
              <a:rPr dirty="0" sz="2550" spc="350">
                <a:solidFill>
                  <a:srgbClr val="42566B"/>
                </a:solidFill>
              </a:rPr>
              <a:t> </a:t>
            </a:r>
            <a:r>
              <a:rPr dirty="0" sz="2550">
                <a:solidFill>
                  <a:srgbClr val="464646"/>
                </a:solidFill>
              </a:rPr>
              <a:t>role</a:t>
            </a:r>
            <a:r>
              <a:rPr dirty="0" sz="2550" spc="290">
                <a:solidFill>
                  <a:srgbClr val="464646"/>
                </a:solidFill>
              </a:rPr>
              <a:t> </a:t>
            </a:r>
            <a:r>
              <a:rPr dirty="0" sz="2550">
                <a:solidFill>
                  <a:srgbClr val="424242"/>
                </a:solidFill>
              </a:rPr>
              <a:t>bridges</a:t>
            </a:r>
            <a:r>
              <a:rPr dirty="0" sz="2550" spc="459">
                <a:solidFill>
                  <a:srgbClr val="424242"/>
                </a:solidFill>
              </a:rPr>
              <a:t> </a:t>
            </a:r>
            <a:r>
              <a:rPr dirty="0" sz="2550">
                <a:solidFill>
                  <a:srgbClr val="3D3D3D"/>
                </a:solidFill>
              </a:rPr>
              <a:t>advanced</a:t>
            </a:r>
            <a:r>
              <a:rPr dirty="0" sz="2550" spc="345">
                <a:solidFill>
                  <a:srgbClr val="3D3D3D"/>
                </a:solidFill>
              </a:rPr>
              <a:t> </a:t>
            </a:r>
            <a:r>
              <a:rPr dirty="0" sz="2550" spc="-10">
                <a:solidFill>
                  <a:srgbClr val="4D4D4D"/>
                </a:solidFill>
              </a:rPr>
              <a:t>biology </a:t>
            </a:r>
            <a:r>
              <a:rPr dirty="0" sz="2550">
                <a:solidFill>
                  <a:srgbClr val="464646"/>
                </a:solidFill>
              </a:rPr>
              <a:t>with</a:t>
            </a:r>
            <a:r>
              <a:rPr dirty="0" sz="2550" spc="254">
                <a:solidFill>
                  <a:srgbClr val="464646"/>
                </a:solidFill>
              </a:rPr>
              <a:t> </a:t>
            </a:r>
            <a:r>
              <a:rPr dirty="0" sz="2550" spc="100">
                <a:solidFill>
                  <a:srgbClr val="464646"/>
                </a:solidFill>
              </a:rPr>
              <a:t>micro-</a:t>
            </a:r>
            <a:r>
              <a:rPr dirty="0" sz="2550" spc="90">
                <a:solidFill>
                  <a:srgbClr val="464646"/>
                </a:solidFill>
              </a:rPr>
              <a:t>robotics,</a:t>
            </a:r>
            <a:r>
              <a:rPr dirty="0" sz="2550" spc="105">
                <a:solidFill>
                  <a:srgbClr val="464646"/>
                </a:solidFill>
              </a:rPr>
              <a:t> </a:t>
            </a:r>
            <a:r>
              <a:rPr dirty="0" sz="2550" spc="-10">
                <a:solidFill>
                  <a:srgbClr val="494949"/>
                </a:solidFill>
              </a:rPr>
              <a:t>fundamentally</a:t>
            </a:r>
            <a:r>
              <a:rPr dirty="0" sz="2550">
                <a:solidFill>
                  <a:srgbClr val="494949"/>
                </a:solidFill>
              </a:rPr>
              <a:t>	</a:t>
            </a:r>
            <a:r>
              <a:rPr dirty="0" sz="2550">
                <a:solidFill>
                  <a:srgbClr val="464646"/>
                </a:solidFill>
              </a:rPr>
              <a:t>altering</a:t>
            </a:r>
            <a:r>
              <a:rPr dirty="0" sz="2550" spc="509">
                <a:solidFill>
                  <a:srgbClr val="464646"/>
                </a:solidFill>
              </a:rPr>
              <a:t> </a:t>
            </a:r>
            <a:r>
              <a:rPr dirty="0" sz="2550" spc="-10">
                <a:solidFill>
                  <a:srgbClr val="44506B"/>
                </a:solidFill>
              </a:rPr>
              <a:t>human </a:t>
            </a:r>
            <a:r>
              <a:rPr dirty="0" sz="2550" spc="-10">
                <a:solidFill>
                  <a:srgbClr val="3D3D3D"/>
                </a:solidFill>
              </a:rPr>
              <a:t>longevity.</a:t>
            </a:r>
            <a:endParaRPr sz="25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23239" y="3345447"/>
            <a:ext cx="8638480" cy="4727604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706" y="0"/>
            <a:ext cx="20088393" cy="10994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6503" rIns="0" bIns="0" rtlCol="0" vert="horz">
            <a:spAutoFit/>
          </a:bodyPr>
          <a:lstStyle/>
          <a:p>
            <a:pPr marL="46990">
              <a:lnSpc>
                <a:spcPct val="100000"/>
              </a:lnSpc>
              <a:spcBef>
                <a:spcPts val="140"/>
              </a:spcBef>
            </a:pPr>
            <a:r>
              <a:rPr dirty="0" sz="5500" spc="-75">
                <a:solidFill>
                  <a:srgbClr val="181818"/>
                </a:solidFill>
              </a:rPr>
              <a:t>The</a:t>
            </a:r>
            <a:r>
              <a:rPr dirty="0" sz="5500" spc="-560">
                <a:solidFill>
                  <a:srgbClr val="181818"/>
                </a:solidFill>
              </a:rPr>
              <a:t> </a:t>
            </a:r>
            <a:r>
              <a:rPr dirty="0" sz="5500" spc="190">
                <a:solidFill>
                  <a:srgbClr val="131313"/>
                </a:solidFill>
              </a:rPr>
              <a:t>Immersive</a:t>
            </a:r>
            <a:r>
              <a:rPr dirty="0" sz="5500" spc="-65">
                <a:solidFill>
                  <a:srgbClr val="131313"/>
                </a:solidFill>
              </a:rPr>
              <a:t> </a:t>
            </a:r>
            <a:r>
              <a:rPr dirty="0" sz="5500" spc="70">
                <a:solidFill>
                  <a:srgbClr val="151515"/>
                </a:solidFill>
              </a:rPr>
              <a:t>Web</a:t>
            </a:r>
            <a:r>
              <a:rPr dirty="0" sz="5500" spc="-380">
                <a:solidFill>
                  <a:srgbClr val="151515"/>
                </a:solidFill>
              </a:rPr>
              <a:t> </a:t>
            </a:r>
            <a:r>
              <a:rPr dirty="0" sz="5500" spc="70">
                <a:solidFill>
                  <a:srgbClr val="1A1A1A"/>
                </a:solidFill>
              </a:rPr>
              <a:t>&amp;</a:t>
            </a:r>
            <a:r>
              <a:rPr dirty="0" sz="5500" spc="-200">
                <a:solidFill>
                  <a:srgbClr val="1A1A1A"/>
                </a:solidFill>
              </a:rPr>
              <a:t> </a:t>
            </a:r>
            <a:r>
              <a:rPr dirty="0" sz="5500" spc="70"/>
              <a:t>Metoverse</a:t>
            </a:r>
            <a:endParaRPr sz="5500"/>
          </a:p>
        </p:txBody>
      </p:sp>
      <p:sp>
        <p:nvSpPr>
          <p:cNvPr id="5" name="object 5" descr=""/>
          <p:cNvSpPr txBox="1"/>
          <p:nvPr/>
        </p:nvSpPr>
        <p:spPr>
          <a:xfrm>
            <a:off x="951531" y="2479371"/>
            <a:ext cx="8529955" cy="75018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32434" marR="298450" indent="-420370">
              <a:lnSpc>
                <a:spcPct val="129299"/>
              </a:lnSpc>
              <a:spcBef>
                <a:spcPts val="95"/>
              </a:spcBef>
              <a:buChar char="•"/>
              <a:tabLst>
                <a:tab pos="432434" algn="l"/>
                <a:tab pos="438150" algn="l"/>
                <a:tab pos="2108835" algn="l"/>
                <a:tab pos="2894965" algn="l"/>
                <a:tab pos="7013575" algn="l"/>
              </a:tabLst>
            </a:pPr>
            <a:r>
              <a:rPr dirty="0" sz="2550">
                <a:solidFill>
                  <a:srgbClr val="285EE6"/>
                </a:solidFill>
                <a:latin typeface="Arial MT"/>
                <a:cs typeface="Arial MT"/>
              </a:rPr>
              <a:t>	</a:t>
            </a:r>
            <a:r>
              <a:rPr dirty="0" sz="2550">
                <a:solidFill>
                  <a:srgbClr val="4B4B4B"/>
                </a:solidFill>
                <a:latin typeface="Arial MT"/>
                <a:cs typeface="Arial MT"/>
              </a:rPr>
              <a:t>The</a:t>
            </a:r>
            <a:r>
              <a:rPr dirty="0" sz="2550" spc="15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3D3D3D"/>
                </a:solidFill>
                <a:latin typeface="Arial MT"/>
                <a:cs typeface="Arial MT"/>
              </a:rPr>
              <a:t>2D</a:t>
            </a:r>
            <a:r>
              <a:rPr dirty="0" sz="2550" spc="-15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dirty="0" sz="2550" spc="45">
                <a:solidFill>
                  <a:srgbClr val="4B4B4B"/>
                </a:solidFill>
                <a:latin typeface="Arial MT"/>
                <a:cs typeface="Arial MT"/>
              </a:rPr>
              <a:t>internet</a:t>
            </a:r>
            <a:r>
              <a:rPr dirty="0" sz="2550">
                <a:solidFill>
                  <a:srgbClr val="4B4B4B"/>
                </a:solidFill>
                <a:latin typeface="Arial MT"/>
                <a:cs typeface="Arial MT"/>
              </a:rPr>
              <a:t>	</a:t>
            </a:r>
            <a:r>
              <a:rPr dirty="0" sz="2550">
                <a:solidFill>
                  <a:srgbClr val="425264"/>
                </a:solidFill>
                <a:latin typeface="Arial MT"/>
                <a:cs typeface="Arial MT"/>
              </a:rPr>
              <a:t>will</a:t>
            </a:r>
            <a:r>
              <a:rPr dirty="0" sz="2550" spc="190">
                <a:solidFill>
                  <a:srgbClr val="425264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4D4D4D"/>
                </a:solidFill>
                <a:latin typeface="Arial MT"/>
                <a:cs typeface="Arial MT"/>
              </a:rPr>
              <a:t>be</a:t>
            </a:r>
            <a:r>
              <a:rPr dirty="0" sz="2550" spc="285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550" spc="60">
                <a:solidFill>
                  <a:srgbClr val="444444"/>
                </a:solidFill>
                <a:latin typeface="Arial MT"/>
                <a:cs typeface="Arial MT"/>
              </a:rPr>
              <a:t>entirely</a:t>
            </a:r>
            <a:r>
              <a:rPr dirty="0" sz="2550" spc="28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494949"/>
                </a:solidFill>
                <a:latin typeface="Arial MT"/>
                <a:cs typeface="Arial MT"/>
              </a:rPr>
              <a:t>replaced</a:t>
            </a:r>
            <a:r>
              <a:rPr dirty="0" sz="2550" spc="295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4B4B4B"/>
                </a:solidFill>
                <a:latin typeface="Arial MT"/>
                <a:cs typeface="Arial MT"/>
              </a:rPr>
              <a:t>by</a:t>
            </a:r>
            <a:r>
              <a:rPr dirty="0" sz="2550" spc="265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550" spc="-25">
                <a:solidFill>
                  <a:srgbClr val="3A3A3A"/>
                </a:solidFill>
                <a:latin typeface="Arial MT"/>
                <a:cs typeface="Arial MT"/>
              </a:rPr>
              <a:t>3D, </a:t>
            </a:r>
            <a:r>
              <a:rPr dirty="0" sz="2550" spc="-10">
                <a:solidFill>
                  <a:srgbClr val="484848"/>
                </a:solidFill>
                <a:latin typeface="Arial MT"/>
                <a:cs typeface="Arial MT"/>
              </a:rPr>
              <a:t>immersive</a:t>
            </a:r>
            <a:r>
              <a:rPr dirty="0" sz="2550">
                <a:solidFill>
                  <a:srgbClr val="484848"/>
                </a:solidFill>
                <a:latin typeface="Arial MT"/>
                <a:cs typeface="Arial MT"/>
              </a:rPr>
              <a:t>	</a:t>
            </a:r>
            <a:r>
              <a:rPr dirty="0" sz="2550">
                <a:solidFill>
                  <a:srgbClr val="494949"/>
                </a:solidFill>
                <a:latin typeface="Arial MT"/>
                <a:cs typeface="Arial MT"/>
              </a:rPr>
              <a:t>spatial</a:t>
            </a:r>
            <a:r>
              <a:rPr dirty="0" sz="2550" spc="38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4B4B4B"/>
                </a:solidFill>
                <a:latin typeface="Arial MT"/>
                <a:cs typeface="Arial MT"/>
              </a:rPr>
              <a:t>computing</a:t>
            </a:r>
            <a:r>
              <a:rPr dirty="0" sz="2550" spc="54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550" spc="40">
                <a:solidFill>
                  <a:srgbClr val="484848"/>
                </a:solidFill>
                <a:latin typeface="Arial MT"/>
                <a:cs typeface="Arial MT"/>
              </a:rPr>
              <a:t>environments</a:t>
            </a:r>
            <a:r>
              <a:rPr dirty="0" sz="2550">
                <a:solidFill>
                  <a:srgbClr val="484848"/>
                </a:solidFill>
                <a:latin typeface="Arial MT"/>
                <a:cs typeface="Arial MT"/>
              </a:rPr>
              <a:t>	</a:t>
            </a:r>
            <a:r>
              <a:rPr dirty="0" sz="2550">
                <a:solidFill>
                  <a:srgbClr val="444444"/>
                </a:solidFill>
                <a:latin typeface="Arial MT"/>
                <a:cs typeface="Arial MT"/>
              </a:rPr>
              <a:t>used</a:t>
            </a:r>
            <a:r>
              <a:rPr dirty="0" sz="2550" spc="31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550" spc="-25">
                <a:solidFill>
                  <a:srgbClr val="4D4D4D"/>
                </a:solidFill>
                <a:latin typeface="Arial MT"/>
                <a:cs typeface="Arial MT"/>
              </a:rPr>
              <a:t>for </a:t>
            </a:r>
            <a:r>
              <a:rPr dirty="0" sz="2550" spc="55">
                <a:solidFill>
                  <a:srgbClr val="4B4B4B"/>
                </a:solidFill>
                <a:latin typeface="Arial MT"/>
                <a:cs typeface="Arial MT"/>
              </a:rPr>
              <a:t>both</a:t>
            </a:r>
            <a:r>
              <a:rPr dirty="0" sz="2550" spc="145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4B4B4B"/>
                </a:solidFill>
                <a:latin typeface="Arial MT"/>
                <a:cs typeface="Arial MT"/>
              </a:rPr>
              <a:t>commerce</a:t>
            </a:r>
            <a:r>
              <a:rPr dirty="0" sz="2550">
                <a:solidFill>
                  <a:srgbClr val="4B4B4B"/>
                </a:solidFill>
                <a:latin typeface="Arial MT"/>
                <a:cs typeface="Arial MT"/>
              </a:rPr>
              <a:t>	</a:t>
            </a:r>
            <a:r>
              <a:rPr dirty="0" sz="2550" spc="-695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4B4B4B"/>
                </a:solidFill>
                <a:latin typeface="Arial MT"/>
                <a:cs typeface="Arial MT"/>
              </a:rPr>
              <a:t>and</a:t>
            </a:r>
            <a:r>
              <a:rPr dirty="0" sz="2550" spc="9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494949"/>
                </a:solidFill>
                <a:latin typeface="Arial MT"/>
                <a:cs typeface="Arial MT"/>
              </a:rPr>
              <a:t>leisure.</a:t>
            </a:r>
            <a:endParaRPr sz="2550">
              <a:latin typeface="Arial MT"/>
              <a:cs typeface="Arial MT"/>
            </a:endParaRPr>
          </a:p>
          <a:p>
            <a:pPr marL="433070" marR="5080" indent="-421005">
              <a:lnSpc>
                <a:spcPct val="129299"/>
              </a:lnSpc>
              <a:spcBef>
                <a:spcPts val="2475"/>
              </a:spcBef>
              <a:buChar char="•"/>
              <a:tabLst>
                <a:tab pos="433070" algn="l"/>
                <a:tab pos="436880" algn="l"/>
                <a:tab pos="2961005" algn="l"/>
                <a:tab pos="4657090" algn="l"/>
                <a:tab pos="5903595" algn="l"/>
              </a:tabLst>
            </a:pPr>
            <a:r>
              <a:rPr dirty="0" sz="2550">
                <a:solidFill>
                  <a:srgbClr val="1F62EF"/>
                </a:solidFill>
                <a:latin typeface="Arial MT"/>
                <a:cs typeface="Arial MT"/>
              </a:rPr>
              <a:t>	</a:t>
            </a:r>
            <a:r>
              <a:rPr dirty="0" sz="2550" spc="55">
                <a:solidFill>
                  <a:srgbClr val="444444"/>
                </a:solidFill>
                <a:latin typeface="Arial MT"/>
                <a:cs typeface="Arial MT"/>
              </a:rPr>
              <a:t>Virtual</a:t>
            </a:r>
            <a:r>
              <a:rPr dirty="0" sz="2550" spc="4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485464"/>
                </a:solidFill>
                <a:latin typeface="Arial MT"/>
                <a:cs typeface="Arial MT"/>
              </a:rPr>
              <a:t>Environment</a:t>
            </a:r>
            <a:r>
              <a:rPr dirty="0" sz="2550" spc="470">
                <a:solidFill>
                  <a:srgbClr val="485464"/>
                </a:solidFill>
                <a:latin typeface="Arial MT"/>
                <a:cs typeface="Arial MT"/>
              </a:rPr>
              <a:t> </a:t>
            </a:r>
            <a:r>
              <a:rPr dirty="0" sz="2550" spc="90">
                <a:solidFill>
                  <a:srgbClr val="4B4B4B"/>
                </a:solidFill>
                <a:latin typeface="Arial MT"/>
                <a:cs typeface="Arial MT"/>
              </a:rPr>
              <a:t>Architects:</a:t>
            </a:r>
            <a:r>
              <a:rPr dirty="0" sz="2550" spc="39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494949"/>
                </a:solidFill>
                <a:latin typeface="Arial MT"/>
                <a:cs typeface="Arial MT"/>
              </a:rPr>
              <a:t>Digital</a:t>
            </a:r>
            <a:r>
              <a:rPr dirty="0" sz="2550" spc="32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494949"/>
                </a:solidFill>
                <a:latin typeface="Arial MT"/>
                <a:cs typeface="Arial MT"/>
              </a:rPr>
              <a:t>urban</a:t>
            </a:r>
            <a:r>
              <a:rPr dirty="0" sz="2550" spc="27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494949"/>
                </a:solidFill>
                <a:latin typeface="Arial MT"/>
                <a:cs typeface="Arial MT"/>
              </a:rPr>
              <a:t>planners </a:t>
            </a:r>
            <a:r>
              <a:rPr dirty="0" sz="2550">
                <a:solidFill>
                  <a:srgbClr val="4F4F4F"/>
                </a:solidFill>
                <a:latin typeface="Arial MT"/>
                <a:cs typeface="Arial MT"/>
              </a:rPr>
              <a:t>who</a:t>
            </a:r>
            <a:r>
              <a:rPr dirty="0" sz="2550" spc="34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424242"/>
                </a:solidFill>
                <a:latin typeface="Arial MT"/>
                <a:cs typeface="Arial MT"/>
              </a:rPr>
              <a:t>design</a:t>
            </a:r>
            <a:r>
              <a:rPr dirty="0" sz="2550" spc="36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4B4B4B"/>
                </a:solidFill>
                <a:latin typeface="Arial MT"/>
                <a:cs typeface="Arial MT"/>
              </a:rPr>
              <a:t>the</a:t>
            </a:r>
            <a:r>
              <a:rPr dirty="0" sz="2550" spc="345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464646"/>
                </a:solidFill>
                <a:latin typeface="Arial MT"/>
                <a:cs typeface="Arial MT"/>
              </a:rPr>
              <a:t>physics,</a:t>
            </a:r>
            <a:r>
              <a:rPr dirty="0" sz="2550" spc="43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414141"/>
                </a:solidFill>
                <a:latin typeface="Arial MT"/>
                <a:cs typeface="Arial MT"/>
              </a:rPr>
              <a:t>aesthetics,</a:t>
            </a:r>
            <a:r>
              <a:rPr dirty="0" sz="2550">
                <a:solidFill>
                  <a:srgbClr val="414141"/>
                </a:solidFill>
                <a:latin typeface="Arial MT"/>
                <a:cs typeface="Arial MT"/>
              </a:rPr>
              <a:t>	</a:t>
            </a:r>
            <a:r>
              <a:rPr dirty="0" sz="2550">
                <a:solidFill>
                  <a:srgbClr val="494949"/>
                </a:solidFill>
                <a:latin typeface="Arial MT"/>
                <a:cs typeface="Arial MT"/>
              </a:rPr>
              <a:t>and</a:t>
            </a:r>
            <a:r>
              <a:rPr dirty="0" sz="2550" spc="85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4D4D4D"/>
                </a:solidFill>
                <a:latin typeface="Arial MT"/>
                <a:cs typeface="Arial MT"/>
              </a:rPr>
              <a:t>economic </a:t>
            </a:r>
            <a:r>
              <a:rPr dirty="0" sz="2550">
                <a:solidFill>
                  <a:srgbClr val="494949"/>
                </a:solidFill>
                <a:latin typeface="Arial MT"/>
                <a:cs typeface="Arial MT"/>
              </a:rPr>
              <a:t>logic</a:t>
            </a:r>
            <a:r>
              <a:rPr dirty="0" sz="2550" spc="30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4F4F4F"/>
                </a:solidFill>
                <a:latin typeface="Arial MT"/>
                <a:cs typeface="Arial MT"/>
              </a:rPr>
              <a:t>of</a:t>
            </a:r>
            <a:r>
              <a:rPr dirty="0" sz="2550" spc="285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4B4B4B"/>
                </a:solidFill>
                <a:latin typeface="Arial MT"/>
                <a:cs typeface="Arial MT"/>
              </a:rPr>
              <a:t>massive</a:t>
            </a:r>
            <a:r>
              <a:rPr dirty="0" sz="2550">
                <a:solidFill>
                  <a:srgbClr val="4B4B4B"/>
                </a:solidFill>
                <a:latin typeface="Arial MT"/>
                <a:cs typeface="Arial MT"/>
              </a:rPr>
              <a:t>	</a:t>
            </a:r>
            <a:r>
              <a:rPr dirty="0" sz="2550" spc="-10">
                <a:solidFill>
                  <a:srgbClr val="484848"/>
                </a:solidFill>
                <a:latin typeface="Arial MT"/>
                <a:cs typeface="Arial MT"/>
              </a:rPr>
              <a:t>metaverse</a:t>
            </a:r>
            <a:r>
              <a:rPr dirty="0" sz="2550">
                <a:solidFill>
                  <a:srgbClr val="484848"/>
                </a:solidFill>
                <a:latin typeface="Arial MT"/>
                <a:cs typeface="Arial MT"/>
              </a:rPr>
              <a:t>	</a:t>
            </a:r>
            <a:r>
              <a:rPr dirty="0" sz="2550" spc="-10">
                <a:solidFill>
                  <a:srgbClr val="494949"/>
                </a:solidFill>
                <a:latin typeface="Arial MT"/>
                <a:cs typeface="Arial MT"/>
              </a:rPr>
              <a:t>platforms.</a:t>
            </a:r>
            <a:endParaRPr sz="2550">
              <a:latin typeface="Arial MT"/>
              <a:cs typeface="Arial MT"/>
            </a:endParaRPr>
          </a:p>
          <a:p>
            <a:pPr marL="428625" marR="963294" indent="-416559">
              <a:lnSpc>
                <a:spcPct val="129299"/>
              </a:lnSpc>
              <a:spcBef>
                <a:spcPts val="2475"/>
              </a:spcBef>
              <a:buClr>
                <a:srgbClr val="285EE6"/>
              </a:buClr>
              <a:buChar char="•"/>
              <a:tabLst>
                <a:tab pos="434340" algn="l"/>
              </a:tabLst>
            </a:pPr>
            <a:r>
              <a:rPr dirty="0" sz="2550">
                <a:solidFill>
                  <a:srgbClr val="485466"/>
                </a:solidFill>
                <a:latin typeface="Arial MT"/>
                <a:cs typeface="Arial MT"/>
              </a:rPr>
              <a:t>Digital</a:t>
            </a:r>
            <a:r>
              <a:rPr dirty="0" sz="2550" spc="-60">
                <a:solidFill>
                  <a:srgbClr val="485466"/>
                </a:solidFill>
                <a:latin typeface="Arial MT"/>
                <a:cs typeface="Arial MT"/>
              </a:rPr>
              <a:t> </a:t>
            </a:r>
            <a:r>
              <a:rPr dirty="0" sz="2550" spc="70">
                <a:solidFill>
                  <a:srgbClr val="495969"/>
                </a:solidFill>
                <a:latin typeface="Arial MT"/>
                <a:cs typeface="Arial MT"/>
              </a:rPr>
              <a:t>Identity</a:t>
            </a:r>
            <a:r>
              <a:rPr dirty="0" sz="2550" spc="225">
                <a:solidFill>
                  <a:srgbClr val="495969"/>
                </a:solidFill>
                <a:latin typeface="Arial MT"/>
                <a:cs typeface="Arial MT"/>
              </a:rPr>
              <a:t> </a:t>
            </a:r>
            <a:r>
              <a:rPr dirty="0" sz="2550" spc="55">
                <a:solidFill>
                  <a:srgbClr val="525252"/>
                </a:solidFill>
                <a:latin typeface="Arial MT"/>
                <a:cs typeface="Arial MT"/>
              </a:rPr>
              <a:t>Defenders:</a:t>
            </a:r>
            <a:r>
              <a:rPr dirty="0" sz="2550" spc="375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4B4B4B"/>
                </a:solidFill>
                <a:latin typeface="Arial MT"/>
                <a:cs typeface="Arial MT"/>
              </a:rPr>
              <a:t>As</a:t>
            </a:r>
            <a:r>
              <a:rPr dirty="0" sz="2550" spc="24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4B4B4B"/>
                </a:solidFill>
                <a:latin typeface="Arial MT"/>
                <a:cs typeface="Arial MT"/>
              </a:rPr>
              <a:t>life</a:t>
            </a:r>
            <a:r>
              <a:rPr dirty="0" sz="2550" spc="25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4B4B4B"/>
                </a:solidFill>
                <a:latin typeface="Arial MT"/>
                <a:cs typeface="Arial MT"/>
              </a:rPr>
              <a:t>moves</a:t>
            </a:r>
            <a:r>
              <a:rPr dirty="0" sz="2550" spc="365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4D4D4D"/>
                </a:solidFill>
                <a:latin typeface="Arial MT"/>
                <a:cs typeface="Arial MT"/>
              </a:rPr>
              <a:t>online, </a:t>
            </a:r>
            <a:r>
              <a:rPr dirty="0" sz="2550" spc="-10">
                <a:solidFill>
                  <a:srgbClr val="4D4D4D"/>
                </a:solidFill>
                <a:latin typeface="Arial MT"/>
                <a:cs typeface="Arial MT"/>
              </a:rPr>
              <a:t>	</a:t>
            </a:r>
            <a:r>
              <a:rPr dirty="0" sz="2550" spc="50">
                <a:solidFill>
                  <a:srgbClr val="424242"/>
                </a:solidFill>
                <a:latin typeface="Arial MT"/>
                <a:cs typeface="Arial MT"/>
              </a:rPr>
              <a:t>security</a:t>
            </a:r>
            <a:r>
              <a:rPr dirty="0" sz="2550" spc="325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2550" spc="55">
                <a:solidFill>
                  <a:srgbClr val="464646"/>
                </a:solidFill>
                <a:latin typeface="Arial MT"/>
                <a:cs typeface="Arial MT"/>
              </a:rPr>
              <a:t>experts</a:t>
            </a:r>
            <a:r>
              <a:rPr dirty="0" sz="2550" spc="36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414141"/>
                </a:solidFill>
                <a:latin typeface="Arial MT"/>
                <a:cs typeface="Arial MT"/>
              </a:rPr>
              <a:t>dedicated</a:t>
            </a:r>
            <a:r>
              <a:rPr dirty="0" sz="2550" spc="325">
                <a:solidFill>
                  <a:srgbClr val="414141"/>
                </a:solidFill>
                <a:latin typeface="Arial MT"/>
                <a:cs typeface="Arial MT"/>
              </a:rPr>
              <a:t> </a:t>
            </a:r>
            <a:r>
              <a:rPr dirty="0" sz="2550" spc="70">
                <a:solidFill>
                  <a:srgbClr val="4B4B4B"/>
                </a:solidFill>
                <a:latin typeface="Arial MT"/>
                <a:cs typeface="Arial MT"/>
              </a:rPr>
              <a:t>to</a:t>
            </a:r>
            <a:r>
              <a:rPr dirty="0" sz="2550" spc="175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550" spc="60">
                <a:solidFill>
                  <a:srgbClr val="494949"/>
                </a:solidFill>
                <a:latin typeface="Arial MT"/>
                <a:cs typeface="Arial MT"/>
              </a:rPr>
              <a:t>protecting</a:t>
            </a:r>
            <a:r>
              <a:rPr dirty="0" sz="2550" spc="355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464646"/>
                </a:solidFill>
                <a:latin typeface="Arial MT"/>
                <a:cs typeface="Arial MT"/>
              </a:rPr>
              <a:t>highly </a:t>
            </a:r>
            <a:r>
              <a:rPr dirty="0" sz="2550" spc="-10">
                <a:solidFill>
                  <a:srgbClr val="464646"/>
                </a:solidFill>
                <a:latin typeface="Arial MT"/>
                <a:cs typeface="Arial MT"/>
              </a:rPr>
              <a:t>	</a:t>
            </a:r>
            <a:r>
              <a:rPr dirty="0" sz="2550">
                <a:solidFill>
                  <a:srgbClr val="494949"/>
                </a:solidFill>
                <a:latin typeface="Arial MT"/>
                <a:cs typeface="Arial MT"/>
              </a:rPr>
              <a:t>valuable</a:t>
            </a:r>
            <a:r>
              <a:rPr dirty="0" sz="2550" spc="415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494949"/>
                </a:solidFill>
                <a:latin typeface="Arial MT"/>
                <a:cs typeface="Arial MT"/>
              </a:rPr>
              <a:t>digital</a:t>
            </a:r>
            <a:r>
              <a:rPr dirty="0" sz="2550" spc="265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4B4B4B"/>
                </a:solidFill>
                <a:latin typeface="Arial MT"/>
                <a:cs typeface="Arial MT"/>
              </a:rPr>
              <a:t>avatars</a:t>
            </a:r>
            <a:r>
              <a:rPr dirty="0" sz="2550" spc="395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4B4B4B"/>
                </a:solidFill>
                <a:latin typeface="Arial MT"/>
                <a:cs typeface="Arial MT"/>
              </a:rPr>
              <a:t>and</a:t>
            </a:r>
            <a:r>
              <a:rPr dirty="0" sz="2550" spc="27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484848"/>
                </a:solidFill>
                <a:latin typeface="Arial MT"/>
                <a:cs typeface="Arial MT"/>
              </a:rPr>
              <a:t>virtual</a:t>
            </a:r>
            <a:r>
              <a:rPr dirty="0" sz="2550" spc="245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494949"/>
                </a:solidFill>
                <a:latin typeface="Arial MT"/>
                <a:cs typeface="Arial MT"/>
              </a:rPr>
              <a:t>assets</a:t>
            </a:r>
            <a:r>
              <a:rPr dirty="0" sz="2550" spc="375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550" spc="40">
                <a:solidFill>
                  <a:srgbClr val="4B4B4B"/>
                </a:solidFill>
                <a:latin typeface="Arial MT"/>
                <a:cs typeface="Arial MT"/>
              </a:rPr>
              <a:t>from </a:t>
            </a:r>
            <a:r>
              <a:rPr dirty="0" sz="2550" spc="40">
                <a:solidFill>
                  <a:srgbClr val="4B4B4B"/>
                </a:solidFill>
                <a:latin typeface="Arial MT"/>
                <a:cs typeface="Arial MT"/>
              </a:rPr>
              <a:t>	</a:t>
            </a:r>
            <a:r>
              <a:rPr dirty="0" sz="2550">
                <a:solidFill>
                  <a:srgbClr val="464646"/>
                </a:solidFill>
                <a:latin typeface="Arial MT"/>
                <a:cs typeface="Arial MT"/>
              </a:rPr>
              <a:t>quantum</a:t>
            </a:r>
            <a:r>
              <a:rPr dirty="0" sz="2550" spc="465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4B4B4B"/>
                </a:solidFill>
                <a:latin typeface="Arial MT"/>
                <a:cs typeface="Arial MT"/>
              </a:rPr>
              <a:t>hacking.</a:t>
            </a:r>
            <a:endParaRPr sz="2550">
              <a:latin typeface="Arial MT"/>
              <a:cs typeface="Arial MT"/>
            </a:endParaRPr>
          </a:p>
          <a:p>
            <a:pPr marL="427355" marR="1046480" indent="-415290">
              <a:lnSpc>
                <a:spcPct val="129299"/>
              </a:lnSpc>
              <a:spcBef>
                <a:spcPts val="2470"/>
              </a:spcBef>
              <a:buClr>
                <a:srgbClr val="1F62EF"/>
              </a:buClr>
              <a:buChar char="•"/>
              <a:tabLst>
                <a:tab pos="432434" algn="l"/>
                <a:tab pos="1735455" algn="l"/>
                <a:tab pos="2304415" algn="l"/>
                <a:tab pos="6275705" algn="l"/>
              </a:tabLst>
            </a:pPr>
            <a:r>
              <a:rPr dirty="0" sz="2550">
                <a:solidFill>
                  <a:srgbClr val="504D69"/>
                </a:solidFill>
                <a:latin typeface="Arial MT"/>
                <a:cs typeface="Arial MT"/>
              </a:rPr>
              <a:t>Haptic</a:t>
            </a:r>
            <a:r>
              <a:rPr dirty="0" sz="2550" spc="355">
                <a:solidFill>
                  <a:srgbClr val="504D69"/>
                </a:solidFill>
                <a:latin typeface="Arial MT"/>
                <a:cs typeface="Arial MT"/>
              </a:rPr>
              <a:t> </a:t>
            </a:r>
            <a:r>
              <a:rPr dirty="0" sz="2550" spc="80">
                <a:solidFill>
                  <a:srgbClr val="4B4B4B"/>
                </a:solidFill>
                <a:latin typeface="Arial MT"/>
                <a:cs typeface="Arial MT"/>
              </a:rPr>
              <a:t>Interface</a:t>
            </a:r>
            <a:r>
              <a:rPr dirty="0" sz="2550" spc="30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4B4B4B"/>
                </a:solidFill>
                <a:latin typeface="Arial MT"/>
                <a:cs typeface="Arial MT"/>
              </a:rPr>
              <a:t>Designers:</a:t>
            </a:r>
            <a:r>
              <a:rPr dirty="0" sz="2550" spc="515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424242"/>
                </a:solidFill>
                <a:latin typeface="Arial MT"/>
                <a:cs typeface="Arial MT"/>
              </a:rPr>
              <a:t>Engineers</a:t>
            </a:r>
            <a:r>
              <a:rPr dirty="0" sz="2550">
                <a:solidFill>
                  <a:srgbClr val="424242"/>
                </a:solidFill>
                <a:latin typeface="Arial MT"/>
                <a:cs typeface="Arial MT"/>
              </a:rPr>
              <a:t>	</a:t>
            </a:r>
            <a:r>
              <a:rPr dirty="0" sz="2550" spc="-10">
                <a:solidFill>
                  <a:srgbClr val="424242"/>
                </a:solidFill>
                <a:latin typeface="Arial MT"/>
                <a:cs typeface="Arial MT"/>
              </a:rPr>
              <a:t>creating </a:t>
            </a:r>
            <a:r>
              <a:rPr dirty="0" sz="2550" spc="-10">
                <a:solidFill>
                  <a:srgbClr val="424242"/>
                </a:solidFill>
                <a:latin typeface="Arial MT"/>
                <a:cs typeface="Arial MT"/>
              </a:rPr>
              <a:t>	</a:t>
            </a:r>
            <a:r>
              <a:rPr dirty="0" sz="2550" spc="-10">
                <a:solidFill>
                  <a:srgbClr val="4B4B4B"/>
                </a:solidFill>
                <a:latin typeface="Arial MT"/>
                <a:cs typeface="Arial MT"/>
              </a:rPr>
              <a:t>sensory</a:t>
            </a:r>
            <a:r>
              <a:rPr dirty="0" sz="2550">
                <a:solidFill>
                  <a:srgbClr val="4B4B4B"/>
                </a:solidFill>
                <a:latin typeface="Arial MT"/>
                <a:cs typeface="Arial MT"/>
              </a:rPr>
              <a:t>	</a:t>
            </a:r>
            <a:r>
              <a:rPr dirty="0" sz="2550">
                <a:solidFill>
                  <a:srgbClr val="444444"/>
                </a:solidFill>
                <a:latin typeface="Arial MT"/>
                <a:cs typeface="Arial MT"/>
              </a:rPr>
              <a:t>suits</a:t>
            </a:r>
            <a:r>
              <a:rPr dirty="0" sz="2550" spc="30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464646"/>
                </a:solidFill>
                <a:latin typeface="Arial MT"/>
                <a:cs typeface="Arial MT"/>
              </a:rPr>
              <a:t>and</a:t>
            </a:r>
            <a:r>
              <a:rPr dirty="0" sz="2550" spc="204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494949"/>
                </a:solidFill>
                <a:latin typeface="Arial MT"/>
                <a:cs typeface="Arial MT"/>
              </a:rPr>
              <a:t>neural</a:t>
            </a:r>
            <a:r>
              <a:rPr dirty="0" sz="2550" spc="225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4D4D4D"/>
                </a:solidFill>
                <a:latin typeface="Arial MT"/>
                <a:cs typeface="Arial MT"/>
              </a:rPr>
              <a:t>links</a:t>
            </a:r>
            <a:r>
              <a:rPr dirty="0" sz="2550" spc="285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550" spc="70">
                <a:solidFill>
                  <a:srgbClr val="4D4D4D"/>
                </a:solidFill>
                <a:latin typeface="Arial MT"/>
                <a:cs typeface="Arial MT"/>
              </a:rPr>
              <a:t>to</a:t>
            </a:r>
            <a:r>
              <a:rPr dirty="0" sz="2550" spc="17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494949"/>
                </a:solidFill>
                <a:latin typeface="Arial MT"/>
                <a:cs typeface="Arial MT"/>
              </a:rPr>
              <a:t>make</a:t>
            </a:r>
            <a:r>
              <a:rPr dirty="0" sz="2550" spc="325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494949"/>
                </a:solidFill>
                <a:latin typeface="Arial MT"/>
                <a:cs typeface="Arial MT"/>
              </a:rPr>
              <a:t>digital </a:t>
            </a:r>
            <a:r>
              <a:rPr dirty="0" sz="2550" spc="-10">
                <a:solidFill>
                  <a:srgbClr val="494949"/>
                </a:solidFill>
                <a:latin typeface="Arial MT"/>
                <a:cs typeface="Arial MT"/>
              </a:rPr>
              <a:t>	</a:t>
            </a:r>
            <a:r>
              <a:rPr dirty="0" sz="2550" spc="-10">
                <a:solidFill>
                  <a:srgbClr val="414141"/>
                </a:solidFill>
                <a:latin typeface="Arial MT"/>
                <a:cs typeface="Arial MT"/>
              </a:rPr>
              <a:t>interactions</a:t>
            </a:r>
            <a:r>
              <a:rPr dirty="0" sz="2550">
                <a:solidFill>
                  <a:srgbClr val="414141"/>
                </a:solidFill>
                <a:latin typeface="Arial MT"/>
                <a:cs typeface="Arial MT"/>
              </a:rPr>
              <a:t>	</a:t>
            </a:r>
            <a:r>
              <a:rPr dirty="0" sz="2550">
                <a:solidFill>
                  <a:srgbClr val="4B4B4B"/>
                </a:solidFill>
                <a:latin typeface="Arial MT"/>
                <a:cs typeface="Arial MT"/>
              </a:rPr>
              <a:t>feel</a:t>
            </a:r>
            <a:r>
              <a:rPr dirty="0" sz="2550" spc="32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414141"/>
                </a:solidFill>
                <a:latin typeface="Arial MT"/>
                <a:cs typeface="Arial MT"/>
              </a:rPr>
              <a:t>physically</a:t>
            </a:r>
            <a:r>
              <a:rPr dirty="0" sz="2550" spc="480">
                <a:solidFill>
                  <a:srgbClr val="414141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444444"/>
                </a:solidFill>
                <a:latin typeface="Arial MT"/>
                <a:cs typeface="Arial MT"/>
              </a:rPr>
              <a:t>real.</a:t>
            </a:r>
            <a:endParaRPr sz="25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09670" y="3910875"/>
            <a:ext cx="1884759" cy="94237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706" y="0"/>
            <a:ext cx="20088393" cy="10994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023717" rIns="0" bIns="0" rtlCol="0" vert="horz">
            <a:spAutoFit/>
          </a:bodyPr>
          <a:lstStyle/>
          <a:p>
            <a:pPr marL="1061720">
              <a:lnSpc>
                <a:spcPct val="100000"/>
              </a:lnSpc>
              <a:spcBef>
                <a:spcPts val="120"/>
              </a:spcBef>
            </a:pPr>
            <a:r>
              <a:rPr dirty="0" sz="10800" spc="-2080">
                <a:solidFill>
                  <a:srgbClr val="1A1A1A"/>
                </a:solidFill>
                <a:latin typeface="Arial Black"/>
                <a:cs typeface="Arial Black"/>
              </a:rPr>
              <a:t>The</a:t>
            </a:r>
            <a:r>
              <a:rPr dirty="0" sz="10800" spc="-1864">
                <a:solidFill>
                  <a:srgbClr val="1A1A1A"/>
                </a:solidFill>
                <a:latin typeface="Arial Black"/>
                <a:cs typeface="Arial Black"/>
              </a:rPr>
              <a:t> </a:t>
            </a:r>
            <a:r>
              <a:rPr dirty="0" sz="10800" spc="-2010">
                <a:solidFill>
                  <a:srgbClr val="1A1A1A"/>
                </a:solidFill>
                <a:latin typeface="Arial Black"/>
                <a:cs typeface="Arial Black"/>
              </a:rPr>
              <a:t>NewEro</a:t>
            </a:r>
            <a:r>
              <a:rPr dirty="0" sz="10800" spc="-960">
                <a:solidFill>
                  <a:srgbClr val="1A1A1A"/>
                </a:solidFill>
                <a:latin typeface="Arial Black"/>
                <a:cs typeface="Arial Black"/>
              </a:rPr>
              <a:t> </a:t>
            </a:r>
            <a:r>
              <a:rPr dirty="0" sz="10800" spc="-1660">
                <a:solidFill>
                  <a:srgbClr val="1A1A1A"/>
                </a:solidFill>
                <a:latin typeface="Arial Black"/>
                <a:cs typeface="Arial Black"/>
              </a:rPr>
              <a:t>of</a:t>
            </a:r>
            <a:r>
              <a:rPr dirty="0" sz="10800" spc="-1375">
                <a:solidFill>
                  <a:srgbClr val="1A1A1A"/>
                </a:solidFill>
                <a:latin typeface="Arial Black"/>
                <a:cs typeface="Arial Black"/>
              </a:rPr>
              <a:t> </a:t>
            </a:r>
            <a:r>
              <a:rPr dirty="0" sz="10800" spc="-1805">
                <a:solidFill>
                  <a:srgbClr val="1A1A1A"/>
                </a:solidFill>
                <a:latin typeface="Arial Black"/>
                <a:cs typeface="Arial Black"/>
              </a:rPr>
              <a:t>Skills</a:t>
            </a:r>
            <a:endParaRPr sz="10800">
              <a:latin typeface="Arial Black"/>
              <a:cs typeface="Arial Black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subTitle" idx="4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309245" marR="5080" indent="47625">
              <a:lnSpc>
                <a:spcPct val="117000"/>
              </a:lnSpc>
              <a:spcBef>
                <a:spcPts val="90"/>
              </a:spcBef>
            </a:pPr>
            <a:r>
              <a:rPr dirty="0" sz="3700" spc="-800">
                <a:solidFill>
                  <a:srgbClr val="67778C"/>
                </a:solidFill>
                <a:latin typeface="Arial Black"/>
                <a:cs typeface="Arial Black"/>
              </a:rPr>
              <a:t>As</a:t>
            </a:r>
            <a:r>
              <a:rPr dirty="0" sz="3700" spc="-80">
                <a:solidFill>
                  <a:srgbClr val="67778C"/>
                </a:solidFill>
                <a:latin typeface="Arial Black"/>
                <a:cs typeface="Arial Black"/>
              </a:rPr>
              <a:t> </a:t>
            </a:r>
            <a:r>
              <a:rPr dirty="0" sz="3700" spc="-640">
                <a:solidFill>
                  <a:srgbClr val="677285"/>
                </a:solidFill>
                <a:latin typeface="Arial Black"/>
                <a:cs typeface="Arial Black"/>
              </a:rPr>
              <a:t>hard</a:t>
            </a:r>
            <a:r>
              <a:rPr dirty="0" sz="3700" spc="70">
                <a:solidFill>
                  <a:srgbClr val="677285"/>
                </a:solidFill>
                <a:latin typeface="Arial Black"/>
                <a:cs typeface="Arial Black"/>
              </a:rPr>
              <a:t> </a:t>
            </a:r>
            <a:r>
              <a:rPr dirty="0" sz="3700" spc="-650">
                <a:solidFill>
                  <a:srgbClr val="697087"/>
                </a:solidFill>
                <a:latin typeface="Arial Black"/>
                <a:cs typeface="Arial Black"/>
              </a:rPr>
              <a:t>skills</a:t>
            </a:r>
            <a:r>
              <a:rPr dirty="0" sz="3700" spc="90">
                <a:solidFill>
                  <a:srgbClr val="697087"/>
                </a:solidFill>
                <a:latin typeface="Arial Black"/>
                <a:cs typeface="Arial Black"/>
              </a:rPr>
              <a:t> </a:t>
            </a:r>
            <a:r>
              <a:rPr dirty="0" sz="3700" spc="-700">
                <a:solidFill>
                  <a:srgbClr val="6E7E8C"/>
                </a:solidFill>
                <a:latin typeface="Arial Black"/>
                <a:cs typeface="Arial Black"/>
              </a:rPr>
              <a:t>become</a:t>
            </a:r>
            <a:r>
              <a:rPr dirty="0" sz="3700" spc="35">
                <a:solidFill>
                  <a:srgbClr val="6E7E8C"/>
                </a:solidFill>
                <a:latin typeface="Arial Black"/>
                <a:cs typeface="Arial Black"/>
              </a:rPr>
              <a:t> </a:t>
            </a:r>
            <a:r>
              <a:rPr dirty="0" sz="3700" spc="-575">
                <a:solidFill>
                  <a:srgbClr val="697282"/>
                </a:solidFill>
                <a:latin typeface="Arial Black"/>
                <a:cs typeface="Arial Black"/>
              </a:rPr>
              <a:t>rapidly</a:t>
            </a:r>
            <a:r>
              <a:rPr dirty="0" sz="3700" spc="210">
                <a:solidFill>
                  <a:srgbClr val="697282"/>
                </a:solidFill>
                <a:latin typeface="Arial Black"/>
                <a:cs typeface="Arial Black"/>
              </a:rPr>
              <a:t> </a:t>
            </a:r>
            <a:r>
              <a:rPr dirty="0" sz="3700" spc="-585">
                <a:solidFill>
                  <a:srgbClr val="6B7787"/>
                </a:solidFill>
                <a:latin typeface="Arial Black"/>
                <a:cs typeface="Arial Black"/>
              </a:rPr>
              <a:t>obsolete,</a:t>
            </a:r>
            <a:r>
              <a:rPr dirty="0" sz="3700" spc="50">
                <a:solidFill>
                  <a:srgbClr val="6B7787"/>
                </a:solidFill>
                <a:latin typeface="Arial Black"/>
                <a:cs typeface="Arial Black"/>
              </a:rPr>
              <a:t> </a:t>
            </a:r>
            <a:r>
              <a:rPr dirty="0" sz="3700" spc="-660">
                <a:solidFill>
                  <a:srgbClr val="676767"/>
                </a:solidFill>
                <a:latin typeface="Arial Black"/>
                <a:cs typeface="Arial Black"/>
              </a:rPr>
              <a:t>the</a:t>
            </a:r>
            <a:r>
              <a:rPr dirty="0" sz="3700" spc="-120">
                <a:solidFill>
                  <a:srgbClr val="676767"/>
                </a:solidFill>
                <a:latin typeface="Arial Black"/>
                <a:cs typeface="Arial Black"/>
              </a:rPr>
              <a:t> </a:t>
            </a:r>
            <a:r>
              <a:rPr dirty="0" sz="3700" spc="-710">
                <a:solidFill>
                  <a:srgbClr val="647487"/>
                </a:solidFill>
                <a:latin typeface="Arial Black"/>
                <a:cs typeface="Arial Black"/>
              </a:rPr>
              <a:t>premium</a:t>
            </a:r>
            <a:r>
              <a:rPr dirty="0" sz="3700" spc="250">
                <a:solidFill>
                  <a:srgbClr val="647487"/>
                </a:solidFill>
                <a:latin typeface="Arial Black"/>
                <a:cs typeface="Arial Black"/>
              </a:rPr>
              <a:t> </a:t>
            </a:r>
            <a:r>
              <a:rPr dirty="0" sz="3700" spc="-685">
                <a:solidFill>
                  <a:srgbClr val="5E7489"/>
                </a:solidFill>
                <a:latin typeface="Arial Black"/>
                <a:cs typeface="Arial Black"/>
              </a:rPr>
              <a:t>will</a:t>
            </a:r>
            <a:r>
              <a:rPr dirty="0" sz="3700" spc="-60">
                <a:solidFill>
                  <a:srgbClr val="5E7489"/>
                </a:solidFill>
                <a:latin typeface="Arial Black"/>
                <a:cs typeface="Arial Black"/>
              </a:rPr>
              <a:t> </a:t>
            </a:r>
            <a:r>
              <a:rPr dirty="0" sz="3700" spc="-615">
                <a:solidFill>
                  <a:srgbClr val="67707E"/>
                </a:solidFill>
                <a:latin typeface="Arial Black"/>
                <a:cs typeface="Arial Black"/>
              </a:rPr>
              <a:t>shift </a:t>
            </a:r>
            <a:r>
              <a:rPr dirty="0" sz="3700" spc="-605">
                <a:solidFill>
                  <a:srgbClr val="626E77"/>
                </a:solidFill>
                <a:latin typeface="Arial Black"/>
                <a:cs typeface="Arial Black"/>
              </a:rPr>
              <a:t>entirely</a:t>
            </a:r>
            <a:r>
              <a:rPr dirty="0" sz="3700" spc="90">
                <a:solidFill>
                  <a:srgbClr val="626E77"/>
                </a:solidFill>
                <a:latin typeface="Arial Black"/>
                <a:cs typeface="Arial Black"/>
              </a:rPr>
              <a:t> </a:t>
            </a:r>
            <a:r>
              <a:rPr dirty="0" sz="3700" spc="-645">
                <a:solidFill>
                  <a:srgbClr val="6B7585"/>
                </a:solidFill>
                <a:latin typeface="Arial Black"/>
                <a:cs typeface="Arial Black"/>
              </a:rPr>
              <a:t>toward</a:t>
            </a:r>
            <a:r>
              <a:rPr dirty="0" sz="3700" spc="75">
                <a:solidFill>
                  <a:srgbClr val="6B7585"/>
                </a:solidFill>
                <a:latin typeface="Arial Black"/>
                <a:cs typeface="Arial Black"/>
              </a:rPr>
              <a:t> </a:t>
            </a:r>
            <a:r>
              <a:rPr dirty="0" sz="3700" spc="-625">
                <a:solidFill>
                  <a:srgbClr val="626E77"/>
                </a:solidFill>
                <a:latin typeface="Arial Black"/>
                <a:cs typeface="Arial Black"/>
              </a:rPr>
              <a:t>enduring</a:t>
            </a:r>
            <a:r>
              <a:rPr dirty="0" sz="3700" spc="175">
                <a:solidFill>
                  <a:srgbClr val="626E77"/>
                </a:solidFill>
                <a:latin typeface="Arial Black"/>
                <a:cs typeface="Arial Black"/>
              </a:rPr>
              <a:t> </a:t>
            </a:r>
            <a:r>
              <a:rPr dirty="0" sz="3700" spc="-630">
                <a:solidFill>
                  <a:srgbClr val="727B85"/>
                </a:solidFill>
                <a:latin typeface="Arial Black"/>
                <a:cs typeface="Arial Black"/>
              </a:rPr>
              <a:t>cognitive</a:t>
            </a:r>
            <a:r>
              <a:rPr dirty="0" sz="3700" spc="315">
                <a:solidFill>
                  <a:srgbClr val="727B85"/>
                </a:solidFill>
                <a:latin typeface="Arial Black"/>
                <a:cs typeface="Arial Black"/>
              </a:rPr>
              <a:t> </a:t>
            </a:r>
            <a:r>
              <a:rPr dirty="0" sz="3700" spc="-695">
                <a:solidFill>
                  <a:srgbClr val="6E7C85"/>
                </a:solidFill>
                <a:latin typeface="Arial Black"/>
                <a:cs typeface="Arial Black"/>
              </a:rPr>
              <a:t>and</a:t>
            </a:r>
            <a:r>
              <a:rPr dirty="0" sz="3700" spc="-25">
                <a:solidFill>
                  <a:srgbClr val="6E7C85"/>
                </a:solidFill>
                <a:latin typeface="Arial Black"/>
                <a:cs typeface="Arial Black"/>
              </a:rPr>
              <a:t> </a:t>
            </a:r>
            <a:r>
              <a:rPr dirty="0" sz="3700" spc="-650">
                <a:solidFill>
                  <a:srgbClr val="707989"/>
                </a:solidFill>
                <a:latin typeface="Arial Black"/>
                <a:cs typeface="Arial Black"/>
              </a:rPr>
              <a:t>emotional</a:t>
            </a:r>
            <a:r>
              <a:rPr dirty="0" sz="3700" spc="180">
                <a:solidFill>
                  <a:srgbClr val="707989"/>
                </a:solidFill>
                <a:latin typeface="Arial Black"/>
                <a:cs typeface="Arial Black"/>
              </a:rPr>
              <a:t> </a:t>
            </a:r>
            <a:r>
              <a:rPr dirty="0" sz="3700" spc="-585">
                <a:solidFill>
                  <a:srgbClr val="707789"/>
                </a:solidFill>
                <a:latin typeface="Arial Black"/>
                <a:cs typeface="Arial Black"/>
              </a:rPr>
              <a:t>capabilities.</a:t>
            </a:r>
            <a:endParaRPr sz="37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87270" y="6628070"/>
            <a:ext cx="1774815" cy="808875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706" y="0"/>
            <a:ext cx="20088393" cy="109944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4980370" y="2960377"/>
            <a:ext cx="125730" cy="3594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200" spc="-135">
                <a:solidFill>
                  <a:srgbClr val="D6F0FF"/>
                </a:solidFill>
                <a:latin typeface="Arial Black"/>
                <a:cs typeface="Arial Black"/>
              </a:rPr>
              <a:t>r</a:t>
            </a:r>
            <a:endParaRPr sz="2200">
              <a:latin typeface="Arial Black"/>
              <a:cs typeface="Arial Black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8361646" y="2960377"/>
            <a:ext cx="118745" cy="3594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200" spc="-800">
                <a:solidFill>
                  <a:srgbClr val="EFEFEF"/>
                </a:solidFill>
                <a:latin typeface="Arial Black"/>
                <a:cs typeface="Arial Black"/>
              </a:rPr>
              <a:t>a</a:t>
            </a:r>
            <a:endParaRPr sz="2200">
              <a:latin typeface="Arial Black"/>
              <a:cs typeface="Arial Black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8167290" y="5465802"/>
            <a:ext cx="6762115" cy="808990"/>
            <a:chOff x="8167290" y="5465802"/>
            <a:chExt cx="6762115" cy="808990"/>
          </a:xfrm>
        </p:grpSpPr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67290" y="5512921"/>
              <a:ext cx="573280" cy="659665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8167290" y="5465802"/>
              <a:ext cx="6762115" cy="808990"/>
            </a:xfrm>
            <a:custGeom>
              <a:avLst/>
              <a:gdLst/>
              <a:ahLst/>
              <a:cxnLst/>
              <a:rect l="l" t="t" r="r" b="b"/>
              <a:pathLst>
                <a:path w="6762115" h="808989">
                  <a:moveTo>
                    <a:pt x="6761574" y="808875"/>
                  </a:moveTo>
                  <a:lnTo>
                    <a:pt x="0" y="808875"/>
                  </a:lnTo>
                  <a:lnTo>
                    <a:pt x="0" y="0"/>
                  </a:lnTo>
                  <a:lnTo>
                    <a:pt x="6761574" y="0"/>
                  </a:lnTo>
                  <a:lnTo>
                    <a:pt x="6761574" y="808875"/>
                  </a:lnTo>
                  <a:close/>
                </a:path>
              </a:pathLst>
            </a:custGeom>
            <a:solidFill>
              <a:srgbClr val="CF872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12891210" y="5290803"/>
            <a:ext cx="2054860" cy="7715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923414">
              <a:lnSpc>
                <a:spcPts val="2920"/>
              </a:lnSpc>
              <a:spcBef>
                <a:spcPts val="125"/>
              </a:spcBef>
            </a:pPr>
            <a:r>
              <a:rPr dirty="0" sz="2550" spc="-835">
                <a:solidFill>
                  <a:srgbClr val="FBEDDF"/>
                </a:solidFill>
                <a:latin typeface="Arial Black"/>
                <a:cs typeface="Arial Black"/>
              </a:rPr>
              <a:t>a</a:t>
            </a:r>
            <a:endParaRPr sz="2550">
              <a:latin typeface="Arial Black"/>
              <a:cs typeface="Arial Black"/>
            </a:endParaRPr>
          </a:p>
          <a:p>
            <a:pPr marL="12700">
              <a:lnSpc>
                <a:spcPts val="2920"/>
              </a:lnSpc>
            </a:pPr>
            <a:r>
              <a:rPr dirty="0" sz="2550" spc="-420">
                <a:solidFill>
                  <a:srgbClr val="FFFFFF"/>
                </a:solidFill>
                <a:latin typeface="Arial Black"/>
                <a:cs typeface="Arial Black"/>
              </a:rPr>
              <a:t>70%</a:t>
            </a:r>
            <a:r>
              <a:rPr dirty="0" sz="2550" spc="-3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2550" spc="-459">
                <a:solidFill>
                  <a:srgbClr val="FFFFFF"/>
                </a:solidFill>
                <a:latin typeface="Arial Black"/>
                <a:cs typeface="Arial Black"/>
              </a:rPr>
              <a:t>Growth</a:t>
            </a:r>
            <a:endParaRPr sz="2550">
              <a:latin typeface="Arial Black"/>
              <a:cs typeface="Arial Black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61201" rIns="0" bIns="0" rtlCol="0" vert="horz">
            <a:spAutoFit/>
          </a:bodyPr>
          <a:lstStyle/>
          <a:p>
            <a:pPr marL="40640">
              <a:lnSpc>
                <a:spcPct val="100000"/>
              </a:lnSpc>
              <a:spcBef>
                <a:spcPts val="110"/>
              </a:spcBef>
            </a:pPr>
            <a:r>
              <a:rPr dirty="0" sz="5400">
                <a:solidFill>
                  <a:srgbClr val="161616"/>
                </a:solidFill>
              </a:rPr>
              <a:t>Skill</a:t>
            </a:r>
            <a:r>
              <a:rPr dirty="0" sz="5400" spc="-250">
                <a:solidFill>
                  <a:srgbClr val="161616"/>
                </a:solidFill>
              </a:rPr>
              <a:t> </a:t>
            </a:r>
            <a:r>
              <a:rPr dirty="0" sz="5400" spc="300">
                <a:solidFill>
                  <a:srgbClr val="161616"/>
                </a:solidFill>
              </a:rPr>
              <a:t>Demand</a:t>
            </a:r>
            <a:r>
              <a:rPr dirty="0" sz="5400" spc="-75">
                <a:solidFill>
                  <a:srgbClr val="161616"/>
                </a:solidFill>
              </a:rPr>
              <a:t> </a:t>
            </a:r>
            <a:r>
              <a:rPr dirty="0" sz="5400" spc="140">
                <a:solidFill>
                  <a:srgbClr val="181818"/>
                </a:solidFill>
              </a:rPr>
              <a:t>Trajectory</a:t>
            </a:r>
            <a:r>
              <a:rPr dirty="0" sz="5400" spc="260">
                <a:solidFill>
                  <a:srgbClr val="181818"/>
                </a:solidFill>
              </a:rPr>
              <a:t> </a:t>
            </a:r>
            <a:r>
              <a:rPr dirty="0" sz="5400" spc="215">
                <a:solidFill>
                  <a:srgbClr val="151515"/>
                </a:solidFill>
              </a:rPr>
              <a:t>(Current</a:t>
            </a:r>
            <a:r>
              <a:rPr dirty="0" sz="5400" spc="25">
                <a:solidFill>
                  <a:srgbClr val="151515"/>
                </a:solidFill>
              </a:rPr>
              <a:t> </a:t>
            </a:r>
            <a:r>
              <a:rPr dirty="0" sz="5400" spc="135">
                <a:solidFill>
                  <a:srgbClr val="161616"/>
                </a:solidFill>
              </a:rPr>
              <a:t>vs</a:t>
            </a:r>
            <a:r>
              <a:rPr dirty="0" sz="5400" spc="-45">
                <a:solidFill>
                  <a:srgbClr val="161616"/>
                </a:solidFill>
              </a:rPr>
              <a:t> </a:t>
            </a:r>
            <a:r>
              <a:rPr dirty="0" sz="5400" spc="110">
                <a:solidFill>
                  <a:srgbClr val="151515"/>
                </a:solidFill>
              </a:rPr>
              <a:t>2050)</a:t>
            </a:r>
            <a:endParaRPr sz="5400"/>
          </a:p>
        </p:txBody>
      </p:sp>
      <p:sp>
        <p:nvSpPr>
          <p:cNvPr id="11" name="object 11" descr=""/>
          <p:cNvSpPr txBox="1"/>
          <p:nvPr/>
        </p:nvSpPr>
        <p:spPr>
          <a:xfrm>
            <a:off x="2028529" y="3123330"/>
            <a:ext cx="2671445" cy="79502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r" marR="7620">
              <a:lnSpc>
                <a:spcPts val="3015"/>
              </a:lnSpc>
              <a:spcBef>
                <a:spcPts val="125"/>
              </a:spcBef>
            </a:pPr>
            <a:r>
              <a:rPr dirty="0" sz="2550">
                <a:solidFill>
                  <a:srgbClr val="3F5274"/>
                </a:solidFill>
                <a:latin typeface="Arial MT"/>
                <a:cs typeface="Arial MT"/>
              </a:rPr>
              <a:t>Complex</a:t>
            </a:r>
            <a:r>
              <a:rPr dirty="0" sz="2550" spc="345">
                <a:solidFill>
                  <a:srgbClr val="3F5274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4B5669"/>
                </a:solidFill>
                <a:latin typeface="Arial MT"/>
                <a:cs typeface="Arial MT"/>
              </a:rPr>
              <a:t>Problem</a:t>
            </a:r>
            <a:endParaRPr sz="2550">
              <a:latin typeface="Arial MT"/>
              <a:cs typeface="Arial MT"/>
            </a:endParaRPr>
          </a:p>
          <a:p>
            <a:pPr algn="r" marR="5080">
              <a:lnSpc>
                <a:spcPts val="3015"/>
              </a:lnSpc>
            </a:pPr>
            <a:r>
              <a:rPr dirty="0" sz="2550" spc="-10">
                <a:solidFill>
                  <a:srgbClr val="44546E"/>
                </a:solidFill>
                <a:latin typeface="Arial MT"/>
                <a:cs typeface="Arial MT"/>
              </a:rPr>
              <a:t>Solving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368425" y="4490435"/>
            <a:ext cx="3321050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50" spc="55">
                <a:solidFill>
                  <a:srgbClr val="444444"/>
                </a:solidFill>
                <a:latin typeface="Arial MT"/>
                <a:cs typeface="Arial MT"/>
              </a:rPr>
              <a:t>Emotional</a:t>
            </a:r>
            <a:r>
              <a:rPr dirty="0" sz="245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450" spc="85">
                <a:solidFill>
                  <a:srgbClr val="4D596D"/>
                </a:solidFill>
                <a:latin typeface="Arial MT"/>
                <a:cs typeface="Arial MT"/>
              </a:rPr>
              <a:t>Intelligence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456409" y="5652703"/>
            <a:ext cx="3228975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50" spc="90">
                <a:solidFill>
                  <a:srgbClr val="46546E"/>
                </a:solidFill>
                <a:latin typeface="Arial MT"/>
                <a:cs typeface="Arial MT"/>
              </a:rPr>
              <a:t>Tech/AI</a:t>
            </a:r>
            <a:r>
              <a:rPr dirty="0" sz="2450" spc="105">
                <a:solidFill>
                  <a:srgbClr val="46546E"/>
                </a:solidFill>
                <a:latin typeface="Arial MT"/>
                <a:cs typeface="Arial MT"/>
              </a:rPr>
              <a:t> </a:t>
            </a:r>
            <a:r>
              <a:rPr dirty="0" sz="2450" spc="70">
                <a:solidFill>
                  <a:srgbClr val="506274"/>
                </a:solidFill>
                <a:latin typeface="Arial MT"/>
                <a:cs typeface="Arial MT"/>
              </a:rPr>
              <a:t>Management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228588" y="6814971"/>
            <a:ext cx="3479165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50">
                <a:solidFill>
                  <a:srgbClr val="385667"/>
                </a:solidFill>
                <a:latin typeface="Arial MT"/>
                <a:cs typeface="Arial MT"/>
              </a:rPr>
              <a:t>Manual</a:t>
            </a:r>
            <a:r>
              <a:rPr dirty="0" sz="2450" spc="290">
                <a:solidFill>
                  <a:srgbClr val="385667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4B5772"/>
                </a:solidFill>
                <a:latin typeface="Arial MT"/>
                <a:cs typeface="Arial MT"/>
              </a:rPr>
              <a:t>/</a:t>
            </a:r>
            <a:r>
              <a:rPr dirty="0" sz="2450" spc="355">
                <a:solidFill>
                  <a:srgbClr val="4B5772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46566D"/>
                </a:solidFill>
                <a:latin typeface="Arial MT"/>
                <a:cs typeface="Arial MT"/>
              </a:rPr>
              <a:t>Routine</a:t>
            </a:r>
            <a:r>
              <a:rPr dirty="0" sz="2450" spc="405">
                <a:solidFill>
                  <a:srgbClr val="46566D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505E7C"/>
                </a:solidFill>
                <a:latin typeface="Arial MT"/>
                <a:cs typeface="Arial MT"/>
              </a:rPr>
              <a:t>Tasks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288077" y="8121215"/>
            <a:ext cx="15574644" cy="10306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88615" marR="5080" indent="-2876550">
              <a:lnSpc>
                <a:spcPct val="122100"/>
              </a:lnSpc>
              <a:spcBef>
                <a:spcPts val="100"/>
              </a:spcBef>
              <a:tabLst>
                <a:tab pos="1841500" algn="l"/>
                <a:tab pos="9364345" algn="l"/>
                <a:tab pos="11349990" algn="l"/>
              </a:tabLst>
            </a:pPr>
            <a:r>
              <a:rPr dirty="0" sz="2700" spc="-10">
                <a:solidFill>
                  <a:srgbClr val="444444"/>
                </a:solidFill>
                <a:latin typeface="Arial MT"/>
                <a:cs typeface="Arial MT"/>
              </a:rPr>
              <a:t>The</a:t>
            </a:r>
            <a:r>
              <a:rPr dirty="0" sz="2700" spc="-13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700" spc="-10">
                <a:solidFill>
                  <a:srgbClr val="494949"/>
                </a:solidFill>
                <a:latin typeface="Arial MT"/>
                <a:cs typeface="Arial MT"/>
              </a:rPr>
              <a:t>market</a:t>
            </a:r>
            <a:r>
              <a:rPr dirty="0" sz="2700">
                <a:solidFill>
                  <a:srgbClr val="494949"/>
                </a:solidFill>
                <a:latin typeface="Arial MT"/>
                <a:cs typeface="Arial MT"/>
              </a:rPr>
              <a:t>	</a:t>
            </a:r>
            <a:r>
              <a:rPr dirty="0" sz="2700">
                <a:solidFill>
                  <a:srgbClr val="464646"/>
                </a:solidFill>
                <a:latin typeface="Arial MT"/>
                <a:cs typeface="Arial MT"/>
              </a:rPr>
              <a:t>will</a:t>
            </a:r>
            <a:r>
              <a:rPr dirty="0" sz="2700" spc="-75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464646"/>
                </a:solidFill>
                <a:latin typeface="Arial MT"/>
                <a:cs typeface="Arial MT"/>
              </a:rPr>
              <a:t>ruthlessly</a:t>
            </a:r>
            <a:r>
              <a:rPr dirty="0" sz="2700" spc="11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700" spc="-30">
                <a:solidFill>
                  <a:srgbClr val="444444"/>
                </a:solidFill>
                <a:latin typeface="Arial MT"/>
                <a:cs typeface="Arial MT"/>
              </a:rPr>
              <a:t>penalize</a:t>
            </a:r>
            <a:r>
              <a:rPr dirty="0" sz="2700" spc="114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4D4D4D"/>
                </a:solidFill>
                <a:latin typeface="Arial MT"/>
                <a:cs typeface="Arial MT"/>
              </a:rPr>
              <a:t>highly</a:t>
            </a:r>
            <a:r>
              <a:rPr dirty="0" sz="2700" spc="2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464646"/>
                </a:solidFill>
                <a:latin typeface="Arial MT"/>
                <a:cs typeface="Arial MT"/>
              </a:rPr>
              <a:t>routine,</a:t>
            </a:r>
            <a:r>
              <a:rPr dirty="0" sz="2700" spc="4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700" spc="-10">
                <a:solidFill>
                  <a:srgbClr val="444444"/>
                </a:solidFill>
                <a:latin typeface="Arial MT"/>
                <a:cs typeface="Arial MT"/>
              </a:rPr>
              <a:t>predictable</a:t>
            </a:r>
            <a:r>
              <a:rPr dirty="0" sz="2700">
                <a:solidFill>
                  <a:srgbClr val="444444"/>
                </a:solidFill>
                <a:latin typeface="Arial MT"/>
                <a:cs typeface="Arial MT"/>
              </a:rPr>
              <a:t>	</a:t>
            </a:r>
            <a:r>
              <a:rPr dirty="0" sz="2700">
                <a:solidFill>
                  <a:srgbClr val="4D4D4D"/>
                </a:solidFill>
                <a:latin typeface="Arial MT"/>
                <a:cs typeface="Arial MT"/>
              </a:rPr>
              <a:t>work</a:t>
            </a:r>
            <a:r>
              <a:rPr dirty="0" sz="2700" spc="35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464646"/>
                </a:solidFill>
                <a:latin typeface="Arial MT"/>
                <a:cs typeface="Arial MT"/>
              </a:rPr>
              <a:t>while </a:t>
            </a:r>
            <a:r>
              <a:rPr dirty="0" sz="2700">
                <a:solidFill>
                  <a:srgbClr val="444444"/>
                </a:solidFill>
                <a:latin typeface="Arial MT"/>
                <a:cs typeface="Arial MT"/>
              </a:rPr>
              <a:t>intensely</a:t>
            </a:r>
            <a:r>
              <a:rPr dirty="0" sz="2700" spc="6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444444"/>
                </a:solidFill>
                <a:latin typeface="Arial MT"/>
                <a:cs typeface="Arial MT"/>
              </a:rPr>
              <a:t>rewarding</a:t>
            </a:r>
            <a:r>
              <a:rPr dirty="0" sz="2700" spc="15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494949"/>
                </a:solidFill>
                <a:latin typeface="Arial MT"/>
                <a:cs typeface="Arial MT"/>
              </a:rPr>
              <a:t>the</a:t>
            </a:r>
            <a:r>
              <a:rPr dirty="0" sz="2700" spc="-45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700" spc="-10">
                <a:solidFill>
                  <a:srgbClr val="444444"/>
                </a:solidFill>
                <a:latin typeface="Arial MT"/>
                <a:cs typeface="Arial MT"/>
              </a:rPr>
              <a:t>ability </a:t>
            </a:r>
            <a:r>
              <a:rPr dirty="0" sz="2700">
                <a:solidFill>
                  <a:srgbClr val="4D4D4D"/>
                </a:solidFill>
                <a:latin typeface="Arial MT"/>
                <a:cs typeface="Arial MT"/>
              </a:rPr>
              <a:t>to</a:t>
            </a:r>
            <a:r>
              <a:rPr dirty="0" sz="2700" spc="-155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700" spc="-30">
                <a:solidFill>
                  <a:srgbClr val="484848"/>
                </a:solidFill>
                <a:latin typeface="Arial MT"/>
                <a:cs typeface="Arial MT"/>
              </a:rPr>
              <a:t>navigate</a:t>
            </a:r>
            <a:r>
              <a:rPr dirty="0" sz="2700" spc="40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dirty="0" sz="2700" spc="-25">
                <a:solidFill>
                  <a:srgbClr val="494949"/>
                </a:solidFill>
                <a:latin typeface="Arial MT"/>
                <a:cs typeface="Arial MT"/>
              </a:rPr>
              <a:t>ambiguity,</a:t>
            </a:r>
            <a:r>
              <a:rPr dirty="0" sz="2700" spc="25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700" spc="-10">
                <a:solidFill>
                  <a:srgbClr val="444444"/>
                </a:solidFill>
                <a:latin typeface="Arial MT"/>
                <a:cs typeface="Arial MT"/>
              </a:rPr>
              <a:t>empathize,</a:t>
            </a:r>
            <a:r>
              <a:rPr dirty="0" sz="2700" spc="2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700" spc="-20">
                <a:solidFill>
                  <a:srgbClr val="4F4F4F"/>
                </a:solidFill>
                <a:latin typeface="Arial MT"/>
                <a:cs typeface="Arial MT"/>
              </a:rPr>
              <a:t>and</a:t>
            </a:r>
            <a:r>
              <a:rPr dirty="0" sz="2700" spc="-12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2700" spc="-65">
                <a:solidFill>
                  <a:srgbClr val="4B4B4B"/>
                </a:solidFill>
                <a:latin typeface="Arial MT"/>
                <a:cs typeface="Arial MT"/>
              </a:rPr>
              <a:t>manage</a:t>
            </a:r>
            <a:r>
              <a:rPr dirty="0" sz="2700" spc="4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700" spc="-10">
                <a:solidFill>
                  <a:srgbClr val="494949"/>
                </a:solidFill>
                <a:latin typeface="Arial MT"/>
                <a:cs typeface="Arial MT"/>
              </a:rPr>
              <a:t>complex</a:t>
            </a:r>
            <a:r>
              <a:rPr dirty="0" sz="2700">
                <a:solidFill>
                  <a:srgbClr val="494949"/>
                </a:solidFill>
                <a:latin typeface="Arial MT"/>
                <a:cs typeface="Arial MT"/>
              </a:rPr>
              <a:t>	</a:t>
            </a:r>
            <a:r>
              <a:rPr dirty="0" sz="2700" spc="-10">
                <a:solidFill>
                  <a:srgbClr val="494949"/>
                </a:solidFill>
                <a:latin typeface="Arial MT"/>
                <a:cs typeface="Arial MT"/>
              </a:rPr>
              <a:t>systems.</a:t>
            </a:r>
            <a:endParaRPr sz="2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06" y="0"/>
            <a:ext cx="20088393" cy="10994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51450" rIns="0" bIns="0" rtlCol="0" vert="horz">
            <a:spAutoFit/>
          </a:bodyPr>
          <a:lstStyle/>
          <a:p>
            <a:pPr marL="29845">
              <a:lnSpc>
                <a:spcPct val="100000"/>
              </a:lnSpc>
              <a:spcBef>
                <a:spcPts val="130"/>
              </a:spcBef>
            </a:pPr>
            <a:r>
              <a:rPr dirty="0" sz="6150" spc="-1005">
                <a:solidFill>
                  <a:srgbClr val="1A1A1A"/>
                </a:solidFill>
                <a:latin typeface="Arial Black"/>
                <a:cs typeface="Arial Black"/>
              </a:rPr>
              <a:t>Essential</a:t>
            </a:r>
            <a:r>
              <a:rPr dirty="0" sz="6150" spc="-390">
                <a:solidFill>
                  <a:srgbClr val="1A1A1A"/>
                </a:solidFill>
                <a:latin typeface="Arial Black"/>
                <a:cs typeface="Arial Black"/>
              </a:rPr>
              <a:t> </a:t>
            </a:r>
            <a:r>
              <a:rPr dirty="0" sz="6150" spc="-1010">
                <a:latin typeface="Arial Black"/>
                <a:cs typeface="Arial Black"/>
              </a:rPr>
              <a:t>Competencies</a:t>
            </a:r>
            <a:r>
              <a:rPr dirty="0" sz="6150" spc="380">
                <a:latin typeface="Arial Black"/>
                <a:cs typeface="Arial Black"/>
              </a:rPr>
              <a:t> </a:t>
            </a:r>
            <a:r>
              <a:rPr dirty="0" sz="6150" spc="-925">
                <a:solidFill>
                  <a:srgbClr val="181818"/>
                </a:solidFill>
                <a:latin typeface="Arial Black"/>
                <a:cs typeface="Arial Black"/>
              </a:rPr>
              <a:t>for</a:t>
            </a:r>
            <a:r>
              <a:rPr dirty="0" sz="6150" spc="-355">
                <a:solidFill>
                  <a:srgbClr val="181818"/>
                </a:solidFill>
                <a:latin typeface="Arial Black"/>
                <a:cs typeface="Arial Black"/>
              </a:rPr>
              <a:t> </a:t>
            </a:r>
            <a:r>
              <a:rPr dirty="0" sz="6150" spc="-1050">
                <a:solidFill>
                  <a:srgbClr val="161616"/>
                </a:solidFill>
                <a:latin typeface="Arial Black"/>
                <a:cs typeface="Arial Black"/>
              </a:rPr>
              <a:t>2050</a:t>
            </a:r>
            <a:endParaRPr sz="6150">
              <a:latin typeface="Arial Black"/>
              <a:cs typeface="Arial Black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967549" y="2089984"/>
            <a:ext cx="14314169" cy="1722120"/>
          </a:xfrm>
          <a:prstGeom prst="rect">
            <a:avLst/>
          </a:prstGeom>
        </p:spPr>
        <p:txBody>
          <a:bodyPr wrap="square" lIns="0" tIns="1974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55"/>
              </a:spcBef>
            </a:pPr>
            <a:r>
              <a:rPr dirty="0" sz="2700" spc="185">
                <a:solidFill>
                  <a:srgbClr val="070707"/>
                </a:solidFill>
                <a:latin typeface="Arial MT"/>
                <a:cs typeface="Arial MT"/>
              </a:rPr>
              <a:t>Hyper-</a:t>
            </a:r>
            <a:r>
              <a:rPr dirty="0" sz="2700" spc="160">
                <a:solidFill>
                  <a:srgbClr val="070707"/>
                </a:solidFill>
                <a:latin typeface="Arial MT"/>
                <a:cs typeface="Arial MT"/>
              </a:rPr>
              <a:t>Adaptability</a:t>
            </a:r>
            <a:r>
              <a:rPr dirty="0" sz="2700" spc="165">
                <a:solidFill>
                  <a:srgbClr val="070707"/>
                </a:solidFill>
                <a:latin typeface="Arial MT"/>
                <a:cs typeface="Arial MT"/>
              </a:rPr>
              <a:t> </a:t>
            </a:r>
            <a:r>
              <a:rPr dirty="0" sz="2700" spc="140">
                <a:solidFill>
                  <a:srgbClr val="070707"/>
                </a:solidFill>
                <a:latin typeface="Arial MT"/>
                <a:cs typeface="Arial MT"/>
              </a:rPr>
              <a:t>(Agility</a:t>
            </a:r>
            <a:r>
              <a:rPr dirty="0" sz="2700" spc="220">
                <a:solidFill>
                  <a:srgbClr val="070707"/>
                </a:solidFill>
                <a:latin typeface="Arial MT"/>
                <a:cs typeface="Arial MT"/>
              </a:rPr>
              <a:t> </a:t>
            </a:r>
            <a:r>
              <a:rPr dirty="0" sz="2700" spc="70">
                <a:solidFill>
                  <a:srgbClr val="0F0F0F"/>
                </a:solidFill>
                <a:latin typeface="Arial MT"/>
                <a:cs typeface="Arial MT"/>
              </a:rPr>
              <a:t>Quotient)</a:t>
            </a:r>
            <a:endParaRPr sz="2700">
              <a:latin typeface="Arial MT"/>
              <a:cs typeface="Arial MT"/>
            </a:endParaRPr>
          </a:p>
          <a:p>
            <a:pPr marL="20320" marR="5080" indent="3175">
              <a:lnSpc>
                <a:spcPct val="122100"/>
              </a:lnSpc>
              <a:spcBef>
                <a:spcPts val="745"/>
              </a:spcBef>
              <a:tabLst>
                <a:tab pos="6017260" algn="l"/>
                <a:tab pos="7480300" algn="l"/>
              </a:tabLst>
            </a:pPr>
            <a:r>
              <a:rPr dirty="0" sz="2700" spc="-10">
                <a:solidFill>
                  <a:srgbClr val="4F4F4F"/>
                </a:solidFill>
                <a:latin typeface="Arial MT"/>
                <a:cs typeface="Arial MT"/>
              </a:rPr>
              <a:t>The</a:t>
            </a:r>
            <a:r>
              <a:rPr dirty="0" sz="2700" spc="-3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464646"/>
                </a:solidFill>
                <a:latin typeface="Arial MT"/>
                <a:cs typeface="Arial MT"/>
              </a:rPr>
              <a:t>ability</a:t>
            </a:r>
            <a:r>
              <a:rPr dirty="0" sz="2700" spc="-25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494949"/>
                </a:solidFill>
                <a:latin typeface="Arial MT"/>
                <a:cs typeface="Arial MT"/>
              </a:rPr>
              <a:t>to</a:t>
            </a:r>
            <a:r>
              <a:rPr dirty="0" sz="2700" spc="-135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464646"/>
                </a:solidFill>
                <a:latin typeface="Arial MT"/>
                <a:cs typeface="Arial MT"/>
              </a:rPr>
              <a:t>rapidly</a:t>
            </a:r>
            <a:r>
              <a:rPr dirty="0" sz="2700" spc="-4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700" spc="-10">
                <a:solidFill>
                  <a:srgbClr val="424242"/>
                </a:solidFill>
                <a:latin typeface="Arial MT"/>
                <a:cs typeface="Arial MT"/>
              </a:rPr>
              <a:t>unlearn</a:t>
            </a:r>
            <a:r>
              <a:rPr dirty="0" sz="2700" spc="2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424242"/>
                </a:solidFill>
                <a:latin typeface="Arial MT"/>
                <a:cs typeface="Arial MT"/>
              </a:rPr>
              <a:t>outdated</a:t>
            </a:r>
            <a:r>
              <a:rPr dirty="0" sz="2700" spc="-55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2700" spc="-10">
                <a:solidFill>
                  <a:srgbClr val="464646"/>
                </a:solidFill>
                <a:latin typeface="Arial MT"/>
                <a:cs typeface="Arial MT"/>
              </a:rPr>
              <a:t>paradigms</a:t>
            </a:r>
            <a:r>
              <a:rPr dirty="0" sz="2700">
                <a:solidFill>
                  <a:srgbClr val="464646"/>
                </a:solidFill>
                <a:latin typeface="Arial MT"/>
                <a:cs typeface="Arial MT"/>
              </a:rPr>
              <a:t>	</a:t>
            </a:r>
            <a:r>
              <a:rPr dirty="0" sz="2700" spc="-10">
                <a:solidFill>
                  <a:srgbClr val="4D4D4D"/>
                </a:solidFill>
                <a:latin typeface="Arial MT"/>
                <a:cs typeface="Arial MT"/>
              </a:rPr>
              <a:t>and</a:t>
            </a:r>
            <a:r>
              <a:rPr dirty="0" sz="2700" spc="-7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700" spc="-10">
                <a:solidFill>
                  <a:srgbClr val="424242"/>
                </a:solidFill>
                <a:latin typeface="Arial MT"/>
                <a:cs typeface="Arial MT"/>
              </a:rPr>
              <a:t>acquire</a:t>
            </a:r>
            <a:r>
              <a:rPr dirty="0" sz="2700" spc="2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4F4F4F"/>
                </a:solidFill>
                <a:latin typeface="Arial MT"/>
                <a:cs typeface="Arial MT"/>
              </a:rPr>
              <a:t>new</a:t>
            </a:r>
            <a:r>
              <a:rPr dirty="0" sz="2700" spc="1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4F4F4F"/>
                </a:solidFill>
                <a:latin typeface="Arial MT"/>
                <a:cs typeface="Arial MT"/>
              </a:rPr>
              <a:t>skills</a:t>
            </a:r>
            <a:r>
              <a:rPr dirty="0" sz="2700" spc="1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464646"/>
                </a:solidFill>
                <a:latin typeface="Arial MT"/>
                <a:cs typeface="Arial MT"/>
              </a:rPr>
              <a:t>every</a:t>
            </a:r>
            <a:r>
              <a:rPr dirty="0" sz="2700" spc="45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700" spc="-10">
                <a:solidFill>
                  <a:srgbClr val="464646"/>
                </a:solidFill>
                <a:latin typeface="Arial MT"/>
                <a:cs typeface="Arial MT"/>
              </a:rPr>
              <a:t>2-</a:t>
            </a:r>
            <a:r>
              <a:rPr dirty="0" sz="2700">
                <a:solidFill>
                  <a:srgbClr val="464646"/>
                </a:solidFill>
                <a:latin typeface="Arial MT"/>
                <a:cs typeface="Arial MT"/>
              </a:rPr>
              <a:t>3</a:t>
            </a:r>
            <a:r>
              <a:rPr dirty="0" sz="2700" spc="-55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464646"/>
                </a:solidFill>
                <a:latin typeface="Arial MT"/>
                <a:cs typeface="Arial MT"/>
              </a:rPr>
              <a:t>years. </a:t>
            </a:r>
            <a:r>
              <a:rPr dirty="0" sz="2700" spc="-35">
                <a:solidFill>
                  <a:srgbClr val="424242"/>
                </a:solidFill>
                <a:latin typeface="Arial MT"/>
                <a:cs typeface="Arial MT"/>
              </a:rPr>
              <a:t>Static </a:t>
            </a:r>
            <a:r>
              <a:rPr dirty="0" sz="2700">
                <a:solidFill>
                  <a:srgbClr val="494949"/>
                </a:solidFill>
                <a:latin typeface="Arial MT"/>
                <a:cs typeface="Arial MT"/>
              </a:rPr>
              <a:t>degrees</a:t>
            </a:r>
            <a:r>
              <a:rPr dirty="0" sz="2700" spc="12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445270"/>
                </a:solidFill>
                <a:latin typeface="Arial MT"/>
                <a:cs typeface="Arial MT"/>
              </a:rPr>
              <a:t>will</a:t>
            </a:r>
            <a:r>
              <a:rPr dirty="0" sz="2700" spc="-100">
                <a:solidFill>
                  <a:srgbClr val="445270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4F4F4F"/>
                </a:solidFill>
                <a:latin typeface="Arial MT"/>
                <a:cs typeface="Arial MT"/>
              </a:rPr>
              <a:t>be</a:t>
            </a:r>
            <a:r>
              <a:rPr dirty="0" sz="2700" spc="-6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2700" spc="-10">
                <a:solidFill>
                  <a:srgbClr val="424242"/>
                </a:solidFill>
                <a:latin typeface="Arial MT"/>
                <a:cs typeface="Arial MT"/>
              </a:rPr>
              <a:t>replaced </a:t>
            </a:r>
            <a:r>
              <a:rPr dirty="0" sz="2700">
                <a:solidFill>
                  <a:srgbClr val="525252"/>
                </a:solidFill>
                <a:latin typeface="Arial MT"/>
                <a:cs typeface="Arial MT"/>
              </a:rPr>
              <a:t>by</a:t>
            </a:r>
            <a:r>
              <a:rPr dirty="0" sz="2700" spc="-8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2700" spc="-10">
                <a:solidFill>
                  <a:srgbClr val="424242"/>
                </a:solidFill>
                <a:latin typeface="Arial MT"/>
                <a:cs typeface="Arial MT"/>
              </a:rPr>
              <a:t>continuous</a:t>
            </a:r>
            <a:r>
              <a:rPr dirty="0" sz="2700">
                <a:solidFill>
                  <a:srgbClr val="424242"/>
                </a:solidFill>
                <a:latin typeface="Arial MT"/>
                <a:cs typeface="Arial MT"/>
              </a:rPr>
              <a:t>	</a:t>
            </a:r>
            <a:r>
              <a:rPr dirty="0" sz="2700">
                <a:solidFill>
                  <a:srgbClr val="494949"/>
                </a:solidFill>
                <a:latin typeface="Arial MT"/>
                <a:cs typeface="Arial MT"/>
              </a:rPr>
              <a:t>micro-</a:t>
            </a:r>
            <a:r>
              <a:rPr dirty="0" sz="2700" spc="-10">
                <a:solidFill>
                  <a:srgbClr val="494949"/>
                </a:solidFill>
                <a:latin typeface="Arial MT"/>
                <a:cs typeface="Arial MT"/>
              </a:rPr>
              <a:t>credentialing.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177966" y="4379182"/>
            <a:ext cx="539750" cy="438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00" spc="-430" i="1">
                <a:solidFill>
                  <a:srgbClr val="2664DD"/>
                </a:solidFill>
                <a:latin typeface="Arial"/>
                <a:cs typeface="Arial"/>
              </a:rPr>
              <a:t>,”•’</a:t>
            </a:r>
            <a:r>
              <a:rPr dirty="0" sz="2700" spc="170" i="1">
                <a:solidFill>
                  <a:srgbClr val="2664DD"/>
                </a:solidFill>
                <a:latin typeface="Arial"/>
                <a:cs typeface="Arial"/>
              </a:rPr>
              <a:t> </a:t>
            </a:r>
            <a:r>
              <a:rPr dirty="0" sz="2700" spc="-484" i="1">
                <a:solidFill>
                  <a:srgbClr val="2664DD"/>
                </a:solidFill>
                <a:latin typeface="Arial"/>
                <a:cs typeface="Arial"/>
              </a:rPr>
              <a:t>"•*</a:t>
            </a:r>
            <a:endParaRPr sz="27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972412" y="4178927"/>
            <a:ext cx="13842365" cy="1753235"/>
          </a:xfrm>
          <a:prstGeom prst="rect">
            <a:avLst/>
          </a:prstGeom>
        </p:spPr>
        <p:txBody>
          <a:bodyPr wrap="square" lIns="0" tIns="213360" rIns="0" bIns="0" rtlCol="0" vert="horz">
            <a:spAutoFit/>
          </a:bodyPr>
          <a:lstStyle/>
          <a:p>
            <a:pPr marL="19685">
              <a:lnSpc>
                <a:spcPct val="100000"/>
              </a:lnSpc>
              <a:spcBef>
                <a:spcPts val="1680"/>
              </a:spcBef>
            </a:pPr>
            <a:r>
              <a:rPr dirty="0" sz="2700" spc="145">
                <a:solidFill>
                  <a:srgbClr val="0F0F0F"/>
                </a:solidFill>
                <a:latin typeface="Arial MT"/>
                <a:cs typeface="Arial MT"/>
              </a:rPr>
              <a:t>Advanced</a:t>
            </a:r>
            <a:r>
              <a:rPr dirty="0" sz="2700" spc="16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dirty="0" sz="2700" spc="85">
                <a:solidFill>
                  <a:srgbClr val="131313"/>
                </a:solidFill>
                <a:latin typeface="Arial MT"/>
                <a:cs typeface="Arial MT"/>
              </a:rPr>
              <a:t>Emotional</a:t>
            </a:r>
            <a:r>
              <a:rPr dirty="0" sz="2700" spc="8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2700" spc="120">
                <a:solidFill>
                  <a:srgbClr val="131313"/>
                </a:solidFill>
                <a:latin typeface="Arial MT"/>
                <a:cs typeface="Arial MT"/>
              </a:rPr>
              <a:t>Intelligence</a:t>
            </a:r>
            <a:r>
              <a:rPr dirty="0" sz="2700" spc="31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2700" spc="-20">
                <a:solidFill>
                  <a:srgbClr val="111111"/>
                </a:solidFill>
                <a:latin typeface="Arial MT"/>
                <a:cs typeface="Arial MT"/>
              </a:rPr>
              <a:t>(EQ)</a:t>
            </a:r>
            <a:endParaRPr sz="2700">
              <a:latin typeface="Arial MT"/>
              <a:cs typeface="Arial MT"/>
            </a:endParaRPr>
          </a:p>
          <a:p>
            <a:pPr marL="12700" marR="5080" indent="15240">
              <a:lnSpc>
                <a:spcPct val="122100"/>
              </a:lnSpc>
              <a:spcBef>
                <a:spcPts val="870"/>
              </a:spcBef>
              <a:tabLst>
                <a:tab pos="10390505" algn="l"/>
              </a:tabLst>
            </a:pPr>
            <a:r>
              <a:rPr dirty="0" sz="2700" spc="-25">
                <a:solidFill>
                  <a:srgbClr val="3D495E"/>
                </a:solidFill>
                <a:latin typeface="Arial MT"/>
                <a:cs typeface="Arial MT"/>
              </a:rPr>
              <a:t>As</a:t>
            </a:r>
            <a:r>
              <a:rPr dirty="0" sz="2700" spc="-75">
                <a:solidFill>
                  <a:srgbClr val="3D495E"/>
                </a:solidFill>
                <a:latin typeface="Arial MT"/>
                <a:cs typeface="Arial MT"/>
              </a:rPr>
              <a:t> </a:t>
            </a:r>
            <a:r>
              <a:rPr dirty="0" sz="2700" spc="-30">
                <a:solidFill>
                  <a:srgbClr val="464646"/>
                </a:solidFill>
                <a:latin typeface="Arial MT"/>
                <a:cs typeface="Arial MT"/>
              </a:rPr>
              <a:t>machines</a:t>
            </a:r>
            <a:r>
              <a:rPr dirty="0" sz="2700" spc="9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700" spc="-35">
                <a:solidFill>
                  <a:srgbClr val="525252"/>
                </a:solidFill>
                <a:latin typeface="Arial MT"/>
                <a:cs typeface="Arial MT"/>
              </a:rPr>
              <a:t>handle</a:t>
            </a:r>
            <a:r>
              <a:rPr dirty="0" sz="2700" spc="15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464646"/>
                </a:solidFill>
                <a:latin typeface="Arial MT"/>
                <a:cs typeface="Arial MT"/>
              </a:rPr>
              <a:t>logic,</a:t>
            </a:r>
            <a:r>
              <a:rPr dirty="0" sz="2700" spc="-10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700" spc="-30">
                <a:solidFill>
                  <a:srgbClr val="494949"/>
                </a:solidFill>
                <a:latin typeface="Arial MT"/>
                <a:cs typeface="Arial MT"/>
              </a:rPr>
              <a:t>humans</a:t>
            </a:r>
            <a:r>
              <a:rPr dirty="0" sz="2700" spc="-5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525252"/>
                </a:solidFill>
                <a:latin typeface="Arial MT"/>
                <a:cs typeface="Arial MT"/>
              </a:rPr>
              <a:t>must </a:t>
            </a:r>
            <a:r>
              <a:rPr dirty="0" sz="2700" spc="-35">
                <a:solidFill>
                  <a:srgbClr val="4F4F4F"/>
                </a:solidFill>
                <a:latin typeface="Arial MT"/>
                <a:cs typeface="Arial MT"/>
              </a:rPr>
              <a:t>handle</a:t>
            </a:r>
            <a:r>
              <a:rPr dirty="0" sz="2700" spc="15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4B4B4B"/>
                </a:solidFill>
                <a:latin typeface="Arial MT"/>
                <a:cs typeface="Arial MT"/>
              </a:rPr>
              <a:t>relationships.</a:t>
            </a:r>
            <a:r>
              <a:rPr dirty="0" sz="2700" spc="-14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700" spc="-45">
                <a:solidFill>
                  <a:srgbClr val="4D4D4D"/>
                </a:solidFill>
                <a:latin typeface="Arial MT"/>
                <a:cs typeface="Arial MT"/>
              </a:rPr>
              <a:t>Deep</a:t>
            </a:r>
            <a:r>
              <a:rPr dirty="0" sz="2700" spc="-8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700" spc="-35">
                <a:solidFill>
                  <a:srgbClr val="494949"/>
                </a:solidFill>
                <a:latin typeface="Arial MT"/>
                <a:cs typeface="Arial MT"/>
              </a:rPr>
              <a:t>empathy,</a:t>
            </a:r>
            <a:r>
              <a:rPr dirty="0" sz="2700" spc="45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444444"/>
                </a:solidFill>
                <a:latin typeface="Arial MT"/>
                <a:cs typeface="Arial MT"/>
              </a:rPr>
              <a:t>cross-</a:t>
            </a:r>
            <a:r>
              <a:rPr dirty="0" sz="2700" spc="-10">
                <a:solidFill>
                  <a:srgbClr val="444444"/>
                </a:solidFill>
                <a:latin typeface="Arial MT"/>
                <a:cs typeface="Arial MT"/>
              </a:rPr>
              <a:t>cultural </a:t>
            </a:r>
            <a:r>
              <a:rPr dirty="0" sz="2700">
                <a:solidFill>
                  <a:srgbClr val="464646"/>
                </a:solidFill>
                <a:latin typeface="Arial MT"/>
                <a:cs typeface="Arial MT"/>
              </a:rPr>
              <a:t>negotiation,</a:t>
            </a:r>
            <a:r>
              <a:rPr dirty="0" sz="2700" spc="35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700" spc="-20">
                <a:solidFill>
                  <a:srgbClr val="525252"/>
                </a:solidFill>
                <a:latin typeface="Arial MT"/>
                <a:cs typeface="Arial MT"/>
              </a:rPr>
              <a:t>and</a:t>
            </a:r>
            <a:r>
              <a:rPr dirty="0" sz="2700" spc="-105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2700" spc="-10">
                <a:solidFill>
                  <a:srgbClr val="464646"/>
                </a:solidFill>
                <a:latin typeface="Arial MT"/>
                <a:cs typeface="Arial MT"/>
              </a:rPr>
              <a:t>complex</a:t>
            </a:r>
            <a:r>
              <a:rPr dirty="0" sz="2700" spc="6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494949"/>
                </a:solidFill>
                <a:latin typeface="Arial MT"/>
                <a:cs typeface="Arial MT"/>
              </a:rPr>
              <a:t>team</a:t>
            </a:r>
            <a:r>
              <a:rPr dirty="0" sz="2700" spc="-4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4B4B4B"/>
                </a:solidFill>
                <a:latin typeface="Arial MT"/>
                <a:cs typeface="Arial MT"/>
              </a:rPr>
              <a:t>building</a:t>
            </a:r>
            <a:r>
              <a:rPr dirty="0" sz="2700" spc="6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464646"/>
                </a:solidFill>
                <a:latin typeface="Arial MT"/>
                <a:cs typeface="Arial MT"/>
              </a:rPr>
              <a:t>will</a:t>
            </a:r>
            <a:r>
              <a:rPr dirty="0" sz="2700" spc="-13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484848"/>
                </a:solidFill>
                <a:latin typeface="Arial MT"/>
                <a:cs typeface="Arial MT"/>
              </a:rPr>
              <a:t>be</a:t>
            </a:r>
            <a:r>
              <a:rPr dirty="0" sz="2700" spc="-90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4F4F4F"/>
                </a:solidFill>
                <a:latin typeface="Arial MT"/>
                <a:cs typeface="Arial MT"/>
              </a:rPr>
              <a:t>the</a:t>
            </a:r>
            <a:r>
              <a:rPr dirty="0" sz="2700" spc="-9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4F4F4F"/>
                </a:solidFill>
                <a:latin typeface="Arial MT"/>
                <a:cs typeface="Arial MT"/>
              </a:rPr>
              <a:t>ultimate</a:t>
            </a:r>
            <a:r>
              <a:rPr dirty="0" sz="2700" spc="-2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2700" spc="-10">
                <a:solidFill>
                  <a:srgbClr val="464646"/>
                </a:solidFill>
                <a:latin typeface="Arial MT"/>
                <a:cs typeface="Arial MT"/>
              </a:rPr>
              <a:t>premium</a:t>
            </a:r>
            <a:r>
              <a:rPr dirty="0" sz="2700">
                <a:solidFill>
                  <a:srgbClr val="464646"/>
                </a:solidFill>
                <a:latin typeface="Arial MT"/>
                <a:cs typeface="Arial MT"/>
              </a:rPr>
              <a:t>	</a:t>
            </a:r>
            <a:r>
              <a:rPr dirty="0" sz="2700" spc="-10">
                <a:solidFill>
                  <a:srgbClr val="484848"/>
                </a:solidFill>
                <a:latin typeface="Arial MT"/>
                <a:cs typeface="Arial MT"/>
              </a:rPr>
              <a:t>skills.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183269" y="6314986"/>
            <a:ext cx="15511144" cy="3826510"/>
          </a:xfrm>
          <a:prstGeom prst="rect">
            <a:avLst/>
          </a:prstGeom>
        </p:spPr>
        <p:txBody>
          <a:bodyPr wrap="square" lIns="0" tIns="197485" rIns="0" bIns="0" rtlCol="0" vert="horz">
            <a:spAutoFit/>
          </a:bodyPr>
          <a:lstStyle/>
          <a:p>
            <a:pPr marL="800735">
              <a:lnSpc>
                <a:spcPct val="100000"/>
              </a:lnSpc>
              <a:spcBef>
                <a:spcPts val="1555"/>
              </a:spcBef>
            </a:pPr>
            <a:r>
              <a:rPr dirty="0" sz="2700" spc="114">
                <a:solidFill>
                  <a:srgbClr val="111111"/>
                </a:solidFill>
                <a:latin typeface="Arial MT"/>
                <a:cs typeface="Arial MT"/>
              </a:rPr>
              <a:t>Systems</a:t>
            </a:r>
            <a:r>
              <a:rPr dirty="0" sz="2700" spc="245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2700" spc="110">
                <a:solidFill>
                  <a:srgbClr val="161616"/>
                </a:solidFill>
                <a:latin typeface="Arial MT"/>
                <a:cs typeface="Arial MT"/>
              </a:rPr>
              <a:t>Thinking</a:t>
            </a:r>
            <a:endParaRPr sz="2700">
              <a:latin typeface="Arial MT"/>
              <a:cs typeface="Arial MT"/>
            </a:endParaRPr>
          </a:p>
          <a:p>
            <a:pPr marL="801370" marR="347980" indent="6350">
              <a:lnSpc>
                <a:spcPct val="122100"/>
              </a:lnSpc>
              <a:spcBef>
                <a:spcPts val="745"/>
              </a:spcBef>
              <a:tabLst>
                <a:tab pos="7823834" algn="l"/>
                <a:tab pos="10266680" algn="l"/>
                <a:tab pos="14041755" algn="l"/>
              </a:tabLst>
            </a:pPr>
            <a:r>
              <a:rPr dirty="0" sz="2700" spc="-10">
                <a:solidFill>
                  <a:srgbClr val="444444"/>
                </a:solidFill>
                <a:latin typeface="Arial MT"/>
                <a:cs typeface="Arial MT"/>
              </a:rPr>
              <a:t>The</a:t>
            </a:r>
            <a:r>
              <a:rPr dirty="0" sz="2700" spc="-5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700" spc="-10">
                <a:solidFill>
                  <a:srgbClr val="464646"/>
                </a:solidFill>
                <a:latin typeface="Arial MT"/>
                <a:cs typeface="Arial MT"/>
              </a:rPr>
              <a:t>capacity</a:t>
            </a:r>
            <a:r>
              <a:rPr dirty="0" sz="2700" spc="-15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4B4B4B"/>
                </a:solidFill>
                <a:latin typeface="Arial MT"/>
                <a:cs typeface="Arial MT"/>
              </a:rPr>
              <a:t>to</a:t>
            </a:r>
            <a:r>
              <a:rPr dirty="0" sz="2700" spc="-145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494949"/>
                </a:solidFill>
                <a:latin typeface="Arial MT"/>
                <a:cs typeface="Arial MT"/>
              </a:rPr>
              <a:t>understand</a:t>
            </a:r>
            <a:r>
              <a:rPr dirty="0" sz="2700" spc="-4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4D4D4D"/>
                </a:solidFill>
                <a:latin typeface="Arial MT"/>
                <a:cs typeface="Arial MT"/>
              </a:rPr>
              <a:t>how</a:t>
            </a:r>
            <a:r>
              <a:rPr dirty="0" sz="2700" spc="-35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700" spc="-20">
                <a:solidFill>
                  <a:srgbClr val="494949"/>
                </a:solidFill>
                <a:latin typeface="Arial MT"/>
                <a:cs typeface="Arial MT"/>
              </a:rPr>
              <a:t>various</a:t>
            </a:r>
            <a:r>
              <a:rPr dirty="0" sz="2700" spc="25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2700" spc="-10">
                <a:solidFill>
                  <a:srgbClr val="4B4B4B"/>
                </a:solidFill>
                <a:latin typeface="Arial MT"/>
                <a:cs typeface="Arial MT"/>
              </a:rPr>
              <a:t>complex</a:t>
            </a:r>
            <a:r>
              <a:rPr dirty="0" sz="2700" spc="65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700" spc="-10">
                <a:solidFill>
                  <a:srgbClr val="424242"/>
                </a:solidFill>
                <a:latin typeface="Arial MT"/>
                <a:cs typeface="Arial MT"/>
              </a:rPr>
              <a:t>components</a:t>
            </a:r>
            <a:r>
              <a:rPr dirty="0" sz="2700">
                <a:solidFill>
                  <a:srgbClr val="424242"/>
                </a:solidFill>
                <a:latin typeface="Arial MT"/>
                <a:cs typeface="Arial MT"/>
              </a:rPr>
              <a:t>	</a:t>
            </a:r>
            <a:r>
              <a:rPr dirty="0" sz="2700" spc="-55">
                <a:solidFill>
                  <a:srgbClr val="4B4B4B"/>
                </a:solidFill>
                <a:latin typeface="Arial MT"/>
                <a:cs typeface="Arial MT"/>
              </a:rPr>
              <a:t>(AI,</a:t>
            </a:r>
            <a:r>
              <a:rPr dirty="0" sz="2700" spc="-11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700" spc="-20">
                <a:solidFill>
                  <a:srgbClr val="414141"/>
                </a:solidFill>
                <a:latin typeface="Arial MT"/>
                <a:cs typeface="Arial MT"/>
              </a:rPr>
              <a:t>ecology,</a:t>
            </a:r>
            <a:r>
              <a:rPr dirty="0" sz="2700" spc="-50">
                <a:solidFill>
                  <a:srgbClr val="414141"/>
                </a:solidFill>
                <a:latin typeface="Arial MT"/>
                <a:cs typeface="Arial MT"/>
              </a:rPr>
              <a:t> </a:t>
            </a:r>
            <a:r>
              <a:rPr dirty="0" sz="2700" spc="-10">
                <a:solidFill>
                  <a:srgbClr val="4B4B4B"/>
                </a:solidFill>
                <a:latin typeface="Arial MT"/>
                <a:cs typeface="Arial MT"/>
              </a:rPr>
              <a:t>economics)</a:t>
            </a:r>
            <a:r>
              <a:rPr dirty="0" sz="2700">
                <a:solidFill>
                  <a:srgbClr val="4B4B4B"/>
                </a:solidFill>
                <a:latin typeface="Arial MT"/>
                <a:cs typeface="Arial MT"/>
              </a:rPr>
              <a:t>	</a:t>
            </a:r>
            <a:r>
              <a:rPr dirty="0" sz="2700" spc="-25">
                <a:solidFill>
                  <a:srgbClr val="4B4B4B"/>
                </a:solidFill>
                <a:latin typeface="Arial MT"/>
                <a:cs typeface="Arial MT"/>
              </a:rPr>
              <a:t>interact </a:t>
            </a:r>
            <a:r>
              <a:rPr dirty="0" sz="2700" spc="-10">
                <a:solidFill>
                  <a:srgbClr val="424242"/>
                </a:solidFill>
                <a:latin typeface="Arial MT"/>
                <a:cs typeface="Arial MT"/>
              </a:rPr>
              <a:t>holistically,</a:t>
            </a:r>
            <a:r>
              <a:rPr dirty="0" sz="2700" spc="15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4B4B4B"/>
                </a:solidFill>
                <a:latin typeface="Arial MT"/>
                <a:cs typeface="Arial MT"/>
              </a:rPr>
              <a:t>foreseeing</a:t>
            </a:r>
            <a:r>
              <a:rPr dirty="0" sz="2700" spc="-5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700" spc="-10">
                <a:solidFill>
                  <a:srgbClr val="4B4B4B"/>
                </a:solidFill>
                <a:latin typeface="Arial MT"/>
                <a:cs typeface="Arial MT"/>
              </a:rPr>
              <a:t>second</a:t>
            </a:r>
            <a:r>
              <a:rPr dirty="0" sz="2700" spc="-8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700" spc="-20">
                <a:solidFill>
                  <a:srgbClr val="4B4B4B"/>
                </a:solidFill>
                <a:latin typeface="Arial MT"/>
                <a:cs typeface="Arial MT"/>
              </a:rPr>
              <a:t>and</a:t>
            </a:r>
            <a:r>
              <a:rPr dirty="0" sz="2700" spc="-135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444444"/>
                </a:solidFill>
                <a:latin typeface="Arial MT"/>
                <a:cs typeface="Arial MT"/>
              </a:rPr>
              <a:t>third-</a:t>
            </a:r>
            <a:r>
              <a:rPr dirty="0" sz="2700" spc="-10">
                <a:solidFill>
                  <a:srgbClr val="444444"/>
                </a:solidFill>
                <a:latin typeface="Arial MT"/>
                <a:cs typeface="Arial MT"/>
              </a:rPr>
              <a:t>order</a:t>
            </a:r>
            <a:r>
              <a:rPr dirty="0" sz="2700">
                <a:solidFill>
                  <a:srgbClr val="444444"/>
                </a:solidFill>
                <a:latin typeface="Arial MT"/>
                <a:cs typeface="Arial MT"/>
              </a:rPr>
              <a:t>	</a:t>
            </a:r>
            <a:r>
              <a:rPr dirty="0" sz="2700" spc="-10">
                <a:solidFill>
                  <a:srgbClr val="424242"/>
                </a:solidFill>
                <a:latin typeface="Arial MT"/>
                <a:cs typeface="Arial MT"/>
              </a:rPr>
              <a:t>consequences.</a:t>
            </a:r>
            <a:endParaRPr sz="2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70"/>
              </a:spcBef>
            </a:pPr>
            <a:endParaRPr sz="2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tabLst>
                <a:tab pos="797560" algn="l"/>
              </a:tabLst>
            </a:pPr>
            <a:r>
              <a:rPr dirty="0" sz="2700" spc="-50">
                <a:solidFill>
                  <a:srgbClr val="2462E9"/>
                </a:solidFill>
                <a:latin typeface="Arial MT"/>
                <a:cs typeface="Arial MT"/>
              </a:rPr>
              <a:t>@</a:t>
            </a:r>
            <a:r>
              <a:rPr dirty="0" sz="2700">
                <a:solidFill>
                  <a:srgbClr val="2462E9"/>
                </a:solidFill>
                <a:latin typeface="Arial MT"/>
                <a:cs typeface="Arial MT"/>
              </a:rPr>
              <a:t>	</a:t>
            </a:r>
            <a:r>
              <a:rPr dirty="0" sz="2700" spc="135">
                <a:solidFill>
                  <a:srgbClr val="131313"/>
                </a:solidFill>
                <a:latin typeface="Arial MT"/>
                <a:cs typeface="Arial MT"/>
              </a:rPr>
              <a:t>Digital</a:t>
            </a:r>
            <a:r>
              <a:rPr dirty="0" sz="2700" spc="35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dirty="0" sz="2700" spc="95">
                <a:latin typeface="Arial MT"/>
                <a:cs typeface="Arial MT"/>
              </a:rPr>
              <a:t>Ethics</a:t>
            </a:r>
            <a:r>
              <a:rPr dirty="0" sz="2700" spc="120"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03162F"/>
                </a:solidFill>
                <a:latin typeface="Arial MT"/>
                <a:cs typeface="Arial MT"/>
              </a:rPr>
              <a:t>&amp;</a:t>
            </a:r>
            <a:r>
              <a:rPr dirty="0" sz="2700" spc="5">
                <a:solidFill>
                  <a:srgbClr val="03162F"/>
                </a:solidFill>
                <a:latin typeface="Arial MT"/>
                <a:cs typeface="Arial MT"/>
              </a:rPr>
              <a:t> </a:t>
            </a:r>
            <a:r>
              <a:rPr dirty="0" sz="2700" spc="80">
                <a:latin typeface="Arial MT"/>
                <a:cs typeface="Arial MT"/>
              </a:rPr>
              <a:t>Philosophy</a:t>
            </a:r>
            <a:endParaRPr sz="2700">
              <a:latin typeface="Arial MT"/>
              <a:cs typeface="Arial MT"/>
            </a:endParaRPr>
          </a:p>
          <a:p>
            <a:pPr marL="815340" marR="5080" indent="-10160">
              <a:lnSpc>
                <a:spcPct val="122100"/>
              </a:lnSpc>
              <a:spcBef>
                <a:spcPts val="745"/>
              </a:spcBef>
              <a:tabLst>
                <a:tab pos="6035040" algn="l"/>
                <a:tab pos="7193280" algn="l"/>
                <a:tab pos="8512810" algn="l"/>
                <a:tab pos="14386560" algn="l"/>
              </a:tabLst>
            </a:pPr>
            <a:r>
              <a:rPr dirty="0" sz="2700" spc="-20">
                <a:solidFill>
                  <a:srgbClr val="4B4B4B"/>
                </a:solidFill>
                <a:latin typeface="Arial MT"/>
                <a:cs typeface="Arial MT"/>
              </a:rPr>
              <a:t>Determining</a:t>
            </a:r>
            <a:r>
              <a:rPr dirty="0" sz="2700" spc="75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4B4B4B"/>
                </a:solidFill>
                <a:latin typeface="Arial MT"/>
                <a:cs typeface="Arial MT"/>
              </a:rPr>
              <a:t>the</a:t>
            </a:r>
            <a:r>
              <a:rPr dirty="0" sz="2700" spc="-55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484848"/>
                </a:solidFill>
                <a:latin typeface="Arial MT"/>
                <a:cs typeface="Arial MT"/>
              </a:rPr>
              <a:t>moral</a:t>
            </a:r>
            <a:r>
              <a:rPr dirty="0" sz="2700" spc="-65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dirty="0" sz="2700" spc="-10">
                <a:solidFill>
                  <a:srgbClr val="4B4B4B"/>
                </a:solidFill>
                <a:latin typeface="Arial MT"/>
                <a:cs typeface="Arial MT"/>
              </a:rPr>
              <a:t>boundaries</a:t>
            </a:r>
            <a:r>
              <a:rPr dirty="0" sz="2700">
                <a:solidFill>
                  <a:srgbClr val="4B4B4B"/>
                </a:solidFill>
                <a:latin typeface="Arial MT"/>
                <a:cs typeface="Arial MT"/>
              </a:rPr>
              <a:t>	</a:t>
            </a:r>
            <a:r>
              <a:rPr dirty="0" sz="2700">
                <a:solidFill>
                  <a:srgbClr val="565656"/>
                </a:solidFill>
                <a:latin typeface="Arial MT"/>
                <a:cs typeface="Arial MT"/>
              </a:rPr>
              <a:t>of</a:t>
            </a:r>
            <a:r>
              <a:rPr dirty="0" sz="2700" spc="60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dirty="0" sz="2700" spc="-10">
                <a:solidFill>
                  <a:srgbClr val="4B4B4B"/>
                </a:solidFill>
                <a:latin typeface="Arial MT"/>
                <a:cs typeface="Arial MT"/>
              </a:rPr>
              <a:t>technological</a:t>
            </a:r>
            <a:r>
              <a:rPr dirty="0" sz="2700">
                <a:solidFill>
                  <a:srgbClr val="4B4B4B"/>
                </a:solidFill>
                <a:latin typeface="Arial MT"/>
                <a:cs typeface="Arial MT"/>
              </a:rPr>
              <a:t>	</a:t>
            </a:r>
            <a:r>
              <a:rPr dirty="0" sz="2700">
                <a:solidFill>
                  <a:srgbClr val="383838"/>
                </a:solidFill>
                <a:latin typeface="Arial MT"/>
                <a:cs typeface="Arial MT"/>
              </a:rPr>
              <a:t>implementation.</a:t>
            </a:r>
            <a:r>
              <a:rPr dirty="0" sz="2700" spc="-14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dirty="0" sz="2700" spc="-40">
                <a:solidFill>
                  <a:srgbClr val="464646"/>
                </a:solidFill>
                <a:latin typeface="Arial MT"/>
                <a:cs typeface="Arial MT"/>
              </a:rPr>
              <a:t>Leaders</a:t>
            </a:r>
            <a:r>
              <a:rPr dirty="0" sz="2700" spc="7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4B4B4B"/>
                </a:solidFill>
                <a:latin typeface="Arial MT"/>
                <a:cs typeface="Arial MT"/>
              </a:rPr>
              <a:t>must</a:t>
            </a:r>
            <a:r>
              <a:rPr dirty="0" sz="2700" spc="6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700" spc="-10">
                <a:solidFill>
                  <a:srgbClr val="4B4B4B"/>
                </a:solidFill>
                <a:latin typeface="Arial MT"/>
                <a:cs typeface="Arial MT"/>
              </a:rPr>
              <a:t>answer</a:t>
            </a:r>
            <a:r>
              <a:rPr dirty="0" sz="2700">
                <a:solidFill>
                  <a:srgbClr val="4B4B4B"/>
                </a:solidFill>
                <a:latin typeface="Arial MT"/>
                <a:cs typeface="Arial MT"/>
              </a:rPr>
              <a:t>	</a:t>
            </a:r>
            <a:r>
              <a:rPr dirty="0" sz="2700" spc="-35">
                <a:solidFill>
                  <a:srgbClr val="4D4D4D"/>
                </a:solidFill>
                <a:latin typeface="Arial MT"/>
                <a:cs typeface="Arial MT"/>
              </a:rPr>
              <a:t>"should </a:t>
            </a:r>
            <a:r>
              <a:rPr dirty="0" sz="2700" spc="-40">
                <a:solidFill>
                  <a:srgbClr val="4D4D4D"/>
                </a:solidFill>
                <a:latin typeface="Arial MT"/>
                <a:cs typeface="Arial MT"/>
              </a:rPr>
              <a:t>we?"</a:t>
            </a:r>
            <a:r>
              <a:rPr dirty="0" sz="270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4F4F4F"/>
                </a:solidFill>
                <a:latin typeface="Arial MT"/>
                <a:cs typeface="Arial MT"/>
              </a:rPr>
              <a:t>rather</a:t>
            </a:r>
            <a:r>
              <a:rPr dirty="0" sz="2700" spc="4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4D4D4D"/>
                </a:solidFill>
                <a:latin typeface="Arial MT"/>
                <a:cs typeface="Arial MT"/>
              </a:rPr>
              <a:t>than</a:t>
            </a:r>
            <a:r>
              <a:rPr dirty="0" sz="2700" spc="-1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444444"/>
                </a:solidFill>
                <a:latin typeface="Arial MT"/>
                <a:cs typeface="Arial MT"/>
              </a:rPr>
              <a:t>just</a:t>
            </a:r>
            <a:r>
              <a:rPr dirty="0" sz="2700" spc="5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2700">
                <a:solidFill>
                  <a:srgbClr val="505050"/>
                </a:solidFill>
                <a:latin typeface="Arial MT"/>
                <a:cs typeface="Arial MT"/>
              </a:rPr>
              <a:t>"can</a:t>
            </a:r>
            <a:r>
              <a:rPr dirty="0" sz="2700" spc="-50">
                <a:solidFill>
                  <a:srgbClr val="505050"/>
                </a:solidFill>
                <a:latin typeface="Arial MT"/>
                <a:cs typeface="Arial MT"/>
              </a:rPr>
              <a:t> </a:t>
            </a:r>
            <a:r>
              <a:rPr dirty="0" sz="2700" spc="-30">
                <a:solidFill>
                  <a:srgbClr val="4B4B4B"/>
                </a:solidFill>
                <a:latin typeface="Arial MT"/>
                <a:cs typeface="Arial MT"/>
              </a:rPr>
              <a:t>we?"</a:t>
            </a:r>
            <a:r>
              <a:rPr dirty="0" sz="2700" spc="-45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2700" spc="-10">
                <a:solidFill>
                  <a:srgbClr val="464646"/>
                </a:solidFill>
                <a:latin typeface="Arial MT"/>
                <a:cs typeface="Arial MT"/>
              </a:rPr>
              <a:t>regarding</a:t>
            </a:r>
            <a:r>
              <a:rPr dirty="0" sz="2700">
                <a:solidFill>
                  <a:srgbClr val="464646"/>
                </a:solidFill>
                <a:latin typeface="Arial MT"/>
                <a:cs typeface="Arial MT"/>
              </a:rPr>
              <a:t>	</a:t>
            </a:r>
            <a:r>
              <a:rPr dirty="0" sz="2700" spc="-140">
                <a:solidFill>
                  <a:srgbClr val="4D4D4D"/>
                </a:solidFill>
                <a:latin typeface="Arial MT"/>
                <a:cs typeface="Arial MT"/>
              </a:rPr>
              <a:t>AI</a:t>
            </a:r>
            <a:r>
              <a:rPr dirty="0" sz="2700" spc="-5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dirty="0" sz="2700" spc="-20">
                <a:solidFill>
                  <a:srgbClr val="525252"/>
                </a:solidFill>
                <a:latin typeface="Arial MT"/>
                <a:cs typeface="Arial MT"/>
              </a:rPr>
              <a:t>and</a:t>
            </a:r>
            <a:r>
              <a:rPr dirty="0" sz="2700" spc="-155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2700" spc="-10">
                <a:solidFill>
                  <a:srgbClr val="383838"/>
                </a:solidFill>
                <a:latin typeface="Arial MT"/>
                <a:cs typeface="Arial MT"/>
              </a:rPr>
              <a:t>biotech.</a:t>
            </a:r>
            <a:endParaRPr sz="2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06" y="0"/>
            <a:ext cx="20088393" cy="10994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65576" rIns="0" bIns="0" rtlCol="0" vert="horz">
            <a:spAutoFit/>
          </a:bodyPr>
          <a:lstStyle/>
          <a:p>
            <a:pPr marL="45720">
              <a:lnSpc>
                <a:spcPct val="100000"/>
              </a:lnSpc>
              <a:spcBef>
                <a:spcPts val="130"/>
              </a:spcBef>
            </a:pPr>
            <a:r>
              <a:rPr dirty="0" sz="6150" spc="-855">
                <a:solidFill>
                  <a:srgbClr val="161616"/>
                </a:solidFill>
                <a:latin typeface="Arial Black"/>
                <a:cs typeface="Arial Black"/>
              </a:rPr>
              <a:t>Transformation</a:t>
            </a:r>
            <a:r>
              <a:rPr dirty="0" sz="6150" spc="-755">
                <a:solidFill>
                  <a:srgbClr val="161616"/>
                </a:solidFill>
                <a:latin typeface="Arial Black"/>
                <a:cs typeface="Arial Black"/>
              </a:rPr>
              <a:t> </a:t>
            </a:r>
            <a:r>
              <a:rPr dirty="0" sz="6150" spc="-1040">
                <a:solidFill>
                  <a:srgbClr val="131313"/>
                </a:solidFill>
                <a:latin typeface="Arial Black"/>
                <a:cs typeface="Arial Black"/>
              </a:rPr>
              <a:t>Milestones</a:t>
            </a:r>
            <a:endParaRPr sz="6150">
              <a:latin typeface="Arial Black"/>
              <a:cs typeface="Arial Black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82384" y="7453041"/>
            <a:ext cx="4084954" cy="24434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0160">
              <a:lnSpc>
                <a:spcPct val="100000"/>
              </a:lnSpc>
              <a:spcBef>
                <a:spcPts val="105"/>
              </a:spcBef>
            </a:pPr>
            <a:r>
              <a:rPr dirty="0" sz="3600" spc="-530">
                <a:solidFill>
                  <a:srgbClr val="1A62E8"/>
                </a:solidFill>
                <a:latin typeface="Arial Black"/>
                <a:cs typeface="Arial Black"/>
              </a:rPr>
              <a:t>2030</a:t>
            </a:r>
            <a:endParaRPr sz="3600">
              <a:latin typeface="Arial Black"/>
              <a:cs typeface="Arial Black"/>
            </a:endParaRPr>
          </a:p>
          <a:p>
            <a:pPr algn="ctr" marL="12700" marR="5080" indent="15875">
              <a:lnSpc>
                <a:spcPct val="113500"/>
              </a:lnSpc>
              <a:spcBef>
                <a:spcPts val="2175"/>
              </a:spcBef>
            </a:pPr>
            <a:r>
              <a:rPr dirty="0" sz="2300" spc="-405">
                <a:solidFill>
                  <a:srgbClr val="707070"/>
                </a:solidFill>
                <a:latin typeface="Arial Black"/>
                <a:cs typeface="Arial Black"/>
              </a:rPr>
              <a:t>Widespread</a:t>
            </a:r>
            <a:r>
              <a:rPr dirty="0" sz="2300" spc="290">
                <a:solidFill>
                  <a:srgbClr val="707070"/>
                </a:solidFill>
                <a:latin typeface="Arial Black"/>
                <a:cs typeface="Arial Black"/>
              </a:rPr>
              <a:t> </a:t>
            </a:r>
            <a:r>
              <a:rPr dirty="0" sz="2300" spc="-390">
                <a:solidFill>
                  <a:srgbClr val="626262"/>
                </a:solidFill>
                <a:latin typeface="Arial Black"/>
                <a:cs typeface="Arial Black"/>
              </a:rPr>
              <a:t>adoption</a:t>
            </a:r>
            <a:r>
              <a:rPr dirty="0" sz="2300" spc="180">
                <a:solidFill>
                  <a:srgbClr val="626262"/>
                </a:solidFill>
                <a:latin typeface="Arial Black"/>
                <a:cs typeface="Arial Black"/>
              </a:rPr>
              <a:t> </a:t>
            </a:r>
            <a:r>
              <a:rPr dirty="0" sz="2300" spc="-345">
                <a:solidFill>
                  <a:srgbClr val="606060"/>
                </a:solidFill>
                <a:latin typeface="Arial Black"/>
                <a:cs typeface="Arial Black"/>
              </a:rPr>
              <a:t>of</a:t>
            </a:r>
            <a:r>
              <a:rPr dirty="0" sz="2300" spc="95">
                <a:solidFill>
                  <a:srgbClr val="606060"/>
                </a:solidFill>
                <a:latin typeface="Arial Black"/>
                <a:cs typeface="Arial Black"/>
              </a:rPr>
              <a:t> </a:t>
            </a:r>
            <a:r>
              <a:rPr dirty="0" sz="2300" spc="-475">
                <a:solidFill>
                  <a:srgbClr val="707C8E"/>
                </a:solidFill>
                <a:latin typeface="Arial Black"/>
                <a:cs typeface="Arial Black"/>
              </a:rPr>
              <a:t>AI</a:t>
            </a:r>
            <a:r>
              <a:rPr dirty="0" sz="2300" spc="-65">
                <a:solidFill>
                  <a:srgbClr val="707C8E"/>
                </a:solidFill>
                <a:latin typeface="Arial Black"/>
                <a:cs typeface="Arial Black"/>
              </a:rPr>
              <a:t> </a:t>
            </a:r>
            <a:r>
              <a:rPr dirty="0" sz="2300" spc="-310">
                <a:solidFill>
                  <a:srgbClr val="6E6E6E"/>
                </a:solidFill>
                <a:latin typeface="Arial Black"/>
                <a:cs typeface="Arial Black"/>
              </a:rPr>
              <a:t>co- </a:t>
            </a:r>
            <a:r>
              <a:rPr dirty="0" sz="2300" spc="-380">
                <a:solidFill>
                  <a:srgbClr val="6B6B6B"/>
                </a:solidFill>
                <a:latin typeface="Arial Black"/>
                <a:cs typeface="Arial Black"/>
              </a:rPr>
              <a:t>pilots</a:t>
            </a:r>
            <a:r>
              <a:rPr dirty="0" sz="2300" spc="100">
                <a:solidFill>
                  <a:srgbClr val="6B6B6B"/>
                </a:solidFill>
                <a:latin typeface="Arial Black"/>
                <a:cs typeface="Arial Black"/>
              </a:rPr>
              <a:t> </a:t>
            </a:r>
            <a:r>
              <a:rPr dirty="0" sz="2300" spc="-440">
                <a:solidFill>
                  <a:srgbClr val="627989"/>
                </a:solidFill>
                <a:latin typeface="Arial Black"/>
                <a:cs typeface="Arial Black"/>
              </a:rPr>
              <a:t>in</a:t>
            </a:r>
            <a:r>
              <a:rPr dirty="0" sz="2300" spc="114">
                <a:solidFill>
                  <a:srgbClr val="627989"/>
                </a:solidFill>
                <a:latin typeface="Arial Black"/>
                <a:cs typeface="Arial Black"/>
              </a:rPr>
              <a:t> </a:t>
            </a:r>
            <a:r>
              <a:rPr dirty="0" sz="2300" spc="-395">
                <a:solidFill>
                  <a:srgbClr val="676767"/>
                </a:solidFill>
                <a:latin typeface="Arial Black"/>
                <a:cs typeface="Arial Black"/>
              </a:rPr>
              <a:t>white-</a:t>
            </a:r>
            <a:r>
              <a:rPr dirty="0" sz="2300" spc="-365">
                <a:solidFill>
                  <a:srgbClr val="676767"/>
                </a:solidFill>
                <a:latin typeface="Arial Black"/>
                <a:cs typeface="Arial Black"/>
              </a:rPr>
              <a:t>collar</a:t>
            </a:r>
            <a:r>
              <a:rPr dirty="0" sz="2300" spc="250">
                <a:solidFill>
                  <a:srgbClr val="676767"/>
                </a:solidFill>
                <a:latin typeface="Arial Black"/>
                <a:cs typeface="Arial Black"/>
              </a:rPr>
              <a:t> </a:t>
            </a:r>
            <a:r>
              <a:rPr dirty="0" sz="2300" spc="-375">
                <a:solidFill>
                  <a:srgbClr val="606060"/>
                </a:solidFill>
                <a:latin typeface="Arial Black"/>
                <a:cs typeface="Arial Black"/>
              </a:rPr>
              <a:t>roles.</a:t>
            </a:r>
            <a:r>
              <a:rPr dirty="0" sz="2300" spc="204">
                <a:solidFill>
                  <a:srgbClr val="606060"/>
                </a:solidFill>
                <a:latin typeface="Arial Black"/>
                <a:cs typeface="Arial Black"/>
              </a:rPr>
              <a:t> </a:t>
            </a:r>
            <a:r>
              <a:rPr dirty="0" sz="2300" spc="-459">
                <a:solidFill>
                  <a:srgbClr val="666666"/>
                </a:solidFill>
                <a:latin typeface="Arial Black"/>
                <a:cs typeface="Arial Black"/>
              </a:rPr>
              <a:t>Routine </a:t>
            </a:r>
            <a:r>
              <a:rPr dirty="0" sz="2300" spc="-400">
                <a:solidFill>
                  <a:srgbClr val="6B6B6B"/>
                </a:solidFill>
                <a:latin typeface="Arial Black"/>
                <a:cs typeface="Arial Black"/>
              </a:rPr>
              <a:t>coding</a:t>
            </a:r>
            <a:r>
              <a:rPr dirty="0" sz="2300" spc="175">
                <a:solidFill>
                  <a:srgbClr val="6B6B6B"/>
                </a:solidFill>
                <a:latin typeface="Arial Black"/>
                <a:cs typeface="Arial Black"/>
              </a:rPr>
              <a:t> </a:t>
            </a:r>
            <a:r>
              <a:rPr dirty="0" sz="2300" spc="-480">
                <a:solidFill>
                  <a:srgbClr val="696969"/>
                </a:solidFill>
                <a:latin typeface="Arial Black"/>
                <a:cs typeface="Arial Black"/>
              </a:rPr>
              <a:t>and</a:t>
            </a:r>
            <a:r>
              <a:rPr dirty="0" sz="2300" spc="120">
                <a:solidFill>
                  <a:srgbClr val="696969"/>
                </a:solidFill>
                <a:latin typeface="Arial Black"/>
                <a:cs typeface="Arial Black"/>
              </a:rPr>
              <a:t> </a:t>
            </a:r>
            <a:r>
              <a:rPr dirty="0" sz="2300" spc="-395">
                <a:solidFill>
                  <a:srgbClr val="676767"/>
                </a:solidFill>
                <a:latin typeface="Arial Black"/>
                <a:cs typeface="Arial Black"/>
              </a:rPr>
              <a:t>legal</a:t>
            </a:r>
            <a:r>
              <a:rPr dirty="0" sz="2300" spc="120">
                <a:solidFill>
                  <a:srgbClr val="676767"/>
                </a:solidFill>
                <a:latin typeface="Arial Black"/>
                <a:cs typeface="Arial Black"/>
              </a:rPr>
              <a:t> </a:t>
            </a:r>
            <a:r>
              <a:rPr dirty="0" sz="2300" spc="-400">
                <a:solidFill>
                  <a:srgbClr val="6B6B6B"/>
                </a:solidFill>
                <a:latin typeface="Arial Black"/>
                <a:cs typeface="Arial Black"/>
              </a:rPr>
              <a:t>discovery</a:t>
            </a:r>
            <a:r>
              <a:rPr dirty="0" sz="2300" spc="345">
                <a:solidFill>
                  <a:srgbClr val="6B6B6B"/>
                </a:solidFill>
                <a:latin typeface="Arial Black"/>
                <a:cs typeface="Arial Black"/>
              </a:rPr>
              <a:t> </a:t>
            </a:r>
            <a:r>
              <a:rPr dirty="0" sz="2300" spc="-360">
                <a:solidFill>
                  <a:srgbClr val="696969"/>
                </a:solidFill>
                <a:latin typeface="Arial Black"/>
                <a:cs typeface="Arial Black"/>
              </a:rPr>
              <a:t>fully </a:t>
            </a:r>
            <a:r>
              <a:rPr dirty="0" sz="2300" spc="-455">
                <a:solidFill>
                  <a:srgbClr val="676767"/>
                </a:solidFill>
                <a:latin typeface="Arial Black"/>
                <a:cs typeface="Arial Black"/>
              </a:rPr>
              <a:t>automated.</a:t>
            </a:r>
            <a:endParaRPr sz="2300">
              <a:latin typeface="Arial Black"/>
              <a:cs typeface="Arial Black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761134" y="3636404"/>
            <a:ext cx="3863340" cy="24587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9685">
              <a:lnSpc>
                <a:spcPct val="100000"/>
              </a:lnSpc>
              <a:spcBef>
                <a:spcPts val="105"/>
              </a:spcBef>
            </a:pPr>
            <a:r>
              <a:rPr dirty="0" sz="3600" spc="-530">
                <a:solidFill>
                  <a:srgbClr val="246DFD"/>
                </a:solidFill>
                <a:latin typeface="Arial Black"/>
                <a:cs typeface="Arial Black"/>
              </a:rPr>
              <a:t>2035</a:t>
            </a:r>
            <a:endParaRPr sz="3600">
              <a:latin typeface="Arial Black"/>
              <a:cs typeface="Arial Black"/>
            </a:endParaRPr>
          </a:p>
          <a:p>
            <a:pPr algn="ctr" marL="12065" marR="5080">
              <a:lnSpc>
                <a:spcPct val="114999"/>
              </a:lnSpc>
              <a:spcBef>
                <a:spcPts val="2130"/>
              </a:spcBef>
            </a:pPr>
            <a:r>
              <a:rPr dirty="0" sz="2300" spc="-434">
                <a:solidFill>
                  <a:srgbClr val="696969"/>
                </a:solidFill>
                <a:latin typeface="Arial Black"/>
                <a:cs typeface="Arial Black"/>
              </a:rPr>
              <a:t>Climate</a:t>
            </a:r>
            <a:r>
              <a:rPr dirty="0" sz="2300" spc="145">
                <a:solidFill>
                  <a:srgbClr val="696969"/>
                </a:solidFill>
                <a:latin typeface="Arial Black"/>
                <a:cs typeface="Arial Black"/>
              </a:rPr>
              <a:t> </a:t>
            </a:r>
            <a:r>
              <a:rPr dirty="0" sz="2300" spc="-470">
                <a:solidFill>
                  <a:srgbClr val="676767"/>
                </a:solidFill>
                <a:latin typeface="Arial Black"/>
                <a:cs typeface="Arial Black"/>
              </a:rPr>
              <a:t>tech</a:t>
            </a:r>
            <a:r>
              <a:rPr dirty="0" sz="2300" spc="60">
                <a:solidFill>
                  <a:srgbClr val="676767"/>
                </a:solidFill>
                <a:latin typeface="Arial Black"/>
                <a:cs typeface="Arial Black"/>
              </a:rPr>
              <a:t> </a:t>
            </a:r>
            <a:r>
              <a:rPr dirty="0" sz="2300" spc="-400">
                <a:solidFill>
                  <a:srgbClr val="696969"/>
                </a:solidFill>
                <a:latin typeface="Arial Black"/>
                <a:cs typeface="Arial Black"/>
              </a:rPr>
              <a:t>boom.</a:t>
            </a:r>
            <a:r>
              <a:rPr dirty="0" sz="2300" spc="225">
                <a:solidFill>
                  <a:srgbClr val="696969"/>
                </a:solidFill>
                <a:latin typeface="Arial Black"/>
                <a:cs typeface="Arial Black"/>
              </a:rPr>
              <a:t> </a:t>
            </a:r>
            <a:r>
              <a:rPr dirty="0" sz="2300" spc="-495">
                <a:solidFill>
                  <a:srgbClr val="676767"/>
                </a:solidFill>
                <a:latin typeface="Arial Black"/>
                <a:cs typeface="Arial Black"/>
              </a:rPr>
              <a:t>The</a:t>
            </a:r>
            <a:r>
              <a:rPr dirty="0" sz="2300" spc="-5">
                <a:solidFill>
                  <a:srgbClr val="676767"/>
                </a:solidFill>
                <a:latin typeface="Arial Black"/>
                <a:cs typeface="Arial Black"/>
              </a:rPr>
              <a:t> </a:t>
            </a:r>
            <a:r>
              <a:rPr dirty="0" sz="2300" spc="-420">
                <a:solidFill>
                  <a:srgbClr val="575757"/>
                </a:solidFill>
                <a:latin typeface="Arial Black"/>
                <a:cs typeface="Arial Black"/>
              </a:rPr>
              <a:t>majority </a:t>
            </a:r>
            <a:r>
              <a:rPr dirty="0" sz="2300" spc="-345">
                <a:solidFill>
                  <a:srgbClr val="6D7B83"/>
                </a:solidFill>
                <a:latin typeface="Arial Black"/>
                <a:cs typeface="Arial Black"/>
              </a:rPr>
              <a:t>of</a:t>
            </a:r>
            <a:r>
              <a:rPr dirty="0" sz="2300" spc="70">
                <a:solidFill>
                  <a:srgbClr val="6D7B83"/>
                </a:solidFill>
                <a:latin typeface="Arial Black"/>
                <a:cs typeface="Arial Black"/>
              </a:rPr>
              <a:t> </a:t>
            </a:r>
            <a:r>
              <a:rPr dirty="0" sz="2300" spc="-565">
                <a:solidFill>
                  <a:srgbClr val="646464"/>
                </a:solidFill>
                <a:latin typeface="Arial Black"/>
                <a:cs typeface="Arial Black"/>
              </a:rPr>
              <a:t>new</a:t>
            </a:r>
            <a:r>
              <a:rPr dirty="0" sz="2300" spc="95">
                <a:solidFill>
                  <a:srgbClr val="646464"/>
                </a:solidFill>
                <a:latin typeface="Arial Black"/>
                <a:cs typeface="Arial Black"/>
              </a:rPr>
              <a:t> </a:t>
            </a:r>
            <a:r>
              <a:rPr dirty="0" sz="2300" spc="-415">
                <a:solidFill>
                  <a:srgbClr val="646464"/>
                </a:solidFill>
                <a:latin typeface="Arial Black"/>
                <a:cs typeface="Arial Black"/>
              </a:rPr>
              <a:t>capital</a:t>
            </a:r>
            <a:r>
              <a:rPr dirty="0" sz="2300" spc="105">
                <a:solidFill>
                  <a:srgbClr val="646464"/>
                </a:solidFill>
                <a:latin typeface="Arial Black"/>
                <a:cs typeface="Arial Black"/>
              </a:rPr>
              <a:t> </a:t>
            </a:r>
            <a:r>
              <a:rPr dirty="0" sz="2300" spc="-385">
                <a:solidFill>
                  <a:srgbClr val="727272"/>
                </a:solidFill>
                <a:latin typeface="Arial Black"/>
                <a:cs typeface="Arial Black"/>
              </a:rPr>
              <a:t>is</a:t>
            </a:r>
            <a:r>
              <a:rPr dirty="0" sz="2300" spc="-5">
                <a:solidFill>
                  <a:srgbClr val="727272"/>
                </a:solidFill>
                <a:latin typeface="Arial Black"/>
                <a:cs typeface="Arial Black"/>
              </a:rPr>
              <a:t> </a:t>
            </a:r>
            <a:r>
              <a:rPr dirty="0" sz="2300" spc="-390">
                <a:solidFill>
                  <a:srgbClr val="6B6B6B"/>
                </a:solidFill>
                <a:latin typeface="Arial Black"/>
                <a:cs typeface="Arial Black"/>
              </a:rPr>
              <a:t>deployed</a:t>
            </a:r>
            <a:r>
              <a:rPr dirty="0" sz="2300" spc="210">
                <a:solidFill>
                  <a:srgbClr val="6B6B6B"/>
                </a:solidFill>
                <a:latin typeface="Arial Black"/>
                <a:cs typeface="Arial Black"/>
              </a:rPr>
              <a:t> </a:t>
            </a:r>
            <a:r>
              <a:rPr dirty="0" sz="2300" spc="-440">
                <a:solidFill>
                  <a:srgbClr val="696969"/>
                </a:solidFill>
                <a:latin typeface="Arial Black"/>
                <a:cs typeface="Arial Black"/>
              </a:rPr>
              <a:t>into </a:t>
            </a:r>
            <a:r>
              <a:rPr dirty="0" sz="2300" spc="-415">
                <a:solidFill>
                  <a:srgbClr val="666666"/>
                </a:solidFill>
                <a:latin typeface="Arial Black"/>
                <a:cs typeface="Arial Black"/>
              </a:rPr>
              <a:t>carbon</a:t>
            </a:r>
            <a:r>
              <a:rPr dirty="0" sz="2300" spc="125">
                <a:solidFill>
                  <a:srgbClr val="666666"/>
                </a:solidFill>
                <a:latin typeface="Arial Black"/>
                <a:cs typeface="Arial Black"/>
              </a:rPr>
              <a:t> </a:t>
            </a:r>
            <a:r>
              <a:rPr dirty="0" sz="2300" spc="-409">
                <a:solidFill>
                  <a:srgbClr val="6E6E6E"/>
                </a:solidFill>
                <a:latin typeface="Arial Black"/>
                <a:cs typeface="Arial Black"/>
              </a:rPr>
              <a:t>capture,</a:t>
            </a:r>
            <a:r>
              <a:rPr dirty="0" sz="2300" spc="260">
                <a:solidFill>
                  <a:srgbClr val="6E6E6E"/>
                </a:solidFill>
                <a:latin typeface="Arial Black"/>
                <a:cs typeface="Arial Black"/>
              </a:rPr>
              <a:t> </a:t>
            </a:r>
            <a:r>
              <a:rPr dirty="0" sz="2300" spc="-415">
                <a:solidFill>
                  <a:srgbClr val="6D6D6D"/>
                </a:solidFill>
                <a:latin typeface="Arial Black"/>
                <a:cs typeface="Arial Black"/>
              </a:rPr>
              <a:t>alternative </a:t>
            </a:r>
            <a:r>
              <a:rPr dirty="0" sz="2300" spc="-385">
                <a:solidFill>
                  <a:srgbClr val="6E6E6E"/>
                </a:solidFill>
                <a:latin typeface="Arial Black"/>
                <a:cs typeface="Arial Black"/>
              </a:rPr>
              <a:t>proteins,</a:t>
            </a:r>
            <a:r>
              <a:rPr dirty="0" sz="2300" spc="290">
                <a:solidFill>
                  <a:srgbClr val="6E6E6E"/>
                </a:solidFill>
                <a:latin typeface="Arial Black"/>
                <a:cs typeface="Arial Black"/>
              </a:rPr>
              <a:t> </a:t>
            </a:r>
            <a:r>
              <a:rPr dirty="0" sz="2300" spc="-480">
                <a:solidFill>
                  <a:srgbClr val="627582"/>
                </a:solidFill>
                <a:latin typeface="Arial Black"/>
                <a:cs typeface="Arial Black"/>
              </a:rPr>
              <a:t>and</a:t>
            </a:r>
            <a:r>
              <a:rPr dirty="0" sz="2300" spc="65">
                <a:solidFill>
                  <a:srgbClr val="627582"/>
                </a:solidFill>
                <a:latin typeface="Arial Black"/>
                <a:cs typeface="Arial Black"/>
              </a:rPr>
              <a:t> </a:t>
            </a:r>
            <a:r>
              <a:rPr dirty="0" sz="2300" spc="-425">
                <a:solidFill>
                  <a:srgbClr val="747474"/>
                </a:solidFill>
                <a:latin typeface="Arial Black"/>
                <a:cs typeface="Arial Black"/>
              </a:rPr>
              <a:t>preen</a:t>
            </a:r>
            <a:r>
              <a:rPr dirty="0" sz="2300" spc="65">
                <a:solidFill>
                  <a:srgbClr val="747474"/>
                </a:solidFill>
                <a:latin typeface="Arial Black"/>
                <a:cs typeface="Arial Black"/>
              </a:rPr>
              <a:t> </a:t>
            </a:r>
            <a:r>
              <a:rPr dirty="0" sz="2300" spc="-350">
                <a:solidFill>
                  <a:srgbClr val="626262"/>
                </a:solidFill>
                <a:latin typeface="Arial Black"/>
                <a:cs typeface="Arial Black"/>
              </a:rPr>
              <a:t>prids.</a:t>
            </a:r>
            <a:endParaRPr sz="2300">
              <a:latin typeface="Arial Black"/>
              <a:cs typeface="Arial Black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0528955" y="7420319"/>
            <a:ext cx="3679825" cy="2475865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algn="ctr" marL="27940">
              <a:lnSpc>
                <a:spcPct val="100000"/>
              </a:lnSpc>
              <a:spcBef>
                <a:spcPts val="115"/>
              </a:spcBef>
            </a:pPr>
            <a:r>
              <a:rPr dirty="0" sz="3850" spc="-305">
                <a:solidFill>
                  <a:srgbClr val="216DED"/>
                </a:solidFill>
                <a:latin typeface="Courier New"/>
                <a:cs typeface="Courier New"/>
              </a:rPr>
              <a:t>2045</a:t>
            </a:r>
            <a:endParaRPr sz="3850">
              <a:latin typeface="Courier New"/>
              <a:cs typeface="Courier New"/>
            </a:endParaRPr>
          </a:p>
          <a:p>
            <a:pPr algn="ctr">
              <a:lnSpc>
                <a:spcPct val="100000"/>
              </a:lnSpc>
              <a:spcBef>
                <a:spcPts val="2495"/>
              </a:spcBef>
            </a:pPr>
            <a:r>
              <a:rPr dirty="0" sz="2300" spc="-459">
                <a:solidFill>
                  <a:srgbClr val="666666"/>
                </a:solidFill>
                <a:latin typeface="Arial Black"/>
                <a:cs typeface="Arial Black"/>
              </a:rPr>
              <a:t>Mainstream</a:t>
            </a:r>
            <a:r>
              <a:rPr dirty="0" sz="2300" spc="335">
                <a:solidFill>
                  <a:srgbClr val="666666"/>
                </a:solidFill>
                <a:latin typeface="Arial Black"/>
                <a:cs typeface="Arial Black"/>
              </a:rPr>
              <a:t> </a:t>
            </a:r>
            <a:r>
              <a:rPr dirty="0" sz="2300" spc="-420">
                <a:solidFill>
                  <a:srgbClr val="666666"/>
                </a:solidFill>
                <a:latin typeface="Arial Black"/>
                <a:cs typeface="Arial Black"/>
              </a:rPr>
              <a:t>Spatial</a:t>
            </a:r>
            <a:r>
              <a:rPr dirty="0" sz="2300" spc="180">
                <a:solidFill>
                  <a:srgbClr val="666666"/>
                </a:solidFill>
                <a:latin typeface="Arial Black"/>
                <a:cs typeface="Arial Black"/>
              </a:rPr>
              <a:t> </a:t>
            </a:r>
            <a:r>
              <a:rPr dirty="0" sz="2300" spc="-405">
                <a:solidFill>
                  <a:srgbClr val="75799C"/>
                </a:solidFill>
                <a:latin typeface="Arial Black"/>
                <a:cs typeface="Arial Black"/>
              </a:rPr>
              <a:t>C</a:t>
            </a:r>
            <a:r>
              <a:rPr dirty="0" sz="2300" spc="-405">
                <a:solidFill>
                  <a:srgbClr val="676767"/>
                </a:solidFill>
                <a:latin typeface="Arial Black"/>
                <a:cs typeface="Arial Black"/>
              </a:rPr>
              <a:t>omputinp.</a:t>
            </a:r>
            <a:endParaRPr sz="2300">
              <a:latin typeface="Arial Black"/>
              <a:cs typeface="Arial Black"/>
            </a:endParaRPr>
          </a:p>
          <a:p>
            <a:pPr algn="ctr" marL="17145">
              <a:lnSpc>
                <a:spcPct val="100000"/>
              </a:lnSpc>
              <a:spcBef>
                <a:spcPts val="330"/>
              </a:spcBef>
            </a:pPr>
            <a:r>
              <a:rPr dirty="0" sz="2300" spc="-425">
                <a:solidFill>
                  <a:srgbClr val="6B6B6B"/>
                </a:solidFill>
                <a:latin typeface="Arial Black"/>
                <a:cs typeface="Arial Black"/>
              </a:rPr>
              <a:t>Physical</a:t>
            </a:r>
            <a:r>
              <a:rPr dirty="0" sz="2300" spc="285">
                <a:solidFill>
                  <a:srgbClr val="6B6B6B"/>
                </a:solidFill>
                <a:latin typeface="Arial Black"/>
                <a:cs typeface="Arial Black"/>
              </a:rPr>
              <a:t> </a:t>
            </a:r>
            <a:r>
              <a:rPr dirty="0" sz="2300" spc="-375">
                <a:solidFill>
                  <a:srgbClr val="696969"/>
                </a:solidFill>
                <a:latin typeface="Arial Black"/>
                <a:cs typeface="Arial Black"/>
              </a:rPr>
              <a:t>offices</a:t>
            </a:r>
            <a:r>
              <a:rPr dirty="0" sz="2300" spc="135">
                <a:solidFill>
                  <a:srgbClr val="696969"/>
                </a:solidFill>
                <a:latin typeface="Arial Black"/>
                <a:cs typeface="Arial Black"/>
              </a:rPr>
              <a:t> </a:t>
            </a:r>
            <a:r>
              <a:rPr dirty="0" sz="2300" spc="-445">
                <a:solidFill>
                  <a:srgbClr val="6B6B6B"/>
                </a:solidFill>
                <a:latin typeface="Arial Black"/>
                <a:cs typeface="Arial Black"/>
              </a:rPr>
              <a:t>are</a:t>
            </a:r>
            <a:r>
              <a:rPr dirty="0" sz="2300" spc="15">
                <a:solidFill>
                  <a:srgbClr val="6B6B6B"/>
                </a:solidFill>
                <a:latin typeface="Arial Black"/>
                <a:cs typeface="Arial Black"/>
              </a:rPr>
              <a:t> </a:t>
            </a:r>
            <a:r>
              <a:rPr dirty="0" sz="2300" spc="-385">
                <a:solidFill>
                  <a:srgbClr val="727272"/>
                </a:solidFill>
                <a:latin typeface="Arial Black"/>
                <a:cs typeface="Arial Black"/>
              </a:rPr>
              <a:t>largely</a:t>
            </a:r>
            <a:endParaRPr sz="2300">
              <a:latin typeface="Arial Black"/>
              <a:cs typeface="Arial Black"/>
            </a:endParaRPr>
          </a:p>
          <a:p>
            <a:pPr algn="ctr" marL="148590" marR="123189">
              <a:lnSpc>
                <a:spcPct val="112000"/>
              </a:lnSpc>
              <a:spcBef>
                <a:spcPts val="125"/>
              </a:spcBef>
            </a:pPr>
            <a:r>
              <a:rPr dirty="0" sz="2300" spc="-390">
                <a:solidFill>
                  <a:srgbClr val="666666"/>
                </a:solidFill>
                <a:latin typeface="Arial Black"/>
                <a:cs typeface="Arial Black"/>
              </a:rPr>
              <a:t>obsolete,</a:t>
            </a:r>
            <a:r>
              <a:rPr dirty="0" sz="2300" spc="315">
                <a:solidFill>
                  <a:srgbClr val="666666"/>
                </a:solidFill>
                <a:latin typeface="Arial Black"/>
                <a:cs typeface="Arial Black"/>
              </a:rPr>
              <a:t> </a:t>
            </a:r>
            <a:r>
              <a:rPr dirty="0" sz="2300" spc="-420">
                <a:solidFill>
                  <a:srgbClr val="696969"/>
                </a:solidFill>
                <a:latin typeface="Arial Black"/>
                <a:cs typeface="Arial Black"/>
              </a:rPr>
              <a:t>replaced</a:t>
            </a:r>
            <a:r>
              <a:rPr dirty="0" sz="2300" spc="285">
                <a:solidFill>
                  <a:srgbClr val="696969"/>
                </a:solidFill>
                <a:latin typeface="Arial Black"/>
                <a:cs typeface="Arial Black"/>
              </a:rPr>
              <a:t> </a:t>
            </a:r>
            <a:r>
              <a:rPr dirty="0" sz="2300" spc="-415">
                <a:solidFill>
                  <a:srgbClr val="757E9A"/>
                </a:solidFill>
                <a:latin typeface="Arial Black"/>
                <a:cs typeface="Arial Black"/>
              </a:rPr>
              <a:t>by</a:t>
            </a:r>
            <a:r>
              <a:rPr dirty="0" sz="2300" spc="80">
                <a:solidFill>
                  <a:srgbClr val="757E9A"/>
                </a:solidFill>
                <a:latin typeface="Arial Black"/>
                <a:cs typeface="Arial Black"/>
              </a:rPr>
              <a:t> </a:t>
            </a:r>
            <a:r>
              <a:rPr dirty="0" sz="2300" spc="-365">
                <a:solidFill>
                  <a:srgbClr val="6B6B6B"/>
                </a:solidFill>
                <a:latin typeface="Arial Black"/>
                <a:cs typeface="Arial Black"/>
              </a:rPr>
              <a:t>hyper- </a:t>
            </a:r>
            <a:r>
              <a:rPr dirty="0" sz="2300" spc="-409">
                <a:solidFill>
                  <a:srgbClr val="646464"/>
                </a:solidFill>
                <a:latin typeface="Arial Black"/>
                <a:cs typeface="Arial Black"/>
              </a:rPr>
              <a:t>realistic</a:t>
            </a:r>
            <a:r>
              <a:rPr dirty="0" sz="2300" spc="215">
                <a:solidFill>
                  <a:srgbClr val="646464"/>
                </a:solidFill>
                <a:latin typeface="Arial Black"/>
                <a:cs typeface="Arial Black"/>
              </a:rPr>
              <a:t> </a:t>
            </a:r>
            <a:r>
              <a:rPr dirty="0" sz="2300" spc="-360">
                <a:solidFill>
                  <a:srgbClr val="6B6B6B"/>
                </a:solidFill>
                <a:latin typeface="Arial Black"/>
                <a:cs typeface="Arial Black"/>
              </a:rPr>
              <a:t>plobal</a:t>
            </a:r>
            <a:r>
              <a:rPr dirty="0" sz="2300" spc="170">
                <a:solidFill>
                  <a:srgbClr val="6B6B6B"/>
                </a:solidFill>
                <a:latin typeface="Arial Black"/>
                <a:cs typeface="Arial Black"/>
              </a:rPr>
              <a:t> </a:t>
            </a:r>
            <a:r>
              <a:rPr dirty="0" sz="2300" spc="-365">
                <a:solidFill>
                  <a:srgbClr val="707070"/>
                </a:solidFill>
                <a:latin typeface="Arial Black"/>
                <a:cs typeface="Arial Black"/>
              </a:rPr>
              <a:t>digital</a:t>
            </a:r>
            <a:r>
              <a:rPr dirty="0" sz="2300" spc="130">
                <a:solidFill>
                  <a:srgbClr val="707070"/>
                </a:solidFill>
                <a:latin typeface="Arial Black"/>
                <a:cs typeface="Arial Black"/>
              </a:rPr>
              <a:t> </a:t>
            </a:r>
            <a:r>
              <a:rPr dirty="0" sz="2300" spc="-430">
                <a:solidFill>
                  <a:srgbClr val="606060"/>
                </a:solidFill>
                <a:latin typeface="Arial Black"/>
                <a:cs typeface="Arial Black"/>
              </a:rPr>
              <a:t>hubs.</a:t>
            </a:r>
            <a:endParaRPr sz="2300">
              <a:latin typeface="Arial Black"/>
              <a:cs typeface="Arial Black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5141637" y="3211024"/>
            <a:ext cx="3830954" cy="288417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15"/>
              </a:spcBef>
            </a:pPr>
            <a:r>
              <a:rPr dirty="0" sz="3850" spc="-330">
                <a:solidFill>
                  <a:srgbClr val="1862EB"/>
                </a:solidFill>
                <a:latin typeface="Courier New"/>
                <a:cs typeface="Courier New"/>
              </a:rPr>
              <a:t>2050</a:t>
            </a:r>
            <a:endParaRPr sz="3850">
              <a:latin typeface="Courier New"/>
              <a:cs typeface="Courier New"/>
            </a:endParaRPr>
          </a:p>
          <a:p>
            <a:pPr algn="ctr" marL="12700" marR="5080" indent="-10795">
              <a:lnSpc>
                <a:spcPct val="114300"/>
              </a:lnSpc>
              <a:spcBef>
                <a:spcPts val="2100"/>
              </a:spcBef>
            </a:pPr>
            <a:r>
              <a:rPr dirty="0" sz="2300" spc="-390">
                <a:solidFill>
                  <a:srgbClr val="6B6B6B"/>
                </a:solidFill>
                <a:latin typeface="Arial Black"/>
                <a:cs typeface="Arial Black"/>
              </a:rPr>
              <a:t>Biological</a:t>
            </a:r>
            <a:r>
              <a:rPr dirty="0" sz="2300" spc="325">
                <a:solidFill>
                  <a:srgbClr val="6B6B6B"/>
                </a:solidFill>
                <a:latin typeface="Arial Black"/>
                <a:cs typeface="Arial Black"/>
              </a:rPr>
              <a:t> </a:t>
            </a:r>
            <a:r>
              <a:rPr dirty="0" sz="2300" spc="-409">
                <a:solidFill>
                  <a:srgbClr val="676767"/>
                </a:solidFill>
                <a:latin typeface="Arial Black"/>
                <a:cs typeface="Arial Black"/>
              </a:rPr>
              <a:t>enpineerinp</a:t>
            </a:r>
            <a:r>
              <a:rPr dirty="0" sz="2300" spc="295">
                <a:solidFill>
                  <a:srgbClr val="676767"/>
                </a:solidFill>
                <a:latin typeface="Arial Black"/>
                <a:cs typeface="Arial Black"/>
              </a:rPr>
              <a:t> </a:t>
            </a:r>
            <a:r>
              <a:rPr dirty="0" sz="2300" spc="-509">
                <a:solidFill>
                  <a:srgbClr val="667087"/>
                </a:solidFill>
                <a:latin typeface="Arial Black"/>
                <a:cs typeface="Arial Black"/>
              </a:rPr>
              <a:t>and </a:t>
            </a:r>
            <a:r>
              <a:rPr dirty="0" sz="2300" spc="-465">
                <a:solidFill>
                  <a:srgbClr val="696969"/>
                </a:solidFill>
                <a:latin typeface="Arial Black"/>
                <a:cs typeface="Arial Black"/>
              </a:rPr>
              <a:t>seamless</a:t>
            </a:r>
            <a:r>
              <a:rPr dirty="0" sz="2300" spc="85">
                <a:solidFill>
                  <a:srgbClr val="696969"/>
                </a:solidFill>
                <a:latin typeface="Arial Black"/>
                <a:cs typeface="Arial Black"/>
              </a:rPr>
              <a:t> </a:t>
            </a:r>
            <a:r>
              <a:rPr dirty="0" sz="2300" spc="-455">
                <a:solidFill>
                  <a:srgbClr val="646464"/>
                </a:solidFill>
                <a:latin typeface="Arial Black"/>
                <a:cs typeface="Arial Black"/>
              </a:rPr>
              <a:t>Human-</a:t>
            </a:r>
            <a:r>
              <a:rPr dirty="0" sz="2300" spc="-380">
                <a:solidFill>
                  <a:srgbClr val="646464"/>
                </a:solidFill>
                <a:latin typeface="Arial Black"/>
                <a:cs typeface="Arial Black"/>
              </a:rPr>
              <a:t>AI</a:t>
            </a:r>
            <a:r>
              <a:rPr dirty="0" sz="2300" spc="140">
                <a:solidFill>
                  <a:srgbClr val="646464"/>
                </a:solidFill>
                <a:latin typeface="Arial Black"/>
                <a:cs typeface="Arial Black"/>
              </a:rPr>
              <a:t> </a:t>
            </a:r>
            <a:r>
              <a:rPr dirty="0" sz="2300" spc="-450">
                <a:solidFill>
                  <a:srgbClr val="676767"/>
                </a:solidFill>
                <a:latin typeface="Arial Black"/>
                <a:cs typeface="Arial Black"/>
              </a:rPr>
              <a:t>neural </a:t>
            </a:r>
            <a:r>
              <a:rPr dirty="0" sz="2300" spc="-395">
                <a:solidFill>
                  <a:srgbClr val="696969"/>
                </a:solidFill>
                <a:latin typeface="Arial Black"/>
                <a:cs typeface="Arial Black"/>
              </a:rPr>
              <a:t>interfacing</a:t>
            </a:r>
            <a:r>
              <a:rPr dirty="0" sz="2300" spc="295">
                <a:solidFill>
                  <a:srgbClr val="696969"/>
                </a:solidFill>
                <a:latin typeface="Arial Black"/>
                <a:cs typeface="Arial Black"/>
              </a:rPr>
              <a:t> </a:t>
            </a:r>
            <a:r>
              <a:rPr dirty="0" sz="2300" spc="-475">
                <a:solidFill>
                  <a:srgbClr val="676767"/>
                </a:solidFill>
                <a:latin typeface="Arial Black"/>
                <a:cs typeface="Arial Black"/>
              </a:rPr>
              <a:t>become</a:t>
            </a:r>
            <a:r>
              <a:rPr dirty="0" sz="2300" spc="225">
                <a:solidFill>
                  <a:srgbClr val="676767"/>
                </a:solidFill>
                <a:latin typeface="Arial Black"/>
                <a:cs typeface="Arial Black"/>
              </a:rPr>
              <a:t> </a:t>
            </a:r>
            <a:r>
              <a:rPr dirty="0" sz="2300" spc="-450">
                <a:solidFill>
                  <a:srgbClr val="646464"/>
                </a:solidFill>
                <a:latin typeface="Arial Black"/>
                <a:cs typeface="Arial Black"/>
              </a:rPr>
              <a:t>standard </a:t>
            </a:r>
            <a:r>
              <a:rPr dirty="0" sz="2300" spc="-375">
                <a:solidFill>
                  <a:srgbClr val="676767"/>
                </a:solidFill>
                <a:latin typeface="Arial Black"/>
                <a:cs typeface="Arial Black"/>
              </a:rPr>
              <a:t>professional</a:t>
            </a:r>
            <a:r>
              <a:rPr dirty="0" sz="2300" spc="295">
                <a:solidFill>
                  <a:srgbClr val="676767"/>
                </a:solidFill>
                <a:latin typeface="Arial Black"/>
                <a:cs typeface="Arial Black"/>
              </a:rPr>
              <a:t> </a:t>
            </a:r>
            <a:r>
              <a:rPr dirty="0" sz="2300" spc="-440">
                <a:solidFill>
                  <a:srgbClr val="6B6B6B"/>
                </a:solidFill>
                <a:latin typeface="Arial Black"/>
                <a:cs typeface="Arial Black"/>
              </a:rPr>
              <a:t>requirements</a:t>
            </a:r>
            <a:r>
              <a:rPr dirty="0" sz="2300" spc="340">
                <a:solidFill>
                  <a:srgbClr val="6B6B6B"/>
                </a:solidFill>
                <a:latin typeface="Arial Black"/>
                <a:cs typeface="Arial Black"/>
              </a:rPr>
              <a:t> </a:t>
            </a:r>
            <a:r>
              <a:rPr dirty="0" sz="2300" spc="-440">
                <a:solidFill>
                  <a:srgbClr val="727272"/>
                </a:solidFill>
                <a:latin typeface="Arial Black"/>
                <a:cs typeface="Arial Black"/>
              </a:rPr>
              <a:t>in</a:t>
            </a:r>
            <a:r>
              <a:rPr dirty="0" sz="2300">
                <a:solidFill>
                  <a:srgbClr val="727272"/>
                </a:solidFill>
                <a:latin typeface="Arial Black"/>
                <a:cs typeface="Arial Black"/>
              </a:rPr>
              <a:t> </a:t>
            </a:r>
            <a:r>
              <a:rPr dirty="0" sz="2300" spc="-430">
                <a:solidFill>
                  <a:srgbClr val="6E6E6E"/>
                </a:solidFill>
                <a:latin typeface="Arial Black"/>
                <a:cs typeface="Arial Black"/>
              </a:rPr>
              <a:t>top </a:t>
            </a:r>
            <a:r>
              <a:rPr dirty="0" sz="2300" spc="-390">
                <a:solidFill>
                  <a:srgbClr val="828EA7"/>
                </a:solidFill>
                <a:latin typeface="Arial Black"/>
                <a:cs typeface="Arial Black"/>
              </a:rPr>
              <a:t>tiers.</a:t>
            </a:r>
            <a:endParaRPr sz="23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06" y="0"/>
            <a:ext cx="20088393" cy="10994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71120" rIns="0" bIns="0" rtlCol="0" vert="horz">
            <a:spAutoFit/>
          </a:bodyPr>
          <a:lstStyle/>
          <a:p>
            <a:pPr algn="ctr" marL="17780" marR="5080" indent="-43180">
              <a:lnSpc>
                <a:spcPct val="94700"/>
              </a:lnSpc>
              <a:spcBef>
                <a:spcPts val="560"/>
              </a:spcBef>
            </a:pPr>
            <a:r>
              <a:rPr dirty="0" sz="6800" spc="-395">
                <a:solidFill>
                  <a:srgbClr val="1A1A1A"/>
                </a:solidFill>
              </a:rPr>
              <a:t>The</a:t>
            </a:r>
            <a:r>
              <a:rPr dirty="0" sz="6800" spc="-665">
                <a:solidFill>
                  <a:srgbClr val="1A1A1A"/>
                </a:solidFill>
              </a:rPr>
              <a:t> </a:t>
            </a:r>
            <a:r>
              <a:rPr dirty="0" sz="6800" spc="-45">
                <a:solidFill>
                  <a:srgbClr val="151515"/>
                </a:solidFill>
              </a:rPr>
              <a:t>greotest</a:t>
            </a:r>
            <a:r>
              <a:rPr dirty="0" sz="6800" spc="-365">
                <a:solidFill>
                  <a:srgbClr val="151515"/>
                </a:solidFill>
              </a:rPr>
              <a:t> </a:t>
            </a:r>
            <a:r>
              <a:rPr dirty="0" sz="6800" spc="-65">
                <a:solidFill>
                  <a:srgbClr val="161616"/>
                </a:solidFill>
              </a:rPr>
              <a:t>donger</a:t>
            </a:r>
            <a:r>
              <a:rPr dirty="0" sz="6800" spc="-365">
                <a:solidFill>
                  <a:srgbClr val="161616"/>
                </a:solidFill>
              </a:rPr>
              <a:t> </a:t>
            </a:r>
            <a:r>
              <a:rPr dirty="0" sz="6800" spc="235">
                <a:solidFill>
                  <a:srgbClr val="1A1A1A"/>
                </a:solidFill>
              </a:rPr>
              <a:t>in</a:t>
            </a:r>
            <a:r>
              <a:rPr dirty="0" sz="6800" spc="-980">
                <a:solidFill>
                  <a:srgbClr val="1A1A1A"/>
                </a:solidFill>
              </a:rPr>
              <a:t> </a:t>
            </a:r>
            <a:r>
              <a:rPr dirty="0" sz="6800" spc="-40">
                <a:solidFill>
                  <a:srgbClr val="131313"/>
                </a:solidFill>
              </a:rPr>
              <a:t>times</a:t>
            </a:r>
            <a:r>
              <a:rPr dirty="0" sz="6800" spc="-525">
                <a:solidFill>
                  <a:srgbClr val="131313"/>
                </a:solidFill>
              </a:rPr>
              <a:t> </a:t>
            </a:r>
            <a:r>
              <a:rPr dirty="0" sz="6800" spc="-25">
                <a:solidFill>
                  <a:srgbClr val="161616"/>
                </a:solidFill>
              </a:rPr>
              <a:t>of </a:t>
            </a:r>
            <a:r>
              <a:rPr dirty="0" sz="6800" spc="-105">
                <a:solidFill>
                  <a:srgbClr val="1A1A1A"/>
                </a:solidFill>
              </a:rPr>
              <a:t>turbulence</a:t>
            </a:r>
            <a:r>
              <a:rPr dirty="0" sz="6800" spc="-434">
                <a:solidFill>
                  <a:srgbClr val="1A1A1A"/>
                </a:solidFill>
              </a:rPr>
              <a:t> </a:t>
            </a:r>
            <a:r>
              <a:rPr dirty="0" sz="6800" spc="-30">
                <a:solidFill>
                  <a:srgbClr val="181818"/>
                </a:solidFill>
              </a:rPr>
              <a:t>is</a:t>
            </a:r>
            <a:r>
              <a:rPr dirty="0" sz="6800" spc="-710">
                <a:solidFill>
                  <a:srgbClr val="181818"/>
                </a:solidFill>
              </a:rPr>
              <a:t> </a:t>
            </a:r>
            <a:r>
              <a:rPr dirty="0" sz="6800" spc="-10">
                <a:solidFill>
                  <a:srgbClr val="1A1A1A"/>
                </a:solidFill>
              </a:rPr>
              <a:t>not</a:t>
            </a:r>
            <a:r>
              <a:rPr dirty="0" sz="6800" spc="-390">
                <a:solidFill>
                  <a:srgbClr val="1A1A1A"/>
                </a:solidFill>
              </a:rPr>
              <a:t> </a:t>
            </a:r>
            <a:r>
              <a:rPr dirty="0" sz="6800" spc="-10">
                <a:solidFill>
                  <a:srgbClr val="1A1A1A"/>
                </a:solidFill>
              </a:rPr>
              <a:t>the</a:t>
            </a:r>
            <a:r>
              <a:rPr dirty="0" sz="6800" spc="-745">
                <a:solidFill>
                  <a:srgbClr val="1A1A1A"/>
                </a:solidFill>
              </a:rPr>
              <a:t> </a:t>
            </a:r>
            <a:r>
              <a:rPr dirty="0" sz="6800" spc="-110">
                <a:solidFill>
                  <a:srgbClr val="161616"/>
                </a:solidFill>
              </a:rPr>
              <a:t>turbulence;</a:t>
            </a:r>
            <a:r>
              <a:rPr dirty="0" sz="6800" spc="-495">
                <a:solidFill>
                  <a:srgbClr val="161616"/>
                </a:solidFill>
              </a:rPr>
              <a:t> </a:t>
            </a:r>
            <a:r>
              <a:rPr dirty="0" sz="6800">
                <a:solidFill>
                  <a:srgbClr val="181818"/>
                </a:solidFill>
              </a:rPr>
              <a:t>it</a:t>
            </a:r>
            <a:r>
              <a:rPr dirty="0" sz="6800" spc="-125">
                <a:solidFill>
                  <a:srgbClr val="181818"/>
                </a:solidFill>
              </a:rPr>
              <a:t> </a:t>
            </a:r>
            <a:r>
              <a:rPr dirty="0" sz="6800" spc="-25">
                <a:solidFill>
                  <a:srgbClr val="1A1A1A"/>
                </a:solidFill>
              </a:rPr>
              <a:t>is </a:t>
            </a:r>
            <a:r>
              <a:rPr dirty="0" sz="6800" spc="135">
                <a:solidFill>
                  <a:srgbClr val="161616"/>
                </a:solidFill>
              </a:rPr>
              <a:t>to</a:t>
            </a:r>
            <a:r>
              <a:rPr dirty="0" sz="6800" spc="-740">
                <a:solidFill>
                  <a:srgbClr val="161616"/>
                </a:solidFill>
              </a:rPr>
              <a:t> </a:t>
            </a:r>
            <a:r>
              <a:rPr dirty="0" sz="6800" spc="110">
                <a:solidFill>
                  <a:srgbClr val="161616"/>
                </a:solidFill>
              </a:rPr>
              <a:t>oct</a:t>
            </a:r>
            <a:r>
              <a:rPr dirty="0" sz="6800" spc="-434">
                <a:solidFill>
                  <a:srgbClr val="161616"/>
                </a:solidFill>
              </a:rPr>
              <a:t> </a:t>
            </a:r>
            <a:r>
              <a:rPr dirty="0" sz="6800" spc="114">
                <a:solidFill>
                  <a:srgbClr val="161616"/>
                </a:solidFill>
              </a:rPr>
              <a:t>with</a:t>
            </a:r>
            <a:r>
              <a:rPr dirty="0" sz="6800" spc="-880">
                <a:solidFill>
                  <a:srgbClr val="161616"/>
                </a:solidFill>
              </a:rPr>
              <a:t> </a:t>
            </a:r>
            <a:r>
              <a:rPr dirty="0" sz="6800" spc="-114">
                <a:solidFill>
                  <a:srgbClr val="131313"/>
                </a:solidFill>
              </a:rPr>
              <a:t>yesterdoy's</a:t>
            </a:r>
            <a:r>
              <a:rPr dirty="0" sz="6800" spc="-190">
                <a:solidFill>
                  <a:srgbClr val="131313"/>
                </a:solidFill>
              </a:rPr>
              <a:t> </a:t>
            </a:r>
            <a:r>
              <a:rPr dirty="0" sz="6800" spc="-10">
                <a:solidFill>
                  <a:srgbClr val="1A1A1A"/>
                </a:solidFill>
              </a:rPr>
              <a:t>logic.</a:t>
            </a:r>
            <a:endParaRPr sz="6800"/>
          </a:p>
        </p:txBody>
      </p:sp>
      <p:sp>
        <p:nvSpPr>
          <p:cNvPr id="4" name="object 4" descr=""/>
          <p:cNvSpPr txBox="1"/>
          <p:nvPr/>
        </p:nvSpPr>
        <p:spPr>
          <a:xfrm>
            <a:off x="8429451" y="7140223"/>
            <a:ext cx="3208020" cy="535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50">
                <a:solidFill>
                  <a:srgbClr val="3169F2"/>
                </a:solidFill>
                <a:latin typeface="Arial MT"/>
                <a:cs typeface="Arial MT"/>
              </a:rPr>
              <a:t>—</a:t>
            </a:r>
            <a:r>
              <a:rPr dirty="0" sz="3350" spc="-150">
                <a:solidFill>
                  <a:srgbClr val="3169F2"/>
                </a:solidFill>
                <a:latin typeface="Arial MT"/>
                <a:cs typeface="Arial MT"/>
              </a:rPr>
              <a:t> </a:t>
            </a:r>
            <a:r>
              <a:rPr dirty="0" sz="3350">
                <a:solidFill>
                  <a:srgbClr val="2A66ED"/>
                </a:solidFill>
                <a:latin typeface="Arial MT"/>
                <a:cs typeface="Arial MT"/>
              </a:rPr>
              <a:t>Peter</a:t>
            </a:r>
            <a:r>
              <a:rPr dirty="0" sz="3350" spc="20">
                <a:solidFill>
                  <a:srgbClr val="2A66ED"/>
                </a:solidFill>
                <a:latin typeface="Arial MT"/>
                <a:cs typeface="Arial MT"/>
              </a:rPr>
              <a:t> </a:t>
            </a:r>
            <a:r>
              <a:rPr dirty="0" sz="3350" spc="-10">
                <a:solidFill>
                  <a:srgbClr val="2662FF"/>
                </a:solidFill>
                <a:latin typeface="Arial MT"/>
                <a:cs typeface="Arial MT"/>
              </a:rPr>
              <a:t>Drucker</a:t>
            </a:r>
            <a:endParaRPr sz="33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06" y="0"/>
            <a:ext cx="20088393" cy="10994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53400" y="2988517"/>
            <a:ext cx="8174355" cy="21069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650" spc="-1939">
                <a:solidFill>
                  <a:srgbClr val="2462E9"/>
                </a:solidFill>
                <a:latin typeface="Arial Black"/>
                <a:cs typeface="Arial Black"/>
              </a:rPr>
              <a:t>Questions?</a:t>
            </a:r>
            <a:endParaRPr sz="13650">
              <a:latin typeface="Arial Black"/>
              <a:cs typeface="Arial Black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604724" y="5686079"/>
            <a:ext cx="12889865" cy="575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600">
                <a:solidFill>
                  <a:srgbClr val="505050"/>
                </a:solidFill>
                <a:latin typeface="Arial MT"/>
                <a:cs typeface="Arial MT"/>
              </a:rPr>
              <a:t>Thank</a:t>
            </a:r>
            <a:r>
              <a:rPr dirty="0" sz="3600" spc="275">
                <a:solidFill>
                  <a:srgbClr val="505050"/>
                </a:solidFill>
                <a:latin typeface="Arial MT"/>
                <a:cs typeface="Arial MT"/>
              </a:rPr>
              <a:t> </a:t>
            </a:r>
            <a:r>
              <a:rPr dirty="0" sz="3600">
                <a:solidFill>
                  <a:srgbClr val="464646"/>
                </a:solidFill>
                <a:latin typeface="Arial MT"/>
                <a:cs typeface="Arial MT"/>
              </a:rPr>
              <a:t>you</a:t>
            </a:r>
            <a:r>
              <a:rPr dirty="0" sz="3600" spc="22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dirty="0" sz="3600">
                <a:solidFill>
                  <a:srgbClr val="4F5767"/>
                </a:solidFill>
                <a:latin typeface="Arial MT"/>
                <a:cs typeface="Arial MT"/>
              </a:rPr>
              <a:t>for</a:t>
            </a:r>
            <a:r>
              <a:rPr dirty="0" sz="3600" spc="425">
                <a:solidFill>
                  <a:srgbClr val="4F5767"/>
                </a:solidFill>
                <a:latin typeface="Arial MT"/>
                <a:cs typeface="Arial MT"/>
              </a:rPr>
              <a:t> </a:t>
            </a:r>
            <a:r>
              <a:rPr dirty="0" sz="3600">
                <a:solidFill>
                  <a:srgbClr val="4F4F4F"/>
                </a:solidFill>
                <a:latin typeface="Arial MT"/>
                <a:cs typeface="Arial MT"/>
              </a:rPr>
              <a:t>your</a:t>
            </a:r>
            <a:r>
              <a:rPr dirty="0" sz="3600" spc="42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3600">
                <a:solidFill>
                  <a:srgbClr val="494949"/>
                </a:solidFill>
                <a:latin typeface="Arial MT"/>
                <a:cs typeface="Arial MT"/>
              </a:rPr>
              <a:t>attention</a:t>
            </a:r>
            <a:r>
              <a:rPr dirty="0" sz="3600" spc="525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3600">
                <a:solidFill>
                  <a:srgbClr val="505050"/>
                </a:solidFill>
                <a:latin typeface="Arial MT"/>
                <a:cs typeface="Arial MT"/>
              </a:rPr>
              <a:t>on</a:t>
            </a:r>
            <a:r>
              <a:rPr dirty="0" sz="3600" spc="204">
                <a:solidFill>
                  <a:srgbClr val="505050"/>
                </a:solidFill>
                <a:latin typeface="Arial MT"/>
                <a:cs typeface="Arial MT"/>
              </a:rPr>
              <a:t> </a:t>
            </a:r>
            <a:r>
              <a:rPr dirty="0" sz="3600">
                <a:solidFill>
                  <a:srgbClr val="494949"/>
                </a:solidFill>
                <a:latin typeface="Arial MT"/>
                <a:cs typeface="Arial MT"/>
              </a:rPr>
              <a:t>navigating</a:t>
            </a:r>
            <a:r>
              <a:rPr dirty="0" sz="3600" spc="26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dirty="0" sz="3600" spc="60">
                <a:solidFill>
                  <a:srgbClr val="4F4F4F"/>
                </a:solidFill>
                <a:latin typeface="Arial MT"/>
                <a:cs typeface="Arial MT"/>
              </a:rPr>
              <a:t>the</a:t>
            </a:r>
            <a:r>
              <a:rPr dirty="0" sz="3600" spc="7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dirty="0" sz="3600" spc="85">
                <a:solidFill>
                  <a:srgbClr val="445462"/>
                </a:solidFill>
                <a:latin typeface="Arial MT"/>
                <a:cs typeface="Arial MT"/>
              </a:rPr>
              <a:t>future</a:t>
            </a:r>
            <a:r>
              <a:rPr dirty="0" sz="3600" spc="295">
                <a:solidFill>
                  <a:srgbClr val="445462"/>
                </a:solidFill>
                <a:latin typeface="Arial MT"/>
                <a:cs typeface="Arial MT"/>
              </a:rPr>
              <a:t> </a:t>
            </a:r>
            <a:r>
              <a:rPr dirty="0" sz="3600">
                <a:solidFill>
                  <a:srgbClr val="525252"/>
                </a:solidFill>
                <a:latin typeface="Arial MT"/>
                <a:cs typeface="Arial MT"/>
              </a:rPr>
              <a:t>of</a:t>
            </a:r>
            <a:r>
              <a:rPr dirty="0" sz="3600" spc="375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dirty="0" sz="3600" spc="-10">
                <a:solidFill>
                  <a:srgbClr val="505050"/>
                </a:solidFill>
                <a:latin typeface="Arial MT"/>
                <a:cs typeface="Arial MT"/>
              </a:rPr>
              <a:t>work.</a:t>
            </a:r>
            <a:endParaRPr sz="36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711684" y="7559058"/>
            <a:ext cx="10686415" cy="45783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800" spc="95">
                <a:solidFill>
                  <a:srgbClr val="0C0C0C"/>
                </a:solidFill>
                <a:latin typeface="Arial MT"/>
                <a:cs typeface="Arial MT"/>
                <a:hlinkClick r:id="rId3"/>
              </a:rPr>
              <a:t>strategy@futureworkforce.com</a:t>
            </a:r>
            <a:r>
              <a:rPr dirty="0" sz="2800" spc="215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dirty="0" sz="2800" spc="50">
                <a:solidFill>
                  <a:srgbClr val="00162F"/>
                </a:solidFill>
                <a:latin typeface="Arial MT"/>
                <a:cs typeface="Arial MT"/>
              </a:rPr>
              <a:t>|</a:t>
            </a:r>
            <a:r>
              <a:rPr dirty="0" sz="2800" spc="185">
                <a:solidFill>
                  <a:srgbClr val="00162F"/>
                </a:solidFill>
                <a:latin typeface="Arial MT"/>
                <a:cs typeface="Arial MT"/>
              </a:rPr>
              <a:t> </a:t>
            </a:r>
            <a:r>
              <a:rPr dirty="0" sz="2800" spc="95">
                <a:latin typeface="Arial MT"/>
                <a:cs typeface="Arial MT"/>
                <a:hlinkClick r:id="rId4"/>
              </a:rPr>
              <a:t>www.futureworkforce2050.org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06" y="0"/>
            <a:ext cx="20088393" cy="109944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973792" y="8846589"/>
            <a:ext cx="18219420" cy="0"/>
          </a:xfrm>
          <a:custGeom>
            <a:avLst/>
            <a:gdLst/>
            <a:ahLst/>
            <a:cxnLst/>
            <a:rect l="l" t="t" r="r" b="b"/>
            <a:pathLst>
              <a:path w="18219420" h="0">
                <a:moveTo>
                  <a:pt x="0" y="0"/>
                </a:moveTo>
                <a:lnTo>
                  <a:pt x="18219341" y="0"/>
                </a:lnTo>
              </a:path>
            </a:pathLst>
          </a:custGeom>
          <a:ln w="23559">
            <a:solidFill>
              <a:srgbClr val="74747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973792" y="7558670"/>
            <a:ext cx="18219420" cy="0"/>
          </a:xfrm>
          <a:custGeom>
            <a:avLst/>
            <a:gdLst/>
            <a:ahLst/>
            <a:cxnLst/>
            <a:rect l="l" t="t" r="r" b="b"/>
            <a:pathLst>
              <a:path w="18219420" h="0">
                <a:moveTo>
                  <a:pt x="0" y="0"/>
                </a:moveTo>
                <a:lnTo>
                  <a:pt x="18219341" y="0"/>
                </a:lnTo>
              </a:path>
            </a:pathLst>
          </a:custGeom>
          <a:ln w="23559">
            <a:solidFill>
              <a:srgbClr val="74747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973792" y="6270751"/>
            <a:ext cx="18219420" cy="0"/>
          </a:xfrm>
          <a:custGeom>
            <a:avLst/>
            <a:gdLst/>
            <a:ahLst/>
            <a:cxnLst/>
            <a:rect l="l" t="t" r="r" b="b"/>
            <a:pathLst>
              <a:path w="18219420" h="0">
                <a:moveTo>
                  <a:pt x="0" y="0"/>
                </a:moveTo>
                <a:lnTo>
                  <a:pt x="18219341" y="0"/>
                </a:lnTo>
              </a:path>
            </a:pathLst>
          </a:custGeom>
          <a:ln w="23559">
            <a:solidFill>
              <a:srgbClr val="74747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973792" y="4967126"/>
            <a:ext cx="18219420" cy="0"/>
          </a:xfrm>
          <a:custGeom>
            <a:avLst/>
            <a:gdLst/>
            <a:ahLst/>
            <a:cxnLst/>
            <a:rect l="l" t="t" r="r" b="b"/>
            <a:pathLst>
              <a:path w="18219420" h="0">
                <a:moveTo>
                  <a:pt x="0" y="0"/>
                </a:moveTo>
                <a:lnTo>
                  <a:pt x="18219341" y="0"/>
                </a:lnTo>
              </a:path>
            </a:pathLst>
          </a:custGeom>
          <a:ln w="23559">
            <a:solidFill>
              <a:srgbClr val="74747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973792" y="3679207"/>
            <a:ext cx="18219420" cy="0"/>
          </a:xfrm>
          <a:custGeom>
            <a:avLst/>
            <a:gdLst/>
            <a:ahLst/>
            <a:cxnLst/>
            <a:rect l="l" t="t" r="r" b="b"/>
            <a:pathLst>
              <a:path w="18219420" h="0">
                <a:moveTo>
                  <a:pt x="0" y="0"/>
                </a:moveTo>
                <a:lnTo>
                  <a:pt x="18219341" y="0"/>
                </a:lnTo>
              </a:path>
            </a:pathLst>
          </a:custGeom>
          <a:ln w="23559">
            <a:solidFill>
              <a:srgbClr val="747474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8" name="object 8" descr=""/>
          <p:cNvGrpSpPr/>
          <p:nvPr/>
        </p:nvGrpSpPr>
        <p:grpSpPr>
          <a:xfrm>
            <a:off x="926673" y="5245913"/>
            <a:ext cx="1445260" cy="817244"/>
            <a:chOff x="926673" y="5245913"/>
            <a:chExt cx="1445260" cy="817244"/>
          </a:xfrm>
        </p:grpSpPr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6673" y="5245913"/>
              <a:ext cx="1444982" cy="816729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26673" y="5245913"/>
              <a:ext cx="1444982" cy="816729"/>
            </a:xfrm>
            <a:prstGeom prst="rect">
              <a:avLst/>
            </a:prstGeom>
          </p:spPr>
        </p:pic>
      </p:grpSp>
      <p:grpSp>
        <p:nvGrpSpPr>
          <p:cNvPr id="11" name="object 11" descr=""/>
          <p:cNvGrpSpPr/>
          <p:nvPr/>
        </p:nvGrpSpPr>
        <p:grpSpPr>
          <a:xfrm>
            <a:off x="926673" y="9219614"/>
            <a:ext cx="1445260" cy="880110"/>
            <a:chOff x="926673" y="9219614"/>
            <a:chExt cx="1445260" cy="880110"/>
          </a:xfrm>
        </p:grpSpPr>
        <p:pic>
          <p:nvPicPr>
            <p:cNvPr id="12" name="object 1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65939" y="9219614"/>
              <a:ext cx="1405716" cy="879554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26673" y="9219614"/>
              <a:ext cx="1444982" cy="879554"/>
            </a:xfrm>
            <a:prstGeom prst="rect">
              <a:avLst/>
            </a:prstGeom>
          </p:spPr>
        </p:pic>
      </p:grpSp>
      <p:pic>
        <p:nvPicPr>
          <p:cNvPr id="14" name="object 14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42379" y="6549538"/>
            <a:ext cx="1413569" cy="785316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42379" y="2670075"/>
            <a:ext cx="1413569" cy="785316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42379" y="7853164"/>
            <a:ext cx="1413569" cy="785316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42379" y="3973700"/>
            <a:ext cx="1413569" cy="785316"/>
          </a:xfrm>
          <a:prstGeom prst="rect">
            <a:avLst/>
          </a:prstGeom>
        </p:spPr>
      </p:pic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1317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pc="-185">
                <a:solidFill>
                  <a:srgbClr val="151515"/>
                </a:solidFill>
              </a:rPr>
              <a:t>Image</a:t>
            </a:r>
            <a:r>
              <a:rPr dirty="0" spc="-395">
                <a:solidFill>
                  <a:srgbClr val="151515"/>
                </a:solidFill>
              </a:rPr>
              <a:t> </a:t>
            </a:r>
            <a:r>
              <a:rPr dirty="0" spc="-475"/>
              <a:t>Sources</a:t>
            </a:r>
          </a:p>
        </p:txBody>
      </p:sp>
      <p:sp>
        <p:nvSpPr>
          <p:cNvPr id="19" name="object 19" descr=""/>
          <p:cNvSpPr txBox="1"/>
          <p:nvPr/>
        </p:nvSpPr>
        <p:spPr>
          <a:xfrm>
            <a:off x="2735435" y="2530743"/>
            <a:ext cx="16424275" cy="7669530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1900" spc="-80">
                <a:solidFill>
                  <a:srgbClr val="424242"/>
                </a:solidFill>
                <a:latin typeface="Arial MT"/>
                <a:cs typeface="Arial MT"/>
              </a:rPr>
              <a:t>https://mainifesto.com/wp-content/uploads/2025/05/Vertical-</a:t>
            </a:r>
            <a:r>
              <a:rPr dirty="0" sz="1900" spc="-90">
                <a:solidFill>
                  <a:srgbClr val="424242"/>
                </a:solidFill>
                <a:latin typeface="Arial MT"/>
                <a:cs typeface="Arial MT"/>
              </a:rPr>
              <a:t>Farming-</a:t>
            </a:r>
            <a:r>
              <a:rPr dirty="0" sz="1900" spc="-85">
                <a:solidFill>
                  <a:srgbClr val="424242"/>
                </a:solidFill>
                <a:latin typeface="Arial MT"/>
                <a:cs typeface="Arial MT"/>
              </a:rPr>
              <a:t>Sustainable-</a:t>
            </a:r>
            <a:r>
              <a:rPr dirty="0" sz="1900" spc="-70">
                <a:solidFill>
                  <a:srgbClr val="424242"/>
                </a:solidFill>
                <a:latin typeface="Arial MT"/>
                <a:cs typeface="Arial MT"/>
              </a:rPr>
              <a:t>Agriculture-</a:t>
            </a:r>
            <a:r>
              <a:rPr dirty="0" sz="1900" spc="-80">
                <a:solidFill>
                  <a:srgbClr val="424242"/>
                </a:solidFill>
                <a:latin typeface="Arial MT"/>
                <a:cs typeface="Arial MT"/>
              </a:rPr>
              <a:t>Solutions-</a:t>
            </a:r>
            <a:r>
              <a:rPr dirty="0" sz="1900" spc="-70">
                <a:solidFill>
                  <a:srgbClr val="424242"/>
                </a:solidFill>
                <a:latin typeface="Arial MT"/>
                <a:cs typeface="Arial MT"/>
              </a:rPr>
              <a:t>for-</a:t>
            </a:r>
            <a:r>
              <a:rPr dirty="0" sz="1900" spc="-90">
                <a:solidFill>
                  <a:srgbClr val="424242"/>
                </a:solidFill>
                <a:latin typeface="Arial MT"/>
                <a:cs typeface="Arial MT"/>
              </a:rPr>
              <a:t>Urban-Spaces-</a:t>
            </a:r>
            <a:r>
              <a:rPr dirty="0" sz="1900" spc="-10">
                <a:solidFill>
                  <a:srgbClr val="424242"/>
                </a:solidFill>
                <a:latin typeface="Arial MT"/>
                <a:cs typeface="Arial MT"/>
              </a:rPr>
              <a:t>1.png</a:t>
            </a:r>
            <a:endParaRPr sz="1900">
              <a:latin typeface="Arial MT"/>
              <a:cs typeface="Arial MT"/>
            </a:endParaRPr>
          </a:p>
          <a:p>
            <a:pPr marL="15240">
              <a:lnSpc>
                <a:spcPct val="100000"/>
              </a:lnSpc>
              <a:spcBef>
                <a:spcPts val="905"/>
              </a:spcBef>
            </a:pPr>
            <a:r>
              <a:rPr dirty="0" sz="2300" spc="-130">
                <a:solidFill>
                  <a:srgbClr val="3D3D3D"/>
                </a:solidFill>
                <a:latin typeface="Arial MT"/>
                <a:cs typeface="Arial MT"/>
              </a:rPr>
              <a:t>Source:</a:t>
            </a:r>
            <a:r>
              <a:rPr dirty="0" sz="2300" spc="10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dirty="0" sz="2300" spc="-10">
                <a:solidFill>
                  <a:srgbClr val="4B4FBA"/>
                </a:solidFill>
                <a:latin typeface="Arial MT"/>
                <a:cs typeface="Arial MT"/>
              </a:rPr>
              <a:t>mainifesto.com</a:t>
            </a:r>
            <a:endParaRPr sz="2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2300">
              <a:latin typeface="Arial MT"/>
              <a:cs typeface="Arial MT"/>
            </a:endParaRPr>
          </a:p>
          <a:p>
            <a:pPr marL="17780" marR="7934325" indent="-5715">
              <a:lnSpc>
                <a:spcPct val="157300"/>
              </a:lnSpc>
            </a:pPr>
            <a:r>
              <a:rPr dirty="0" sz="1900" spc="-65">
                <a:solidFill>
                  <a:srgbClr val="3F3F3F"/>
                </a:solidFill>
                <a:latin typeface="Arial MT"/>
                <a:cs typeface="Arial MT"/>
              </a:rPr>
              <a:t>https://grist.org/wp-content/uploads/2023/09/CarbonCapture.jpg?quaIity=75&amp;strip=all </a:t>
            </a:r>
            <a:r>
              <a:rPr dirty="0" sz="1900" spc="50">
                <a:solidFill>
                  <a:srgbClr val="4B4B4B"/>
                </a:solidFill>
                <a:latin typeface="Arial MT"/>
                <a:cs typeface="Arial MT"/>
              </a:rPr>
              <a:t>Source:</a:t>
            </a:r>
            <a:r>
              <a:rPr dirty="0" sz="1900" spc="31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dirty="0" sz="1900" spc="75">
                <a:solidFill>
                  <a:srgbClr val="8074E2"/>
                </a:solidFill>
                <a:latin typeface="Arial MT"/>
                <a:cs typeface="Arial MT"/>
              </a:rPr>
              <a:t>grist.org</a:t>
            </a:r>
            <a:endParaRPr sz="1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z="1900">
              <a:latin typeface="Arial MT"/>
              <a:cs typeface="Arial MT"/>
            </a:endParaRPr>
          </a:p>
          <a:p>
            <a:pPr marL="17780" marR="8623935" indent="-5715">
              <a:lnSpc>
                <a:spcPct val="157300"/>
              </a:lnSpc>
            </a:pPr>
            <a:r>
              <a:rPr dirty="0" sz="1900" spc="-70">
                <a:solidFill>
                  <a:srgbClr val="444444"/>
                </a:solidFill>
                <a:latin typeface="Arial MT"/>
                <a:cs typeface="Arial MT"/>
              </a:rPr>
              <a:t>https://blog.gdeItproject.org/wp-</a:t>
            </a:r>
            <a:r>
              <a:rPr dirty="0" sz="1900" spc="-75">
                <a:solidFill>
                  <a:srgbClr val="444444"/>
                </a:solidFill>
                <a:latin typeface="Arial MT"/>
                <a:cs typeface="Arial MT"/>
              </a:rPr>
              <a:t>content/uploads/2023-12-genai-</a:t>
            </a:r>
            <a:r>
              <a:rPr dirty="0" sz="1900" spc="-40">
                <a:solidFill>
                  <a:srgbClr val="444444"/>
                </a:solidFill>
                <a:latin typeface="Arial MT"/>
                <a:cs typeface="Arial MT"/>
              </a:rPr>
              <a:t>circuIar25.png </a:t>
            </a:r>
            <a:r>
              <a:rPr dirty="0" sz="1900" spc="50">
                <a:solidFill>
                  <a:srgbClr val="444444"/>
                </a:solidFill>
                <a:latin typeface="Arial MT"/>
                <a:cs typeface="Arial MT"/>
              </a:rPr>
              <a:t>Source:</a:t>
            </a:r>
            <a:r>
              <a:rPr dirty="0" sz="1900" spc="25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dirty="0" sz="1900" spc="100">
                <a:solidFill>
                  <a:srgbClr val="4F44C6"/>
                </a:solidFill>
                <a:latin typeface="Arial MT"/>
                <a:cs typeface="Arial MT"/>
              </a:rPr>
              <a:t>blog.gdeItproject.org</a:t>
            </a:r>
            <a:endParaRPr sz="19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900" spc="-114">
                <a:solidFill>
                  <a:srgbClr val="3B3B3B"/>
                </a:solidFill>
                <a:latin typeface="Arial MT"/>
                <a:cs typeface="Arial MT"/>
              </a:rPr>
              <a:t>https:lli.ytimg.com/vi/j4dc9oTr5G0/hq720.jpg?sqp=-</a:t>
            </a:r>
            <a:r>
              <a:rPr dirty="0" sz="1900" spc="-130">
                <a:solidFill>
                  <a:srgbClr val="3B3B3B"/>
                </a:solidFill>
                <a:latin typeface="Arial MT"/>
                <a:cs typeface="Arial MT"/>
              </a:rPr>
              <a:t>oaymwEhCK4FEIIDSFryq4qpAxMIARUAAAAAGAEIAADIQj0AgKJD&amp;rs=AOn4CLAxcRjPS7JzYvOWzOEs5M5pxXn03g</a:t>
            </a:r>
            <a:endParaRPr sz="1900">
              <a:latin typeface="Arial MT"/>
              <a:cs typeface="Arial MT"/>
            </a:endParaRPr>
          </a:p>
          <a:p>
            <a:pPr marL="15240">
              <a:lnSpc>
                <a:spcPct val="100000"/>
              </a:lnSpc>
              <a:spcBef>
                <a:spcPts val="785"/>
              </a:spcBef>
            </a:pPr>
            <a:r>
              <a:rPr dirty="0" sz="2300" spc="-110">
                <a:solidFill>
                  <a:srgbClr val="3F3F3F"/>
                </a:solidFill>
                <a:latin typeface="Arial MT"/>
                <a:cs typeface="Arial MT"/>
              </a:rPr>
              <a:t>Source:</a:t>
            </a:r>
            <a:r>
              <a:rPr dirty="0" sz="2300" spc="15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dirty="0" sz="2300" spc="-30">
                <a:solidFill>
                  <a:srgbClr val="5446E6"/>
                </a:solidFill>
                <a:latin typeface="Arial MT"/>
                <a:cs typeface="Arial MT"/>
                <a:hlinkClick r:id="rId11"/>
              </a:rPr>
              <a:t>www.youtube.com</a:t>
            </a:r>
            <a:endParaRPr sz="2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70"/>
              </a:spcBef>
            </a:pPr>
            <a:endParaRPr sz="2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900" spc="-95">
                <a:solidFill>
                  <a:srgbClr val="383838"/>
                </a:solidFill>
                <a:latin typeface="Arial MT"/>
                <a:cs typeface="Arial MT"/>
              </a:rPr>
              <a:t>https://assets.st-</a:t>
            </a:r>
            <a:r>
              <a:rPr dirty="0" sz="1900" spc="-120">
                <a:solidFill>
                  <a:srgbClr val="383838"/>
                </a:solidFill>
                <a:latin typeface="Arial MT"/>
                <a:cs typeface="Arial MT"/>
              </a:rPr>
              <a:t>note.com/img/177453799J-</a:t>
            </a:r>
            <a:r>
              <a:rPr dirty="0" sz="1900" spc="-90">
                <a:solidFill>
                  <a:srgbClr val="383838"/>
                </a:solidFill>
                <a:latin typeface="Arial MT"/>
                <a:cs typeface="Arial MT"/>
              </a:rPr>
              <a:t>1AILmZz329DSEadyMrpkhcGX.png</a:t>
            </a:r>
            <a:endParaRPr sz="1900">
              <a:latin typeface="Arial MT"/>
              <a:cs typeface="Arial MT"/>
            </a:endParaRPr>
          </a:p>
          <a:p>
            <a:pPr marL="15240">
              <a:lnSpc>
                <a:spcPct val="100000"/>
              </a:lnSpc>
              <a:spcBef>
                <a:spcPts val="910"/>
              </a:spcBef>
            </a:pPr>
            <a:r>
              <a:rPr dirty="0" sz="2300" spc="-130">
                <a:solidFill>
                  <a:srgbClr val="3D3D3D"/>
                </a:solidFill>
                <a:latin typeface="Arial MT"/>
                <a:cs typeface="Arial MT"/>
              </a:rPr>
              <a:t>Source:</a:t>
            </a:r>
            <a:r>
              <a:rPr dirty="0" sz="2300" spc="10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dirty="0" sz="2300" spc="-10">
                <a:solidFill>
                  <a:srgbClr val="545EC1"/>
                </a:solidFill>
                <a:latin typeface="Arial MT"/>
                <a:cs typeface="Arial MT"/>
              </a:rPr>
              <a:t>note.com</a:t>
            </a:r>
            <a:endParaRPr sz="2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30"/>
              </a:spcBef>
            </a:pPr>
            <a:endParaRPr sz="2300">
              <a:latin typeface="Arial MT"/>
              <a:cs typeface="Arial MT"/>
            </a:endParaRPr>
          </a:p>
          <a:p>
            <a:pPr marL="18415" marR="5080" indent="-6350">
              <a:lnSpc>
                <a:spcPct val="113900"/>
              </a:lnSpc>
            </a:pPr>
            <a:r>
              <a:rPr dirty="0" sz="1900" spc="-75">
                <a:solidFill>
                  <a:srgbClr val="3F3F3F"/>
                </a:solidFill>
                <a:latin typeface="Arial MT"/>
                <a:cs typeface="Arial MT"/>
              </a:rPr>
              <a:t>https://png.pngtree.com/thumb_back/fw800/background/20251127/pngtree-</a:t>
            </a:r>
            <a:r>
              <a:rPr dirty="0" sz="1900" spc="-65">
                <a:solidFill>
                  <a:srgbClr val="3F3F3F"/>
                </a:solidFill>
                <a:latin typeface="Arial MT"/>
                <a:cs typeface="Arial MT"/>
              </a:rPr>
              <a:t>architect-</a:t>
            </a:r>
            <a:r>
              <a:rPr dirty="0" sz="1900" spc="-75">
                <a:solidFill>
                  <a:srgbClr val="3F3F3F"/>
                </a:solidFill>
                <a:latin typeface="Arial MT"/>
                <a:cs typeface="Arial MT"/>
              </a:rPr>
              <a:t>using-</a:t>
            </a:r>
            <a:r>
              <a:rPr dirty="0" sz="1900" spc="-65">
                <a:solidFill>
                  <a:srgbClr val="3F3F3F"/>
                </a:solidFill>
                <a:latin typeface="Arial MT"/>
                <a:cs typeface="Arial MT"/>
              </a:rPr>
              <a:t>vr-</a:t>
            </a:r>
            <a:r>
              <a:rPr dirty="0" sz="1900" spc="-70">
                <a:solidFill>
                  <a:srgbClr val="3F3F3F"/>
                </a:solidFill>
                <a:latin typeface="Arial MT"/>
                <a:cs typeface="Arial MT"/>
              </a:rPr>
              <a:t>headset-</a:t>
            </a:r>
            <a:r>
              <a:rPr dirty="0" sz="1900" spc="-65">
                <a:solidFill>
                  <a:srgbClr val="3F3F3F"/>
                </a:solidFill>
                <a:latin typeface="Arial MT"/>
                <a:cs typeface="Arial MT"/>
              </a:rPr>
              <a:t>to-interact-</a:t>
            </a:r>
            <a:r>
              <a:rPr dirty="0" sz="1900" spc="-70">
                <a:solidFill>
                  <a:srgbClr val="3F3F3F"/>
                </a:solidFill>
                <a:latin typeface="Arial MT"/>
                <a:cs typeface="Arial MT"/>
              </a:rPr>
              <a:t>with-a-</a:t>
            </a:r>
            <a:r>
              <a:rPr dirty="0" sz="1900" spc="-75">
                <a:solidFill>
                  <a:srgbClr val="3F3F3F"/>
                </a:solidFill>
                <a:latin typeface="Arial MT"/>
                <a:cs typeface="Arial MT"/>
              </a:rPr>
              <a:t>hoIographic-</a:t>
            </a:r>
            <a:r>
              <a:rPr dirty="0" sz="1900" spc="-70">
                <a:solidFill>
                  <a:srgbClr val="3F3F3F"/>
                </a:solidFill>
                <a:latin typeface="Arial MT"/>
                <a:cs typeface="Arial MT"/>
              </a:rPr>
              <a:t>building-</a:t>
            </a:r>
            <a:r>
              <a:rPr dirty="0" sz="1900" spc="-80">
                <a:solidFill>
                  <a:srgbClr val="3F3F3F"/>
                </a:solidFill>
                <a:latin typeface="Arial MT"/>
                <a:cs typeface="Arial MT"/>
              </a:rPr>
              <a:t>model-</a:t>
            </a:r>
            <a:r>
              <a:rPr dirty="0" sz="1900" spc="-10">
                <a:solidFill>
                  <a:srgbClr val="3F3F3F"/>
                </a:solidFill>
                <a:latin typeface="Arial MT"/>
                <a:cs typeface="Arial MT"/>
              </a:rPr>
              <a:t>image_2062902 </a:t>
            </a:r>
            <a:r>
              <a:rPr dirty="0" sz="1900" spc="-10">
                <a:solidFill>
                  <a:srgbClr val="484848"/>
                </a:solidFill>
                <a:latin typeface="Arial MT"/>
                <a:cs typeface="Arial MT"/>
              </a:rPr>
              <a:t>8.webp</a:t>
            </a:r>
            <a:endParaRPr sz="1900">
              <a:latin typeface="Arial MT"/>
              <a:cs typeface="Arial MT"/>
            </a:endParaRPr>
          </a:p>
          <a:p>
            <a:pPr marL="17780">
              <a:lnSpc>
                <a:spcPct val="100000"/>
              </a:lnSpc>
              <a:spcBef>
                <a:spcPts val="1310"/>
              </a:spcBef>
            </a:pPr>
            <a:r>
              <a:rPr dirty="0" sz="1900" spc="50">
                <a:solidFill>
                  <a:srgbClr val="3D3D3D"/>
                </a:solidFill>
                <a:latin typeface="Arial MT"/>
                <a:cs typeface="Arial MT"/>
              </a:rPr>
              <a:t>Source:</a:t>
            </a:r>
            <a:r>
              <a:rPr dirty="0" sz="1900" spc="250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dirty="0" sz="1900" spc="85">
                <a:solidFill>
                  <a:srgbClr val="5656C6"/>
                </a:solidFill>
                <a:latin typeface="Arial MT"/>
                <a:cs typeface="Arial MT"/>
              </a:rPr>
              <a:t>pngtree.com</a:t>
            </a:r>
            <a:endParaRPr sz="1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terms:created xsi:type="dcterms:W3CDTF">2026-04-08T15:56:28Z</dcterms:created>
  <dcterms:modified xsi:type="dcterms:W3CDTF">2026-04-08T15:56:28Z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2026-04-08T00:00:00Z</vt:filetime>
  </property>
  <property fmtid="{D5CDD505-2E9C-101B-9397-08002B2CF9AE}" pid="3" name="LastSaved">
    <vt:filetime>2026-04-08T00:00:00Z</vt:filetime>
  </property>
</Properties>
</file>